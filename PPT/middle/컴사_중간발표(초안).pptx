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9" r:id="rId7"/>
    <p:sldId id="271" r:id="rId8"/>
    <p:sldId id="276" r:id="rId9"/>
    <p:sldId id="275" r:id="rId10"/>
    <p:sldId id="273" r:id="rId11"/>
    <p:sldId id="265" r:id="rId12"/>
    <p:sldId id="261" r:id="rId13"/>
    <p:sldId id="262" r:id="rId14"/>
    <p:sldId id="270" r:id="rId15"/>
    <p:sldId id="263" r:id="rId16"/>
    <p:sldId id="278" r:id="rId17"/>
    <p:sldId id="266" r:id="rId18"/>
    <p:sldId id="272" r:id="rId19"/>
    <p:sldId id="274" r:id="rId20"/>
    <p:sldId id="277" r:id="rId21"/>
    <p:sldId id="267" r:id="rId22"/>
    <p:sldId id="268" r:id="rId23"/>
  </p:sldIdLst>
  <p:sldSz cx="12192000" cy="6858000"/>
  <p:notesSz cx="6858000" cy="12192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7C7C"/>
    <a:srgbClr val="D0CECE"/>
    <a:srgbClr val="CFE0F5"/>
    <a:srgbClr val="FFFFFF"/>
    <a:srgbClr val="F6DFB3"/>
    <a:srgbClr val="00B050"/>
    <a:srgbClr val="F59E0B"/>
    <a:srgbClr val="0070C0"/>
    <a:srgbClr val="808081"/>
    <a:srgbClr val="1A1A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515" autoAdjust="0"/>
  </p:normalViewPr>
  <p:slideViewPr>
    <p:cSldViewPr snapToGrid="0">
      <p:cViewPr varScale="1">
        <p:scale>
          <a:sx n="80" d="100"/>
          <a:sy n="80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D533995-95B6-46EB-B3A9-C053C0A7A65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E405B0-C06B-474E-B749-4C2BB1D826C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C1B80C-B647-44CA-87BC-8D3A79E02E0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F8C0E6-2856-48FF-AFEB-39749BE3B55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8F2387-8F46-4DBC-B273-4C9D78834CF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B46DF8-17AA-48FB-914D-F1FB41523AA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B46DF8-17AA-48FB-914D-F1FB41523AA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504478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B46DF8-17AA-48FB-914D-F1FB41523AA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533522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196F71-5694-4514-BC98-9F06B942161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837827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196F71-5694-4514-BC98-9F06B942161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135755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196F71-5694-4514-BC98-9F06B942161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126421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196F71-5694-4514-BC98-9F06B942161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AA77DD-0007-4986-AB34-6F1DB44870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549CBA-5DE5-4916-BCA8-1DE9610395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549CBA-5DE5-4916-BCA8-1DE9610395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682098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2A039E-CE19-49CE-8F45-D24CD3752E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B3FEA9-EEA7-4121-AD79-541C1AC1649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259739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2E8A5E-A3C5-43C9-A9F5-B9353E4F92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81A13B-50A3-4DFC-BC04-DF41FBD82A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807190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81A13B-50A3-4DFC-BC04-DF41FBD82A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308550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81A13B-50A3-4DFC-BC04-DF41FBD82A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A80761-CA04-4527-BC7B-9AD6CB47271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ASE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/mnt/data/a_clean_modern_photo_realistic_3d_styled_digital.png"/>
          <p:cNvPicPr/>
          <p:nvPr/>
        </p:nvPicPr>
        <p:blipFill>
          <a:blip r:embed="rId3"/>
          <a:srcRect t="24" b="24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Text 0"/>
          <p:cNvSpPr/>
          <p:nvPr/>
        </p:nvSpPr>
        <p:spPr>
          <a:xfrm>
            <a:off x="658440" y="658440"/>
            <a:ext cx="1691280" cy="255600"/>
          </a:xfrm>
          <a:prstGeom prst="rect">
            <a:avLst/>
          </a:prstGeom>
          <a:solidFill>
            <a:srgbClr val="EEF5FF"/>
          </a:solidFill>
          <a:ln w="0">
            <a:solidFill>
              <a:srgbClr val="CDE2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98" tIns="198" rIns="198" bIns="198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150" b="1" u="none" strike="noStrike" dirty="0">
                <a:solidFill>
                  <a:srgbClr val="2775EA"/>
                </a:solidFill>
                <a:effectLst/>
                <a:uFillTx/>
                <a:latin typeface="Noto Sans CJK KR"/>
                <a:ea typeface="Noto Sans CJK KR"/>
              </a:rPr>
              <a:t>TEAM PROJECT </a:t>
            </a:r>
            <a:r>
              <a:rPr lang="ko-KR" altLang="en-US" sz="1150" b="1" u="none" strike="noStrike" dirty="0">
                <a:solidFill>
                  <a:srgbClr val="2775EA"/>
                </a:solidFill>
                <a:effectLst/>
                <a:uFillTx/>
                <a:latin typeface="Noto Sans CJK KR"/>
                <a:ea typeface="Noto Sans CJK KR"/>
              </a:rPr>
              <a:t>중간발표</a:t>
            </a:r>
            <a:endParaRPr lang="en-US" sz="8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1"/>
          <p:cNvSpPr/>
          <p:nvPr/>
        </p:nvSpPr>
        <p:spPr>
          <a:xfrm>
            <a:off x="658440" y="1325880"/>
            <a:ext cx="5303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37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데일리 리포트 </a:t>
            </a:r>
            <a:r>
              <a:rPr lang="en-US" sz="37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AI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2"/>
          <p:cNvSpPr/>
          <p:nvPr/>
        </p:nvSpPr>
        <p:spPr>
          <a:xfrm>
            <a:off x="685800" y="2039040"/>
            <a:ext cx="521172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570" b="0" u="none" strike="noStrike" dirty="0">
                <a:solidFill>
                  <a:srgbClr val="DCEBFF"/>
                </a:solidFill>
                <a:effectLst/>
                <a:uFillTx/>
                <a:latin typeface="Noto Sans CJK KR"/>
                <a:ea typeface="Noto Sans CJK KR"/>
              </a:rPr>
              <a:t>개인 맞춤형 아침 브리핑 봇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570" b="0" u="none" strike="noStrike" dirty="0">
                <a:solidFill>
                  <a:srgbClr val="DCEBFF"/>
                </a:solidFill>
                <a:effectLst/>
                <a:uFillTx/>
                <a:latin typeface="Noto Sans CJK KR"/>
                <a:ea typeface="Noto Sans CJK KR"/>
              </a:rPr>
              <a:t>Discord DM</a:t>
            </a:r>
            <a:r>
              <a:rPr lang="zh-CN" sz="1570" b="0" u="none" strike="noStrike" dirty="0">
                <a:solidFill>
                  <a:srgbClr val="DCEBFF"/>
                </a:solidFill>
                <a:effectLst/>
                <a:uFillTx/>
                <a:latin typeface="Noto Sans CJK KR"/>
                <a:ea typeface="Noto Sans CJK KR"/>
              </a:rPr>
              <a:t>으로 날씨 </a:t>
            </a:r>
            <a:r>
              <a:rPr lang="en-US" sz="1570" b="0" u="none" strike="noStrike" dirty="0">
                <a:solidFill>
                  <a:srgbClr val="DCEBFF"/>
                </a:solidFill>
                <a:effectLst/>
                <a:uFillTx/>
                <a:latin typeface="Noto Sans CJK KR"/>
                <a:ea typeface="Noto Sans CJK KR"/>
              </a:rPr>
              <a:t>· </a:t>
            </a:r>
            <a:r>
              <a:rPr lang="zh-CN" sz="1570" b="0" u="none" strike="noStrike" dirty="0">
                <a:solidFill>
                  <a:srgbClr val="DCEBFF"/>
                </a:solidFill>
                <a:effectLst/>
                <a:uFillTx/>
                <a:latin typeface="Noto Sans CJK KR"/>
                <a:ea typeface="Noto Sans CJK KR"/>
              </a:rPr>
              <a:t>뉴스 </a:t>
            </a:r>
            <a:r>
              <a:rPr lang="en-US" sz="1570" b="0" u="none" strike="noStrike" dirty="0">
                <a:solidFill>
                  <a:srgbClr val="DCEBFF"/>
                </a:solidFill>
                <a:effectLst/>
                <a:uFillTx/>
                <a:latin typeface="Noto Sans CJK KR"/>
                <a:ea typeface="Noto Sans CJK KR"/>
              </a:rPr>
              <a:t>· </a:t>
            </a:r>
            <a:r>
              <a:rPr lang="zh-CN" sz="1570" b="0" u="none" strike="noStrike" dirty="0">
                <a:solidFill>
                  <a:srgbClr val="DCEBFF"/>
                </a:solidFill>
                <a:effectLst/>
                <a:uFillTx/>
                <a:latin typeface="Noto Sans CJK KR"/>
                <a:ea typeface="Noto Sans CJK KR"/>
              </a:rPr>
              <a:t>미세먼지 </a:t>
            </a:r>
            <a:r>
              <a:rPr lang="ko-KR" altLang="en-US" sz="1570" b="0" u="none" strike="noStrike" dirty="0">
                <a:solidFill>
                  <a:srgbClr val="DCEBFF"/>
                </a:solidFill>
                <a:effectLst/>
                <a:uFillTx/>
                <a:latin typeface="Noto Sans CJK KR"/>
                <a:ea typeface="Noto Sans CJK KR"/>
              </a:rPr>
              <a:t>요약과</a:t>
            </a:r>
            <a:r>
              <a:rPr lang="zh-CN" altLang="en-US" sz="1570" dirty="0">
                <a:solidFill>
                  <a:srgbClr val="DCEBFF"/>
                </a:solidFill>
                <a:latin typeface="Noto Sans CJK KR"/>
                <a:ea typeface="Noto Sans CJK KR"/>
              </a:rPr>
              <a:t> </a:t>
            </a:r>
            <a:r>
              <a:rPr lang="ko-KR" altLang="en-US" sz="1570" dirty="0">
                <a:solidFill>
                  <a:srgbClr val="DCEBFF"/>
                </a:solidFill>
                <a:latin typeface="Noto Sans CJK KR"/>
                <a:ea typeface="Noto Sans CJK KR"/>
              </a:rPr>
              <a:t>옷차림 추천을</a:t>
            </a:r>
            <a:r>
              <a:rPr lang="zh-CN" sz="1570" b="0" u="none" strike="noStrike" dirty="0">
                <a:solidFill>
                  <a:srgbClr val="DCEBFF"/>
                </a:solidFill>
                <a:effectLst/>
                <a:uFillTx/>
                <a:latin typeface="Noto Sans CJK KR"/>
                <a:ea typeface="Noto Sans CJK KR"/>
              </a:rPr>
              <a:t> 자동 전달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685800" y="5306819"/>
            <a:ext cx="3565800" cy="105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altLang="zh-CN" sz="1150" b="0" u="none" strike="noStrike" dirty="0">
                <a:solidFill>
                  <a:srgbClr val="D8E8FF"/>
                </a:solidFill>
                <a:effectLst/>
                <a:uFillTx/>
                <a:latin typeface="Noto Sans CJK KR"/>
                <a:ea typeface="Noto Sans CJK KR"/>
              </a:rPr>
              <a:t>3</a:t>
            </a:r>
            <a:r>
              <a:rPr lang="ko-KR" altLang="en-US" sz="1150" b="0" u="none" strike="noStrike" dirty="0">
                <a:solidFill>
                  <a:srgbClr val="D8E8FF"/>
                </a:solidFill>
                <a:effectLst/>
                <a:uFillTx/>
                <a:latin typeface="Noto Sans CJK KR"/>
                <a:ea typeface="Noto Sans CJK KR"/>
              </a:rPr>
              <a:t>조</a:t>
            </a:r>
            <a:r>
              <a:rPr lang="en-US" altLang="ko-KR" sz="1150" b="0" u="none" strike="noStrike" dirty="0">
                <a:solidFill>
                  <a:srgbClr val="D8E8FF"/>
                </a:solidFill>
                <a:effectLst/>
                <a:uFillTx/>
                <a:latin typeface="Noto Sans CJK KR"/>
                <a:ea typeface="Noto Sans CJK KR"/>
              </a:rPr>
              <a:t>(</a:t>
            </a:r>
            <a:r>
              <a:rPr lang="ko-KR" altLang="en-US" sz="1150" b="0" u="none" strike="noStrike" dirty="0" err="1">
                <a:solidFill>
                  <a:srgbClr val="D8E8FF"/>
                </a:solidFill>
                <a:effectLst/>
                <a:uFillTx/>
                <a:latin typeface="Noto Sans CJK KR"/>
                <a:ea typeface="Noto Sans CJK KR"/>
              </a:rPr>
              <a:t>팀명</a:t>
            </a:r>
            <a:r>
              <a:rPr lang="ko-KR" altLang="en-US" sz="1150" b="0" u="none" strike="noStrike" dirty="0">
                <a:solidFill>
                  <a:srgbClr val="D8E8FF"/>
                </a:solidFill>
                <a:effectLst/>
                <a:uFillTx/>
                <a:latin typeface="Noto Sans CJK KR"/>
                <a:ea typeface="Noto Sans CJK KR"/>
              </a:rPr>
              <a:t> </a:t>
            </a:r>
            <a:r>
              <a:rPr lang="en-US" altLang="ko-KR" sz="1150" b="0" u="none" strike="noStrike" dirty="0">
                <a:solidFill>
                  <a:srgbClr val="D8E8FF"/>
                </a:solidFill>
                <a:effectLst/>
                <a:uFillTx/>
                <a:latin typeface="Noto Sans CJK KR"/>
                <a:ea typeface="Noto Sans CJK KR"/>
              </a:rPr>
              <a:t>– </a:t>
            </a:r>
            <a:r>
              <a:rPr lang="ko-KR" altLang="en-US" sz="1150" b="0" u="none" strike="noStrike" dirty="0" err="1">
                <a:solidFill>
                  <a:srgbClr val="D8E8FF"/>
                </a:solidFill>
                <a:effectLst/>
                <a:uFillTx/>
                <a:latin typeface="Noto Sans CJK KR"/>
                <a:ea typeface="Noto Sans CJK KR"/>
              </a:rPr>
              <a:t>밤티</a:t>
            </a:r>
            <a:r>
              <a:rPr lang="en-US" altLang="ko-KR" sz="1150" b="0" u="none" strike="noStrike" dirty="0">
                <a:solidFill>
                  <a:srgbClr val="D8E8FF"/>
                </a:solidFill>
                <a:effectLst/>
                <a:uFillTx/>
                <a:latin typeface="Noto Sans CJK KR"/>
                <a:ea typeface="Noto Sans CJK KR"/>
              </a:rPr>
              <a:t>)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ko-KR" altLang="en-US" sz="1150" b="0" u="none" strike="noStrike" dirty="0">
                <a:solidFill>
                  <a:srgbClr val="D8E8FF"/>
                </a:solidFill>
                <a:effectLst/>
                <a:uFillTx/>
                <a:latin typeface="Noto Sans CJK KR"/>
                <a:ea typeface="Noto Sans CJK KR"/>
              </a:rPr>
              <a:t>팀장</a:t>
            </a:r>
            <a:r>
              <a:rPr lang="en-US" altLang="ko-KR" sz="1150" b="0" u="none" strike="noStrike" dirty="0">
                <a:solidFill>
                  <a:srgbClr val="D8E8FF"/>
                </a:solidFill>
                <a:effectLst/>
                <a:uFillTx/>
                <a:latin typeface="Noto Sans CJK KR"/>
                <a:ea typeface="Noto Sans CJK KR"/>
              </a:rPr>
              <a:t>: </a:t>
            </a:r>
            <a:r>
              <a:rPr lang="ko-KR" altLang="en-US" sz="1150" b="0" u="none" strike="noStrike" dirty="0">
                <a:solidFill>
                  <a:srgbClr val="D8E8FF"/>
                </a:solidFill>
                <a:effectLst/>
                <a:uFillTx/>
                <a:latin typeface="Noto Sans CJK KR"/>
                <a:ea typeface="Noto Sans CJK KR"/>
              </a:rPr>
              <a:t>이건영</a:t>
            </a:r>
            <a:endParaRPr lang="en-US" altLang="ko-KR" sz="1150" b="0" u="none" strike="noStrike" dirty="0">
              <a:solidFill>
                <a:srgbClr val="D8E8FF"/>
              </a:solidFill>
              <a:effectLst/>
              <a:uFillTx/>
              <a:latin typeface="Noto Sans CJK KR"/>
              <a:ea typeface="Noto Sans CJK KR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ko-KR" altLang="en-US" sz="1150" dirty="0">
                <a:solidFill>
                  <a:srgbClr val="D8E8FF"/>
                </a:solidFill>
                <a:latin typeface="Noto Sans CJK KR"/>
                <a:ea typeface="Noto Sans CJK KR"/>
              </a:rPr>
              <a:t>팀원</a:t>
            </a:r>
            <a:r>
              <a:rPr lang="en-US" altLang="ko-KR" sz="1150" dirty="0">
                <a:solidFill>
                  <a:srgbClr val="D8E8FF"/>
                </a:solidFill>
                <a:latin typeface="Noto Sans CJK KR"/>
                <a:ea typeface="Noto Sans CJK KR"/>
              </a:rPr>
              <a:t>: </a:t>
            </a:r>
            <a:r>
              <a:rPr lang="zh-CN" sz="1150" b="0" u="none" strike="noStrike" dirty="0">
                <a:solidFill>
                  <a:srgbClr val="D8E8FF"/>
                </a:solidFill>
                <a:effectLst/>
                <a:uFillTx/>
                <a:latin typeface="Noto Sans CJK KR"/>
                <a:ea typeface="Noto Sans CJK KR"/>
              </a:rPr>
              <a:t>박준수 </a:t>
            </a:r>
            <a:r>
              <a:rPr lang="en-US" sz="1150" b="0" u="none" strike="noStrike" dirty="0">
                <a:solidFill>
                  <a:srgbClr val="D8E8FF"/>
                </a:solidFill>
                <a:effectLst/>
                <a:uFillTx/>
                <a:latin typeface="Noto Sans CJK KR"/>
                <a:ea typeface="Noto Sans CJK KR"/>
              </a:rPr>
              <a:t>· </a:t>
            </a:r>
            <a:r>
              <a:rPr lang="zh-CN" sz="1150" b="0" u="none" strike="noStrike" dirty="0">
                <a:solidFill>
                  <a:srgbClr val="D8E8FF"/>
                </a:solidFill>
                <a:effectLst/>
                <a:uFillTx/>
                <a:latin typeface="Noto Sans CJK KR"/>
                <a:ea typeface="Noto Sans CJK KR"/>
              </a:rPr>
              <a:t>김하은 </a:t>
            </a:r>
            <a:r>
              <a:rPr lang="en-US" sz="1150" b="0" u="none" strike="noStrike" dirty="0">
                <a:solidFill>
                  <a:srgbClr val="D8E8FF"/>
                </a:solidFill>
                <a:effectLst/>
                <a:uFillTx/>
                <a:latin typeface="Noto Sans CJK KR"/>
                <a:ea typeface="Noto Sans CJK KR"/>
              </a:rPr>
              <a:t>· </a:t>
            </a:r>
            <a:r>
              <a:rPr lang="zh-CN" sz="1150" b="0" u="none" strike="noStrike" dirty="0">
                <a:solidFill>
                  <a:srgbClr val="D8E8FF"/>
                </a:solidFill>
                <a:effectLst/>
                <a:uFillTx/>
                <a:latin typeface="Noto Sans CJK KR"/>
                <a:ea typeface="Noto Sans CJK KR"/>
              </a:rPr>
              <a:t>권우민</a:t>
            </a:r>
            <a:endParaRPr lang="en-US" sz="8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530280" y="329040"/>
            <a:ext cx="2011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1" u="none" strike="noStrike" dirty="0">
                <a:solidFill>
                  <a:srgbClr val="2775EA"/>
                </a:solidFill>
                <a:effectLst/>
                <a:uFillTx/>
                <a:latin typeface="Noto Sans CJK KR"/>
                <a:ea typeface="Noto Sans CJK KR"/>
              </a:rPr>
              <a:t>01 </a:t>
            </a:r>
            <a:r>
              <a:rPr lang="zh-CN" sz="1400" b="1" u="none" strike="noStrike" dirty="0">
                <a:solidFill>
                  <a:srgbClr val="2775EA"/>
                </a:solidFill>
                <a:effectLst/>
                <a:uFillTx/>
                <a:latin typeface="Noto Sans CJK KR"/>
                <a:ea typeface="Noto Sans CJK KR"/>
              </a:rPr>
              <a:t>문제 배경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530280" y="58536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2800" b="1" u="none" strike="noStrike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아침 정보 확인은 왜 번거로운가</a:t>
            </a:r>
            <a:r>
              <a:rPr lang="en-US" sz="2800" b="1" u="none" strike="noStrike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?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731520" y="1874520"/>
            <a:ext cx="2011320" cy="895680"/>
          </a:xfrm>
          <a:prstGeom prst="rect">
            <a:avLst/>
          </a:prstGeom>
          <a:solidFill>
            <a:srgbClr val="FFFFFF"/>
          </a:solidFill>
          <a:ln w="0">
            <a:solidFill>
              <a:srgbClr val="D8E5F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500" tIns="24750" rIns="49500" bIns="24750" anchor="ctr">
            <a:noAutofit/>
          </a:bodyPr>
          <a:lstStyle/>
          <a:p>
            <a:pPr algn="ctr"/>
            <a:r>
              <a:rPr b="1" dirty="0"/>
              <a:t>🌐 </a:t>
            </a:r>
            <a:r>
              <a:rPr b="1" dirty="0" err="1"/>
              <a:t>브라우저</a:t>
            </a:r>
            <a:r>
              <a:rPr b="1" dirty="0"/>
              <a:t> </a:t>
            </a:r>
            <a:r>
              <a:rPr b="1" dirty="0" err="1"/>
              <a:t>열기</a:t>
            </a:r>
            <a:endParaRPr b="1" dirty="0"/>
          </a:p>
        </p:txBody>
      </p:sp>
      <p:sp>
        <p:nvSpPr>
          <p:cNvPr id="18" name="Text 4"/>
          <p:cNvSpPr/>
          <p:nvPr/>
        </p:nvSpPr>
        <p:spPr>
          <a:xfrm>
            <a:off x="731520" y="3063240"/>
            <a:ext cx="2011320" cy="895680"/>
          </a:xfrm>
          <a:prstGeom prst="rect">
            <a:avLst/>
          </a:prstGeom>
          <a:solidFill>
            <a:srgbClr val="FFFFFF"/>
          </a:solidFill>
          <a:ln w="0">
            <a:solidFill>
              <a:srgbClr val="D8E5F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500" tIns="24750" rIns="49500" bIns="24750" anchor="ctr">
            <a:normAutofit/>
          </a:bodyPr>
          <a:lstStyle/>
          <a:p>
            <a:pPr algn="ctr"/>
            <a:r>
              <a:rPr b="1" dirty="0"/>
              <a:t>🔎 </a:t>
            </a:r>
            <a:r>
              <a:rPr b="1" dirty="0" err="1"/>
              <a:t>날씨</a:t>
            </a:r>
            <a:r>
              <a:rPr b="1" dirty="0"/>
              <a:t> </a:t>
            </a:r>
            <a:r>
              <a:rPr b="1" dirty="0" err="1"/>
              <a:t>검색</a:t>
            </a:r>
            <a:endParaRPr b="1" dirty="0"/>
          </a:p>
        </p:txBody>
      </p:sp>
      <p:sp>
        <p:nvSpPr>
          <p:cNvPr id="19" name="Text 5"/>
          <p:cNvSpPr/>
          <p:nvPr/>
        </p:nvSpPr>
        <p:spPr>
          <a:xfrm>
            <a:off x="731520" y="4251960"/>
            <a:ext cx="2011320" cy="895680"/>
          </a:xfrm>
          <a:prstGeom prst="rect">
            <a:avLst/>
          </a:prstGeom>
          <a:solidFill>
            <a:srgbClr val="FFFFFF"/>
          </a:solidFill>
          <a:ln w="0">
            <a:solidFill>
              <a:srgbClr val="D8E5F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500" tIns="24750" rIns="49500" bIns="24750" anchor="ctr">
            <a:normAutofit/>
          </a:bodyPr>
          <a:lstStyle/>
          <a:p>
            <a:pPr algn="ctr"/>
            <a:r>
              <a:rPr b="1" dirty="0"/>
              <a:t>📰 </a:t>
            </a:r>
            <a:r>
              <a:rPr b="1" dirty="0" err="1"/>
              <a:t>뉴스</a:t>
            </a:r>
            <a:r>
              <a:rPr b="1" dirty="0"/>
              <a:t> </a:t>
            </a:r>
            <a:r>
              <a:rPr b="1" dirty="0" err="1"/>
              <a:t>확인</a:t>
            </a:r>
            <a:endParaRPr b="1" dirty="0"/>
          </a:p>
        </p:txBody>
      </p:sp>
      <p:sp>
        <p:nvSpPr>
          <p:cNvPr id="20" name="Shape 6"/>
          <p:cNvSpPr/>
          <p:nvPr/>
        </p:nvSpPr>
        <p:spPr>
          <a:xfrm>
            <a:off x="2971800" y="2313360"/>
            <a:ext cx="1645920" cy="841320"/>
          </a:xfrm>
          <a:prstGeom prst="line">
            <a:avLst/>
          </a:prstGeom>
          <a:ln w="15240">
            <a:solidFill>
              <a:srgbClr val="AFC3D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500" tIns="24750" rIns="49500" bIns="24750" anchor="t" anchorCtr="1">
            <a:noAutofit/>
          </a:bodyPr>
          <a:lstStyle/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7"/>
          <p:cNvSpPr/>
          <p:nvPr/>
        </p:nvSpPr>
        <p:spPr>
          <a:xfrm>
            <a:off x="2971800" y="3502080"/>
            <a:ext cx="1645920" cy="45720"/>
          </a:xfrm>
          <a:prstGeom prst="line">
            <a:avLst/>
          </a:prstGeom>
          <a:ln w="15240">
            <a:solidFill>
              <a:srgbClr val="AFC3D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500" tIns="396" rIns="49500" bIns="396" anchor="t" anchorCtr="1">
            <a:noAutofit/>
          </a:bodyPr>
          <a:lstStyle/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8"/>
          <p:cNvSpPr/>
          <p:nvPr/>
        </p:nvSpPr>
        <p:spPr>
          <a:xfrm flipV="1">
            <a:off x="2971800" y="3931920"/>
            <a:ext cx="1645920" cy="758880"/>
          </a:xfrm>
          <a:prstGeom prst="line">
            <a:avLst/>
          </a:prstGeom>
          <a:ln w="15240">
            <a:solidFill>
              <a:srgbClr val="AFC3D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500" tIns="24750" rIns="49500" bIns="24750" anchor="t" anchorCtr="1">
            <a:noAutofit/>
          </a:bodyPr>
          <a:lstStyle/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9"/>
          <p:cNvSpPr/>
          <p:nvPr/>
        </p:nvSpPr>
        <p:spPr>
          <a:xfrm>
            <a:off x="4782240" y="2749950"/>
            <a:ext cx="1874160" cy="1508400"/>
          </a:xfrm>
          <a:prstGeom prst="rect">
            <a:avLst/>
          </a:prstGeom>
          <a:solidFill>
            <a:srgbClr val="172B85"/>
          </a:solidFill>
          <a:ln w="0">
            <a:solidFill>
              <a:srgbClr val="172B85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92" tIns="792" rIns="792" bIns="792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ko-KR" altLang="en-US" sz="2000" b="1" dirty="0">
                <a:solidFill>
                  <a:srgbClr val="FFFFFF"/>
                </a:solidFill>
                <a:latin typeface="Noto Sans CJK KR"/>
              </a:rPr>
              <a:t>수동으로</a:t>
            </a:r>
            <a:r>
              <a:rPr lang="ko-KR" altLang="en-US" sz="2000" b="1" u="none" strike="noStrike" dirty="0">
                <a:solidFill>
                  <a:srgbClr val="FFFFFF"/>
                </a:solidFill>
                <a:effectLst/>
                <a:uFillTx/>
                <a:latin typeface="Noto Sans CJK KR"/>
              </a:rPr>
              <a:t> 확인하는 과정</a:t>
            </a:r>
            <a:r>
              <a:rPr lang="ko-KR" altLang="en-US" sz="2000" b="1" dirty="0">
                <a:solidFill>
                  <a:srgbClr val="FFFFFF"/>
                </a:solidFill>
                <a:latin typeface="Noto Sans CJK KR"/>
              </a:rPr>
              <a:t>의</a:t>
            </a:r>
            <a:r>
              <a:rPr lang="ko-KR" altLang="en-US" sz="2000" b="1" u="none" strike="noStrike" dirty="0">
                <a:solidFill>
                  <a:srgbClr val="FFFFFF"/>
                </a:solidFill>
                <a:effectLst/>
                <a:uFillTx/>
                <a:latin typeface="Noto Sans CJK KR"/>
              </a:rPr>
              <a:t> 반복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0"/>
          <p:cNvSpPr/>
          <p:nvPr/>
        </p:nvSpPr>
        <p:spPr>
          <a:xfrm>
            <a:off x="6885360" y="3527190"/>
            <a:ext cx="1325880" cy="360"/>
          </a:xfrm>
          <a:prstGeom prst="line">
            <a:avLst/>
          </a:prstGeom>
          <a:ln w="15240">
            <a:solidFill>
              <a:srgbClr val="AFC3D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500" tIns="-24552" rIns="49500" bIns="-24552" anchor="t" anchorCtr="1">
            <a:noAutofit/>
          </a:bodyPr>
          <a:lstStyle/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1"/>
          <p:cNvSpPr/>
          <p:nvPr/>
        </p:nvSpPr>
        <p:spPr>
          <a:xfrm>
            <a:off x="8439840" y="2704230"/>
            <a:ext cx="2880000" cy="1691280"/>
          </a:xfrm>
          <a:prstGeom prst="rect">
            <a:avLst/>
          </a:prstGeom>
          <a:solidFill>
            <a:srgbClr val="F7FBFF"/>
          </a:solidFill>
          <a:ln w="0">
            <a:solidFill>
              <a:srgbClr val="D8E5F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500" tIns="24750" rIns="49500" bIns="24750" anchor="ctr">
            <a:normAutofit/>
          </a:bodyPr>
          <a:lstStyle/>
          <a:p>
            <a:pPr>
              <a:defRPr/>
            </a:pPr>
            <a:r>
              <a:rPr lang="zh-CN" sz="2800" b="1" u="none" strike="noStrike" dirty="0">
                <a:solidFill>
                  <a:srgbClr val="172B85"/>
                </a:solidFill>
                <a:effectLst/>
                <a:uFillTx/>
                <a:latin typeface="Noto Sans CJK KR"/>
                <a:ea typeface="Noto Sans CJK KR"/>
              </a:rPr>
              <a:t>목표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200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정보</a:t>
            </a:r>
            <a:r>
              <a:rPr lang="en-US" altLang="zh-CN" sz="200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 </a:t>
            </a:r>
            <a:r>
              <a:rPr lang="ko-KR" altLang="en-US" sz="2000" dirty="0">
                <a:solidFill>
                  <a:srgbClr val="66768A"/>
                </a:solidFill>
                <a:latin typeface="Noto Sans CJK KR"/>
                <a:ea typeface="Noto Sans CJK KR"/>
              </a:rPr>
              <a:t>수집 과정의 자동화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2"/>
          <p:cNvSpPr/>
          <p:nvPr/>
        </p:nvSpPr>
        <p:spPr>
          <a:xfrm>
            <a:off x="502920" y="6546960"/>
            <a:ext cx="7314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Daily Report AI · </a:t>
            </a:r>
            <a:r>
              <a:rPr lang="zh-CN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컴퓨팅사고 </a:t>
            </a:r>
            <a:r>
              <a:rPr lang="en-US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27</a:t>
            </a:r>
            <a:r>
              <a:rPr lang="zh-CN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분반 팀 프로젝트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3"/>
          <p:cNvSpPr/>
          <p:nvPr/>
        </p:nvSpPr>
        <p:spPr>
          <a:xfrm>
            <a:off x="11292840" y="6510600"/>
            <a:ext cx="411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0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02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530280" y="329040"/>
            <a:ext cx="2011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1" u="none" strike="noStrike">
                <a:solidFill>
                  <a:srgbClr val="2775EA"/>
                </a:solidFill>
                <a:effectLst/>
                <a:uFillTx/>
                <a:latin typeface="Noto Sans CJK KR"/>
                <a:ea typeface="Noto Sans CJK KR"/>
              </a:rPr>
              <a:t>02 </a:t>
            </a:r>
            <a:r>
              <a:rPr lang="zh-CN" sz="1400" b="1" u="none" strike="noStrike">
                <a:solidFill>
                  <a:srgbClr val="2775EA"/>
                </a:solidFill>
                <a:effectLst/>
                <a:uFillTx/>
                <a:latin typeface="Noto Sans CJK KR"/>
                <a:ea typeface="Noto Sans CJK KR"/>
              </a:rPr>
              <a:t>서비스 정의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"/>
          <p:cNvSpPr/>
          <p:nvPr/>
        </p:nvSpPr>
        <p:spPr>
          <a:xfrm>
            <a:off x="530280" y="58536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2800" b="1" u="none" strike="noStrike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데일리 리포트 </a:t>
            </a:r>
            <a:r>
              <a:rPr lang="en-US" sz="2800" b="1" u="none" strike="noStrike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AI </a:t>
            </a:r>
            <a:r>
              <a:rPr lang="zh-CN" sz="2800" b="1" u="none" strike="noStrike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한 줄 정의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"/>
          <p:cNvSpPr/>
          <p:nvPr/>
        </p:nvSpPr>
        <p:spPr>
          <a:xfrm>
            <a:off x="548640" y="1024200"/>
            <a:ext cx="10515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25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데이터 수집 → </a:t>
            </a:r>
            <a:r>
              <a:rPr lang="en-US" sz="125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AI </a:t>
            </a:r>
            <a:r>
              <a:rPr lang="zh-CN" sz="125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요약 → </a:t>
            </a:r>
            <a:r>
              <a:rPr lang="en-US" sz="125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Discord DM </a:t>
            </a:r>
            <a:r>
              <a:rPr lang="zh-CN" sz="125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발송까지 한 번에 자동화</a:t>
            </a:r>
            <a:endParaRPr lang="en-US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" name="Image 0" descr="/mnt/data/a_clean_modern_3d_illustration_digital_concept.png"/>
          <p:cNvPicPr/>
          <p:nvPr/>
        </p:nvPicPr>
        <p:blipFill>
          <a:blip r:embed="rId3"/>
          <a:srcRect l="8617" r="8617"/>
          <a:stretch/>
        </p:blipFill>
        <p:spPr>
          <a:xfrm>
            <a:off x="8138160" y="1463040"/>
            <a:ext cx="3428640" cy="233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Text 3"/>
          <p:cNvSpPr/>
          <p:nvPr/>
        </p:nvSpPr>
        <p:spPr>
          <a:xfrm>
            <a:off x="731520" y="2240280"/>
            <a:ext cx="159984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0F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96" tIns="396" rIns="396" bIns="396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1" u="none" strike="noStrike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200" b="1" u="none" strike="noStrike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수집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200" b="1" u="none" strike="noStrike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날씨 </a:t>
            </a:r>
            <a:r>
              <a:rPr lang="en-US" sz="1200" b="1" u="none" strike="noStrike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· </a:t>
            </a:r>
            <a:r>
              <a:rPr lang="zh-CN" sz="1200" b="1" u="none" strike="noStrike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미세먼지 </a:t>
            </a:r>
            <a:r>
              <a:rPr lang="en-US" sz="1200" b="1" u="none" strike="noStrike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· </a:t>
            </a:r>
            <a:r>
              <a:rPr lang="zh-CN" sz="1200" b="1" u="none" strike="noStrike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뉴스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4"/>
          <p:cNvSpPr/>
          <p:nvPr/>
        </p:nvSpPr>
        <p:spPr>
          <a:xfrm>
            <a:off x="2450520" y="2724840"/>
            <a:ext cx="704160" cy="360"/>
          </a:xfrm>
          <a:prstGeom prst="line">
            <a:avLst/>
          </a:prstGeom>
          <a:ln w="15240">
            <a:solidFill>
              <a:srgbClr val="B3C9E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500" tIns="-24552" rIns="49500" bIns="-24552" anchor="t" anchorCtr="1">
            <a:noAutofit/>
          </a:bodyPr>
          <a:lstStyle/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5"/>
          <p:cNvSpPr/>
          <p:nvPr/>
        </p:nvSpPr>
        <p:spPr>
          <a:xfrm>
            <a:off x="3246120" y="2240280"/>
            <a:ext cx="190152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0F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96" tIns="396" rIns="396" bIns="396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1" u="none" strike="noStrike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200" b="1" u="none" strike="noStrike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해석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1" u="none" strike="noStrike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Gemini</a:t>
            </a:r>
            <a:r>
              <a:rPr lang="zh-CN" sz="1200" b="1" u="none" strike="noStrike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가 자연어 브리핑 생성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6"/>
          <p:cNvSpPr/>
          <p:nvPr/>
        </p:nvSpPr>
        <p:spPr>
          <a:xfrm>
            <a:off x="5285160" y="2724840"/>
            <a:ext cx="640080" cy="360"/>
          </a:xfrm>
          <a:prstGeom prst="line">
            <a:avLst/>
          </a:prstGeom>
          <a:ln w="15240">
            <a:solidFill>
              <a:srgbClr val="B3C9E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500" tIns="-24552" rIns="49500" bIns="-24552" anchor="t" anchorCtr="1">
            <a:noAutofit/>
          </a:bodyPr>
          <a:lstStyle/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7"/>
          <p:cNvSpPr/>
          <p:nvPr/>
        </p:nvSpPr>
        <p:spPr>
          <a:xfrm>
            <a:off x="6016680" y="2240280"/>
            <a:ext cx="178272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0F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96" tIns="396" rIns="396" bIns="396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1" u="none" strike="noStrike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200" b="1" u="none" strike="noStrike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전달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1" u="none" strike="noStrike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Discord DM</a:t>
            </a:r>
            <a:r>
              <a:rPr lang="zh-CN" sz="1200" b="1" u="none" strike="noStrike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으로 발송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8"/>
          <p:cNvSpPr/>
          <p:nvPr/>
        </p:nvSpPr>
        <p:spPr>
          <a:xfrm>
            <a:off x="749880" y="4069080"/>
            <a:ext cx="54860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22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매일 </a:t>
            </a:r>
            <a:r>
              <a:rPr lang="ko-KR" altLang="en-US" sz="22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지정된 시간</a:t>
            </a:r>
            <a:r>
              <a:rPr lang="en-US" sz="22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zh-CN" sz="22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사용자는 오늘 필요한 정보를 </a:t>
            </a:r>
            <a:r>
              <a:rPr lang="ko-KR" altLang="en-US" sz="2200" b="1" dirty="0">
                <a:solidFill>
                  <a:srgbClr val="102033"/>
                </a:solidFill>
                <a:latin typeface="Noto Sans CJK KR"/>
                <a:ea typeface="Noto Sans CJK KR"/>
              </a:rPr>
              <a:t>자동으로</a:t>
            </a:r>
            <a:r>
              <a:rPr lang="zh-CN" sz="22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 </a:t>
            </a:r>
            <a:r>
              <a:rPr lang="ko-KR" altLang="en-US" sz="22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받을 수 있다</a:t>
            </a:r>
            <a:r>
              <a:rPr lang="en-US" sz="22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9"/>
          <p:cNvSpPr/>
          <p:nvPr/>
        </p:nvSpPr>
        <p:spPr>
          <a:xfrm>
            <a:off x="749880" y="5029200"/>
            <a:ext cx="3977280" cy="411120"/>
          </a:xfrm>
          <a:prstGeom prst="rect">
            <a:avLst/>
          </a:prstGeom>
          <a:solidFill>
            <a:srgbClr val="172B85"/>
          </a:solidFill>
          <a:ln w="0">
            <a:solidFill>
              <a:srgbClr val="172B85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98" tIns="198" rIns="198" bIns="198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400" b="1" u="none" strike="noStrike" dirty="0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직접 조회 → 자동 수신</a:t>
            </a:r>
            <a:endParaRPr lang="en-US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0"/>
          <p:cNvSpPr/>
          <p:nvPr/>
        </p:nvSpPr>
        <p:spPr>
          <a:xfrm>
            <a:off x="502920" y="6546960"/>
            <a:ext cx="7314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Daily Report AI · </a:t>
            </a:r>
            <a:r>
              <a:rPr lang="zh-CN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컴퓨팅사고 </a:t>
            </a:r>
            <a:r>
              <a:rPr lang="en-US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27</a:t>
            </a:r>
            <a:r>
              <a:rPr lang="zh-CN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분반 팀 프로젝트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1"/>
          <p:cNvSpPr/>
          <p:nvPr/>
        </p:nvSpPr>
        <p:spPr>
          <a:xfrm>
            <a:off x="11292840" y="6510600"/>
            <a:ext cx="411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0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03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0"/>
          <p:cNvSpPr/>
          <p:nvPr/>
        </p:nvSpPr>
        <p:spPr>
          <a:xfrm>
            <a:off x="530280" y="329040"/>
            <a:ext cx="2011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1" u="none" strike="noStrike">
                <a:solidFill>
                  <a:srgbClr val="2775EA"/>
                </a:solidFill>
                <a:effectLst/>
                <a:uFillTx/>
                <a:latin typeface="Noto Sans CJK KR"/>
                <a:ea typeface="Noto Sans CJK KR"/>
              </a:rPr>
              <a:t>03 </a:t>
            </a:r>
            <a:r>
              <a:rPr lang="zh-CN" sz="1400" b="1" u="none" strike="noStrike">
                <a:solidFill>
                  <a:srgbClr val="2775EA"/>
                </a:solidFill>
                <a:effectLst/>
                <a:uFillTx/>
                <a:latin typeface="Noto Sans CJK KR"/>
                <a:ea typeface="Noto Sans CJK KR"/>
              </a:rPr>
              <a:t>기능 구성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"/>
          <p:cNvSpPr/>
          <p:nvPr/>
        </p:nvSpPr>
        <p:spPr>
          <a:xfrm>
            <a:off x="530280" y="58536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28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기능 </a:t>
            </a:r>
            <a:r>
              <a:rPr lang="ko-KR" altLang="en-US" sz="2800" b="1" dirty="0">
                <a:solidFill>
                  <a:srgbClr val="102033"/>
                </a:solidFill>
                <a:latin typeface="Noto Sans CJK KR"/>
                <a:ea typeface="Noto Sans CJK KR"/>
              </a:rPr>
              <a:t>목록</a:t>
            </a:r>
            <a:endParaRPr lang="en-US" sz="2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"/>
          <p:cNvSpPr/>
          <p:nvPr/>
        </p:nvSpPr>
        <p:spPr>
          <a:xfrm>
            <a:off x="548640" y="1024200"/>
            <a:ext cx="10515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25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현재 구현된 기능에 개인화 설정 기능을 추가해 서비스 방향을 강화</a:t>
            </a:r>
            <a:endParaRPr lang="en-US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3"/>
          <p:cNvSpPr/>
          <p:nvPr/>
        </p:nvSpPr>
        <p:spPr>
          <a:xfrm>
            <a:off x="822960" y="1600200"/>
            <a:ext cx="1828440" cy="347040"/>
          </a:xfrm>
          <a:prstGeom prst="rect">
            <a:avLst/>
          </a:prstGeom>
          <a:solidFill>
            <a:srgbClr val="172B85"/>
          </a:solidFill>
          <a:ln w="0">
            <a:solidFill>
              <a:srgbClr val="172B85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98" tIns="198" rIns="198" bIns="198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4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현재 구현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4"/>
          <p:cNvSpPr/>
          <p:nvPr/>
        </p:nvSpPr>
        <p:spPr>
          <a:xfrm>
            <a:off x="6400800" y="1600200"/>
            <a:ext cx="1828440" cy="347040"/>
          </a:xfrm>
          <a:prstGeom prst="rect">
            <a:avLst/>
          </a:prstGeom>
          <a:solidFill>
            <a:srgbClr val="2775EA"/>
          </a:solidFill>
          <a:ln w="0">
            <a:solidFill>
              <a:srgbClr val="2775E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98" tIns="198" rIns="198" bIns="198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4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추가 기획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5"/>
          <p:cNvSpPr/>
          <p:nvPr/>
        </p:nvSpPr>
        <p:spPr>
          <a:xfrm>
            <a:off x="822960" y="2148840"/>
            <a:ext cx="2331360" cy="749520"/>
          </a:xfrm>
          <a:prstGeom prst="rect">
            <a:avLst/>
          </a:prstGeom>
          <a:solidFill>
            <a:srgbClr val="FFFFFF"/>
          </a:solidFill>
          <a:ln w="0">
            <a:solidFill>
              <a:srgbClr val="D8E5F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500" tIns="24750" rIns="49500" bIns="24750" anchor="ctr">
            <a:normAutofit/>
          </a:bodyPr>
          <a:lstStyle/>
          <a:p>
            <a:pPr algn="ctr">
              <a:defRPr/>
            </a:pPr>
            <a:r>
              <a:rPr lang="ko-KR" altLang="en-US" sz="1520" b="1" dirty="0">
                <a:solidFill>
                  <a:srgbClr val="102033"/>
                </a:solidFill>
                <a:latin typeface="Noto Sans CJK KR"/>
                <a:ea typeface="Noto Sans CJK KR"/>
              </a:rPr>
              <a:t>지정시간 </a:t>
            </a:r>
            <a:r>
              <a:rPr lang="zh-CN" sz="152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자동</a:t>
            </a:r>
            <a:r>
              <a:rPr lang="ko-KR" altLang="en-US" sz="1520" b="1" dirty="0">
                <a:solidFill>
                  <a:srgbClr val="102033"/>
                </a:solidFill>
                <a:latin typeface="Noto Sans CJK KR"/>
                <a:ea typeface="Noto Sans CJK KR"/>
              </a:rPr>
              <a:t> 브리핑</a:t>
            </a:r>
            <a:endParaRPr lang="en-US" altLang="ko-KR" sz="1520" b="1" dirty="0">
              <a:solidFill>
                <a:srgbClr val="102033"/>
              </a:solidFill>
              <a:latin typeface="Noto Sans CJK KR"/>
              <a:ea typeface="Noto Sans CJK KR"/>
            </a:endParaRPr>
          </a:p>
          <a:p>
            <a:pPr algn="ctr">
              <a:defRPr/>
            </a:pPr>
            <a:r>
              <a:rPr lang="en-US" altLang="zh-CN" sz="1200" dirty="0">
                <a:solidFill>
                  <a:srgbClr val="66768A"/>
                </a:solidFill>
                <a:latin typeface="Noto Sans CJK KR"/>
                <a:ea typeface="Noto Sans CJK KR"/>
              </a:rPr>
              <a:t>S</a:t>
            </a:r>
            <a:r>
              <a:rPr lang="en-US" altLang="zh-CN" sz="120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chedule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6"/>
          <p:cNvSpPr/>
          <p:nvPr/>
        </p:nvSpPr>
        <p:spPr>
          <a:xfrm>
            <a:off x="3456360" y="2148840"/>
            <a:ext cx="2331360" cy="749520"/>
          </a:xfrm>
          <a:prstGeom prst="rect">
            <a:avLst/>
          </a:prstGeom>
          <a:solidFill>
            <a:srgbClr val="FFFFFF"/>
          </a:solidFill>
          <a:ln w="0">
            <a:solidFill>
              <a:srgbClr val="D8E5F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500" tIns="24750" rIns="49500" bIns="24750" anchor="ctr">
            <a:normAutofit/>
          </a:bodyPr>
          <a:lstStyle/>
          <a:p>
            <a:pPr algn="ctr">
              <a:defRPr/>
            </a:pPr>
            <a:r>
              <a:rPr lang="en-US" sz="152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Discord </a:t>
            </a:r>
            <a:r>
              <a:rPr lang="zh-CN" sz="152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명령어</a:t>
            </a:r>
            <a:endParaRPr lang="en-US" altLang="zh-CN" sz="1520" b="1" u="none" strike="noStrike" dirty="0">
              <a:solidFill>
                <a:srgbClr val="102033"/>
              </a:solidFill>
              <a:effectLst/>
              <a:uFillTx/>
              <a:latin typeface="Noto Sans CJK KR"/>
              <a:ea typeface="Noto Sans CJK KR"/>
            </a:endParaRPr>
          </a:p>
        </p:txBody>
      </p:sp>
      <p:sp>
        <p:nvSpPr>
          <p:cNvPr id="48" name="Text 7"/>
          <p:cNvSpPr/>
          <p:nvPr/>
        </p:nvSpPr>
        <p:spPr>
          <a:xfrm>
            <a:off x="822960" y="3173040"/>
            <a:ext cx="2331360" cy="749520"/>
          </a:xfrm>
          <a:prstGeom prst="rect">
            <a:avLst/>
          </a:prstGeom>
          <a:solidFill>
            <a:srgbClr val="FFFFFF"/>
          </a:solidFill>
          <a:ln w="0">
            <a:solidFill>
              <a:srgbClr val="D8E5F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500" tIns="24750" rIns="49500" bIns="24750" anchor="ctr">
            <a:normAutofit/>
          </a:bodyPr>
          <a:lstStyle/>
          <a:p>
            <a:pPr algn="ctr">
              <a:defRPr/>
            </a:pPr>
            <a:r>
              <a:rPr lang="en-US" altLang="zh-CN" sz="1520" b="1" dirty="0">
                <a:solidFill>
                  <a:srgbClr val="102033"/>
                </a:solidFill>
                <a:latin typeface="Noto Sans CJK KR"/>
                <a:ea typeface="Noto Sans CJK KR"/>
              </a:rPr>
              <a:t>AI </a:t>
            </a:r>
            <a:r>
              <a:rPr lang="ko-KR" altLang="en-US" sz="152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리포트 생성</a:t>
            </a:r>
            <a:endParaRPr lang="en-US" altLang="ko-KR" sz="1520" b="1" u="none" strike="noStrike" dirty="0">
              <a:solidFill>
                <a:srgbClr val="102033"/>
              </a:solidFill>
              <a:effectLst/>
              <a:uFillTx/>
              <a:latin typeface="Noto Sans CJK KR"/>
              <a:ea typeface="Noto Sans CJK KR"/>
            </a:endParaRPr>
          </a:p>
          <a:p>
            <a:pPr algn="ctr">
              <a:defRPr/>
            </a:pPr>
            <a:r>
              <a:rPr lang="en-US" sz="117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</a:rPr>
              <a:t>Gemini API</a:t>
            </a:r>
            <a:endParaRPr lang="en-US" sz="87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8"/>
          <p:cNvSpPr/>
          <p:nvPr/>
        </p:nvSpPr>
        <p:spPr>
          <a:xfrm>
            <a:off x="3456360" y="3173040"/>
            <a:ext cx="2331360" cy="749520"/>
          </a:xfrm>
          <a:prstGeom prst="rect">
            <a:avLst/>
          </a:prstGeom>
          <a:solidFill>
            <a:srgbClr val="FFFFFF"/>
          </a:solidFill>
          <a:ln w="0">
            <a:solidFill>
              <a:srgbClr val="D8E5F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500" tIns="24750" rIns="49500" bIns="24750" anchor="ctr">
            <a:normAutofit/>
          </a:bodyPr>
          <a:lstStyle/>
          <a:p>
            <a:pPr algn="ctr">
              <a:defRPr/>
            </a:pPr>
            <a:r>
              <a:rPr lang="ko-KR" altLang="en-US" sz="152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사용자 설정 저장</a:t>
            </a:r>
            <a:endParaRPr lang="en-US" altLang="ko-KR" sz="1520" b="1" u="none" strike="noStrike" dirty="0">
              <a:solidFill>
                <a:srgbClr val="102033"/>
              </a:solidFill>
              <a:effectLst/>
              <a:uFillTx/>
              <a:latin typeface="Noto Sans CJK KR"/>
              <a:ea typeface="Noto Sans CJK KR"/>
            </a:endParaRPr>
          </a:p>
          <a:p>
            <a:pPr algn="ctr">
              <a:defRPr/>
            </a:pPr>
            <a:r>
              <a:rPr lang="en-US" altLang="ko-KR" sz="1170" dirty="0" err="1">
                <a:solidFill>
                  <a:srgbClr val="66768A"/>
                </a:solidFill>
                <a:latin typeface="Noto Sans CJK KR"/>
                <a:ea typeface="Noto Sans CJK KR"/>
              </a:rPr>
              <a:t>Config.json</a:t>
            </a:r>
            <a:endParaRPr lang="en-US" altLang="ko-KR" sz="1520" b="1" u="none" strike="noStrike" dirty="0">
              <a:solidFill>
                <a:srgbClr val="102033"/>
              </a:solidFill>
              <a:effectLst/>
              <a:uFillTx/>
              <a:latin typeface="Noto Sans CJK KR"/>
              <a:ea typeface="Noto Sans CJK KR"/>
            </a:endParaRPr>
          </a:p>
        </p:txBody>
      </p:sp>
      <p:sp>
        <p:nvSpPr>
          <p:cNvPr id="50" name="Text 9"/>
          <p:cNvSpPr/>
          <p:nvPr/>
        </p:nvSpPr>
        <p:spPr>
          <a:xfrm>
            <a:off x="6400800" y="2148840"/>
            <a:ext cx="2377080" cy="749520"/>
          </a:xfrm>
          <a:prstGeom prst="rect">
            <a:avLst/>
          </a:prstGeom>
          <a:solidFill>
            <a:srgbClr val="FFFFFF"/>
          </a:solidFill>
          <a:ln w="0">
            <a:solidFill>
              <a:srgbClr val="D8E5F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500" tIns="24750" rIns="49500" bIns="24750" anchor="ctr">
            <a:normAutofit/>
          </a:bodyPr>
          <a:lstStyle/>
          <a:p>
            <a:pPr>
              <a:defRPr/>
            </a:pPr>
            <a:r>
              <a:rPr lang="zh-CN" sz="152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뉴스 카테고리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17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경제 </a:t>
            </a:r>
            <a:r>
              <a:rPr lang="en-US" sz="117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/ IT / </a:t>
            </a:r>
            <a:r>
              <a:rPr lang="zh-CN" sz="117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스포츠 </a:t>
            </a:r>
            <a:r>
              <a:rPr lang="en-US" sz="117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/ </a:t>
            </a:r>
            <a:r>
              <a:rPr lang="zh-CN" sz="117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종합 선택</a:t>
            </a:r>
            <a:endParaRPr lang="en-US" sz="87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0"/>
          <p:cNvSpPr/>
          <p:nvPr/>
        </p:nvSpPr>
        <p:spPr>
          <a:xfrm>
            <a:off x="9052560" y="2148840"/>
            <a:ext cx="2377080" cy="749520"/>
          </a:xfrm>
          <a:prstGeom prst="rect">
            <a:avLst/>
          </a:prstGeom>
          <a:solidFill>
            <a:srgbClr val="FFFFFF"/>
          </a:solidFill>
          <a:ln w="0">
            <a:solidFill>
              <a:srgbClr val="D8E5F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500" tIns="24750" rIns="49500" bIns="24750" anchor="ctr">
            <a:normAutofit/>
          </a:bodyPr>
          <a:lstStyle/>
          <a:p>
            <a:pPr>
              <a:defRPr/>
            </a:pPr>
            <a:r>
              <a:rPr lang="zh-CN" sz="1520" b="1" u="none" strike="noStrike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항목 </a:t>
            </a:r>
            <a:r>
              <a:rPr lang="en-US" sz="1520" b="1" u="none" strike="noStrike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on/off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170" b="0" u="none" strike="noStrike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날씨</a:t>
            </a:r>
            <a:r>
              <a:rPr lang="en-US" sz="1170" b="0" u="none" strike="noStrike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·</a:t>
            </a:r>
            <a:r>
              <a:rPr lang="zh-CN" sz="1170" b="0" u="none" strike="noStrike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뉴스</a:t>
            </a:r>
            <a:r>
              <a:rPr lang="en-US" sz="1170" b="0" u="none" strike="noStrike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·</a:t>
            </a:r>
            <a:r>
              <a:rPr lang="zh-CN" sz="1170" b="0" u="none" strike="noStrike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한마디 등 포함 여부 선택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3"/>
          <p:cNvSpPr/>
          <p:nvPr/>
        </p:nvSpPr>
        <p:spPr>
          <a:xfrm>
            <a:off x="6089760" y="1554480"/>
            <a:ext cx="360" cy="2926080"/>
          </a:xfrm>
          <a:prstGeom prst="line">
            <a:avLst/>
          </a:prstGeom>
          <a:ln w="12700">
            <a:solidFill>
              <a:srgbClr val="BCD0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500" tIns="24750" rIns="49500" bIns="24750" anchor="t" anchorCtr="1">
            <a:noAutofit/>
          </a:bodyPr>
          <a:lstStyle/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893288B-6740-4A83-843F-555E5A0519FD}"/>
              </a:ext>
            </a:extLst>
          </p:cNvPr>
          <p:cNvGrpSpPr/>
          <p:nvPr/>
        </p:nvGrpSpPr>
        <p:grpSpPr>
          <a:xfrm>
            <a:off x="996570" y="5474359"/>
            <a:ext cx="9856980" cy="383760"/>
            <a:chOff x="932760" y="4800960"/>
            <a:chExt cx="9856980" cy="383760"/>
          </a:xfrm>
        </p:grpSpPr>
        <p:sp>
          <p:nvSpPr>
            <p:cNvPr id="55" name="Text 14"/>
            <p:cNvSpPr/>
            <p:nvPr/>
          </p:nvSpPr>
          <p:spPr>
            <a:xfrm>
              <a:off x="932760" y="4919400"/>
              <a:ext cx="987480" cy="145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lang="zh-CN" b="1" u="none" strike="noStrike" dirty="0">
                  <a:solidFill>
                    <a:srgbClr val="2775EA"/>
                  </a:solidFill>
                  <a:effectLst/>
                  <a:uFillTx/>
                  <a:latin typeface="Noto Sans CJK KR"/>
                  <a:ea typeface="Noto Sans CJK KR"/>
                </a:rPr>
                <a:t>핵심 변화</a:t>
              </a:r>
              <a:endParaRPr lang="en-US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Text 15"/>
            <p:cNvSpPr/>
            <p:nvPr/>
          </p:nvSpPr>
          <p:spPr>
            <a:xfrm>
              <a:off x="2011860" y="4800960"/>
              <a:ext cx="8777880" cy="383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 fontScale="92500"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lang="zh-CN" sz="1720" b="1" u="none" strike="noStrike" dirty="0">
                  <a:solidFill>
                    <a:srgbClr val="102033"/>
                  </a:solidFill>
                  <a:effectLst/>
                  <a:uFillTx/>
                  <a:latin typeface="Noto Sans CJK KR"/>
                  <a:ea typeface="Noto Sans CJK KR"/>
                </a:rPr>
                <a:t>자동으로 보내주는 봇에서</a:t>
              </a:r>
              <a:r>
                <a:rPr lang="en-US" altLang="zh-CN" sz="1720" b="1" u="none" strike="noStrike" dirty="0">
                  <a:solidFill>
                    <a:srgbClr val="102033"/>
                  </a:solidFill>
                  <a:effectLst/>
                  <a:uFillTx/>
                  <a:latin typeface="Noto Sans CJK KR"/>
                  <a:ea typeface="Noto Sans CJK KR"/>
                </a:rPr>
                <a:t>,</a:t>
              </a:r>
              <a:r>
                <a:rPr lang="en-US" sz="1720" b="1" u="none" strike="noStrike" dirty="0">
                  <a:solidFill>
                    <a:srgbClr val="102033"/>
                  </a:solidFill>
                  <a:effectLst/>
                  <a:uFillTx/>
                  <a:latin typeface="Noto Sans CJK KR"/>
                  <a:ea typeface="Noto Sans CJK KR"/>
                </a:rPr>
                <a:t> </a:t>
              </a:r>
              <a:r>
                <a:rPr lang="zh-CN" sz="1720" b="1" u="none" strike="noStrike" dirty="0">
                  <a:solidFill>
                    <a:srgbClr val="102033"/>
                  </a:solidFill>
                  <a:effectLst/>
                  <a:uFillTx/>
                  <a:latin typeface="Noto Sans CJK KR"/>
                  <a:ea typeface="Noto Sans CJK KR"/>
                </a:rPr>
                <a:t>사용자가 원하는 구성으로 조절하는 맞춤형 브리핑 서비스로 확장</a:t>
              </a:r>
              <a:endPara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7" name="Text 16"/>
          <p:cNvSpPr/>
          <p:nvPr/>
        </p:nvSpPr>
        <p:spPr>
          <a:xfrm>
            <a:off x="502920" y="6546960"/>
            <a:ext cx="7314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Daily Report AI · </a:t>
            </a:r>
            <a:r>
              <a:rPr lang="zh-CN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컴퓨팅사고 </a:t>
            </a:r>
            <a:r>
              <a:rPr lang="en-US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27</a:t>
            </a:r>
            <a:r>
              <a:rPr lang="zh-CN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분반 팀 프로젝트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7"/>
          <p:cNvSpPr/>
          <p:nvPr/>
        </p:nvSpPr>
        <p:spPr>
          <a:xfrm>
            <a:off x="11292840" y="6510600"/>
            <a:ext cx="411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0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04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CDC22BD6-3AE4-43C1-9919-335AA296C409}"/>
              </a:ext>
            </a:extLst>
          </p:cNvPr>
          <p:cNvSpPr/>
          <p:nvPr/>
        </p:nvSpPr>
        <p:spPr>
          <a:xfrm>
            <a:off x="822960" y="4124099"/>
            <a:ext cx="2331360" cy="749520"/>
          </a:xfrm>
          <a:prstGeom prst="rect">
            <a:avLst/>
          </a:prstGeom>
          <a:solidFill>
            <a:srgbClr val="FFFFFF"/>
          </a:solidFill>
          <a:ln w="0">
            <a:solidFill>
              <a:srgbClr val="D8E5F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500" tIns="24750" rIns="49500" bIns="24750" anchor="ctr">
            <a:normAutofit/>
          </a:bodyPr>
          <a:lstStyle/>
          <a:p>
            <a:pPr algn="ctr">
              <a:defRPr/>
            </a:pPr>
            <a:r>
              <a:rPr lang="ko-KR" altLang="en-US" sz="1520" b="1" dirty="0">
                <a:solidFill>
                  <a:srgbClr val="102033"/>
                </a:solidFill>
                <a:latin typeface="Noto Sans CJK KR"/>
                <a:ea typeface="Noto Sans CJK KR"/>
              </a:rPr>
              <a:t>데이터 수집</a:t>
            </a:r>
            <a:endParaRPr lang="en-US" altLang="ko-KR" sz="1520" b="1" u="none" strike="noStrike" dirty="0">
              <a:solidFill>
                <a:srgbClr val="102033"/>
              </a:solidFill>
              <a:effectLst/>
              <a:uFillTx/>
              <a:latin typeface="Noto Sans CJK KR"/>
              <a:ea typeface="Noto Sans CJK KR"/>
            </a:endParaRPr>
          </a:p>
          <a:p>
            <a:pPr algn="ctr">
              <a:defRPr/>
            </a:pPr>
            <a:r>
              <a:rPr lang="en-US" sz="1170" b="0" u="none" strike="noStrike" dirty="0" err="1">
                <a:solidFill>
                  <a:srgbClr val="66768A"/>
                </a:solidFill>
                <a:effectLst/>
                <a:uFillTx/>
                <a:latin typeface="Noto Sans CJK KR"/>
              </a:rPr>
              <a:t>OpenWeather</a:t>
            </a:r>
            <a:r>
              <a:rPr lang="en-US" sz="117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</a:rPr>
              <a:t> API, </a:t>
            </a:r>
            <a:r>
              <a:rPr lang="en-US" sz="1170" dirty="0" err="1">
                <a:solidFill>
                  <a:srgbClr val="66768A"/>
                </a:solidFill>
                <a:latin typeface="Noto Sans CJK KR"/>
              </a:rPr>
              <a:t>f</a:t>
            </a:r>
            <a:r>
              <a:rPr lang="en-US" sz="1170" b="0" u="none" strike="noStrike" dirty="0" err="1">
                <a:solidFill>
                  <a:srgbClr val="66768A"/>
                </a:solidFill>
                <a:effectLst/>
                <a:uFillTx/>
                <a:latin typeface="Noto Sans CJK KR"/>
              </a:rPr>
              <a:t>eedParser</a:t>
            </a:r>
            <a:endParaRPr lang="en-US" sz="87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/>
          <p:nvPr/>
        </p:nvSpPr>
        <p:spPr>
          <a:xfrm>
            <a:off x="530280" y="329040"/>
            <a:ext cx="2011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1" u="none" strike="noStrike" dirty="0">
                <a:solidFill>
                  <a:srgbClr val="2775EA"/>
                </a:solidFill>
                <a:effectLst/>
                <a:uFillTx/>
                <a:latin typeface="Noto Sans CJK KR"/>
                <a:ea typeface="Noto Sans CJK KR"/>
              </a:rPr>
              <a:t>04 </a:t>
            </a:r>
            <a:r>
              <a:rPr lang="ko-KR" altLang="en-US" sz="1400" b="1" dirty="0">
                <a:solidFill>
                  <a:srgbClr val="2775EA"/>
                </a:solidFill>
                <a:latin typeface="Noto Sans CJK KR"/>
                <a:ea typeface="Noto Sans CJK KR"/>
              </a:rPr>
              <a:t>기능 구현 진척도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"/>
          <p:cNvSpPr/>
          <p:nvPr/>
        </p:nvSpPr>
        <p:spPr>
          <a:xfrm>
            <a:off x="530280" y="58536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ko-KR" altLang="en-US" sz="28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기능 구현 진척도</a:t>
            </a:r>
            <a:endParaRPr lang="en-US" sz="2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"/>
          <p:cNvSpPr/>
          <p:nvPr/>
        </p:nvSpPr>
        <p:spPr>
          <a:xfrm>
            <a:off x="664680" y="1554480"/>
            <a:ext cx="2158162" cy="368807"/>
          </a:xfrm>
          <a:prstGeom prst="rect">
            <a:avLst/>
          </a:prstGeom>
          <a:solidFill>
            <a:srgbClr val="172B8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96" tIns="396" rIns="396" bIns="396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15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기능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5"/>
          <p:cNvSpPr/>
          <p:nvPr/>
        </p:nvSpPr>
        <p:spPr>
          <a:xfrm>
            <a:off x="10274424" y="1554480"/>
            <a:ext cx="1252896" cy="368807"/>
          </a:xfrm>
          <a:prstGeom prst="rect">
            <a:avLst/>
          </a:prstGeom>
          <a:solidFill>
            <a:srgbClr val="172B8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96" tIns="396" rIns="396" bIns="396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15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상태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8"/>
          <p:cNvSpPr/>
          <p:nvPr/>
        </p:nvSpPr>
        <p:spPr>
          <a:xfrm>
            <a:off x="10413695" y="2088038"/>
            <a:ext cx="946389" cy="327888"/>
          </a:xfrm>
          <a:prstGeom prst="rect">
            <a:avLst/>
          </a:prstGeom>
          <a:solidFill>
            <a:srgbClr val="16A477"/>
          </a:solidFill>
          <a:ln w="0">
            <a:solidFill>
              <a:srgbClr val="16A47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98" tIns="198" rIns="198" bIns="198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03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완료</a:t>
            </a:r>
            <a:endParaRPr lang="en-US" sz="7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1"/>
          <p:cNvSpPr/>
          <p:nvPr/>
        </p:nvSpPr>
        <p:spPr>
          <a:xfrm>
            <a:off x="10413695" y="2798731"/>
            <a:ext cx="946389" cy="327888"/>
          </a:xfrm>
          <a:prstGeom prst="rect">
            <a:avLst/>
          </a:prstGeom>
          <a:solidFill>
            <a:srgbClr val="16A477"/>
          </a:solidFill>
          <a:ln w="0">
            <a:solidFill>
              <a:srgbClr val="16A47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98" tIns="198" rIns="198" bIns="198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03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완료</a:t>
            </a:r>
            <a:endParaRPr lang="en-US" sz="7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4"/>
          <p:cNvSpPr/>
          <p:nvPr/>
        </p:nvSpPr>
        <p:spPr>
          <a:xfrm>
            <a:off x="10413695" y="3509962"/>
            <a:ext cx="946389" cy="327888"/>
          </a:xfrm>
          <a:prstGeom prst="rect">
            <a:avLst/>
          </a:prstGeom>
          <a:solidFill>
            <a:srgbClr val="16A477"/>
          </a:solidFill>
          <a:ln w="0">
            <a:solidFill>
              <a:srgbClr val="16A47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98" tIns="198" rIns="198" bIns="198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03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완료</a:t>
            </a:r>
            <a:endParaRPr lang="en-US" sz="7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7"/>
          <p:cNvSpPr/>
          <p:nvPr/>
        </p:nvSpPr>
        <p:spPr>
          <a:xfrm>
            <a:off x="10413695" y="4221193"/>
            <a:ext cx="946389" cy="327888"/>
          </a:xfrm>
          <a:prstGeom prst="rect">
            <a:avLst/>
          </a:prstGeom>
          <a:solidFill>
            <a:srgbClr val="16A477"/>
          </a:solidFill>
          <a:ln w="0">
            <a:solidFill>
              <a:srgbClr val="16A47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98" tIns="198" rIns="198" bIns="198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03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완료</a:t>
            </a:r>
            <a:endParaRPr lang="en-US" sz="7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0"/>
          <p:cNvSpPr/>
          <p:nvPr/>
        </p:nvSpPr>
        <p:spPr>
          <a:xfrm>
            <a:off x="10413695" y="4932425"/>
            <a:ext cx="946389" cy="327888"/>
          </a:xfrm>
          <a:prstGeom prst="rect">
            <a:avLst/>
          </a:prstGeom>
          <a:solidFill>
            <a:srgbClr val="16A477"/>
          </a:solidFill>
          <a:ln w="0">
            <a:solidFill>
              <a:srgbClr val="16A47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98" tIns="198" rIns="198" bIns="198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03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완료</a:t>
            </a:r>
            <a:endParaRPr lang="en-US" sz="7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D70E80B-A637-4501-8367-3439483BC4C7}"/>
              </a:ext>
            </a:extLst>
          </p:cNvPr>
          <p:cNvGrpSpPr/>
          <p:nvPr/>
        </p:nvGrpSpPr>
        <p:grpSpPr>
          <a:xfrm>
            <a:off x="664680" y="2033121"/>
            <a:ext cx="2158162" cy="4074639"/>
            <a:chOff x="664680" y="2033121"/>
            <a:chExt cx="2158162" cy="4074639"/>
          </a:xfrm>
        </p:grpSpPr>
        <p:sp>
          <p:nvSpPr>
            <p:cNvPr id="65" name="Text 6"/>
            <p:cNvSpPr/>
            <p:nvPr/>
          </p:nvSpPr>
          <p:spPr>
            <a:xfrm>
              <a:off x="664680" y="2033121"/>
              <a:ext cx="2158162" cy="519021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D8E5F3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96" tIns="396" rIns="396" bIns="396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lang="zh-CN" sz="1600" b="1" u="none" strike="noStrike">
                  <a:solidFill>
                    <a:srgbClr val="102033"/>
                  </a:solidFill>
                  <a:effectLst/>
                  <a:uFillTx/>
                  <a:latin typeface="Noto Sans CJK KR"/>
                  <a:ea typeface="Noto Sans CJK KR"/>
                </a:rPr>
                <a:t>자동 브리핑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Text 9"/>
            <p:cNvSpPr/>
            <p:nvPr/>
          </p:nvSpPr>
          <p:spPr>
            <a:xfrm>
              <a:off x="664680" y="2744352"/>
              <a:ext cx="2158162" cy="519021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D8E5F3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96" tIns="396" rIns="396" bIns="396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lang="en-US" sz="1600" b="1" u="none" strike="noStrike">
                  <a:solidFill>
                    <a:srgbClr val="102033"/>
                  </a:solidFill>
                  <a:effectLst/>
                  <a:uFillTx/>
                  <a:latin typeface="Noto Sans CJK KR"/>
                  <a:ea typeface="Noto Sans CJK KR"/>
                </a:rPr>
                <a:t>Discord </a:t>
              </a:r>
              <a:r>
                <a:rPr lang="zh-CN" sz="1600" b="1" u="none" strike="noStrike">
                  <a:solidFill>
                    <a:srgbClr val="102033"/>
                  </a:solidFill>
                  <a:effectLst/>
                  <a:uFillTx/>
                  <a:latin typeface="Noto Sans CJK KR"/>
                  <a:ea typeface="Noto Sans CJK KR"/>
                </a:rPr>
                <a:t>명령어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Text 12"/>
            <p:cNvSpPr/>
            <p:nvPr/>
          </p:nvSpPr>
          <p:spPr>
            <a:xfrm>
              <a:off x="664680" y="3455583"/>
              <a:ext cx="2158162" cy="519021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D8E5F3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96" tIns="396" rIns="396" bIns="396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lang="zh-CN" sz="1600" b="1" u="none" strike="noStrike">
                  <a:solidFill>
                    <a:srgbClr val="102033"/>
                  </a:solidFill>
                  <a:effectLst/>
                  <a:uFillTx/>
                  <a:latin typeface="Noto Sans CJK KR"/>
                  <a:ea typeface="Noto Sans CJK KR"/>
                </a:rPr>
                <a:t>사용자별 지역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Text 15"/>
            <p:cNvSpPr/>
            <p:nvPr/>
          </p:nvSpPr>
          <p:spPr>
            <a:xfrm>
              <a:off x="664680" y="4166276"/>
              <a:ext cx="2158162" cy="519021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D8E5F3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96" tIns="396" rIns="396" bIns="396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lang="zh-CN" sz="1600" b="1" u="none" strike="noStrike">
                  <a:solidFill>
                    <a:srgbClr val="102033"/>
                  </a:solidFill>
                  <a:effectLst/>
                  <a:uFillTx/>
                  <a:latin typeface="Noto Sans CJK KR"/>
                  <a:ea typeface="Noto Sans CJK KR"/>
                </a:rPr>
                <a:t>날씨</a:t>
              </a:r>
              <a:r>
                <a:rPr lang="en-US" sz="1600" b="1" u="none" strike="noStrike">
                  <a:solidFill>
                    <a:srgbClr val="102033"/>
                  </a:solidFill>
                  <a:effectLst/>
                  <a:uFillTx/>
                  <a:latin typeface="Noto Sans CJK KR"/>
                  <a:ea typeface="Noto Sans CJK KR"/>
                </a:rPr>
                <a:t>·</a:t>
              </a:r>
              <a:r>
                <a:rPr lang="zh-CN" sz="1600" b="1" u="none" strike="noStrike">
                  <a:solidFill>
                    <a:srgbClr val="102033"/>
                  </a:solidFill>
                  <a:effectLst/>
                  <a:uFillTx/>
                  <a:latin typeface="Noto Sans CJK KR"/>
                  <a:ea typeface="Noto Sans CJK KR"/>
                </a:rPr>
                <a:t>대기질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Text 18"/>
            <p:cNvSpPr/>
            <p:nvPr/>
          </p:nvSpPr>
          <p:spPr>
            <a:xfrm>
              <a:off x="664680" y="4877508"/>
              <a:ext cx="2158162" cy="519021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D8E5F3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96" tIns="396" rIns="396" bIns="396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lang="zh-CN" sz="1600" b="1" u="none" strike="noStrike">
                  <a:solidFill>
                    <a:srgbClr val="102033"/>
                  </a:solidFill>
                  <a:effectLst/>
                  <a:uFillTx/>
                  <a:latin typeface="Noto Sans CJK KR"/>
                  <a:ea typeface="Noto Sans CJK KR"/>
                </a:rPr>
                <a:t>뉴스 요약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Text 21"/>
            <p:cNvSpPr/>
            <p:nvPr/>
          </p:nvSpPr>
          <p:spPr>
            <a:xfrm>
              <a:off x="664680" y="5588739"/>
              <a:ext cx="2158162" cy="519021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D8E5F3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96" tIns="396" rIns="396" bIns="396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lang="ko-KR" altLang="en-US" sz="1600" b="1" u="none" strike="noStrike" dirty="0">
                  <a:solidFill>
                    <a:srgbClr val="102033"/>
                  </a:solidFill>
                  <a:effectLst/>
                  <a:uFillTx/>
                  <a:latin typeface="Noto Sans CJK KR"/>
                  <a:ea typeface="Noto Sans CJK KR"/>
                </a:rPr>
                <a:t>개인화 설정</a:t>
              </a:r>
              <a:endPara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AAFF0820-D1E6-4DD5-A706-2BD8754A9BA9}"/>
              </a:ext>
            </a:extLst>
          </p:cNvPr>
          <p:cNvGrpSpPr/>
          <p:nvPr/>
        </p:nvGrpSpPr>
        <p:grpSpPr>
          <a:xfrm>
            <a:off x="2931071" y="1554480"/>
            <a:ext cx="7314840" cy="4553280"/>
            <a:chOff x="2865062" y="1554480"/>
            <a:chExt cx="7380849" cy="4553280"/>
          </a:xfrm>
        </p:grpSpPr>
        <p:sp>
          <p:nvSpPr>
            <p:cNvPr id="63" name="Text 4"/>
            <p:cNvSpPr/>
            <p:nvPr/>
          </p:nvSpPr>
          <p:spPr>
            <a:xfrm>
              <a:off x="2865062" y="1554480"/>
              <a:ext cx="7380849" cy="368807"/>
            </a:xfrm>
            <a:prstGeom prst="rect">
              <a:avLst/>
            </a:prstGeom>
            <a:solidFill>
              <a:srgbClr val="172B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96" tIns="396" rIns="396" bIns="396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lang="ko-KR" altLang="en-US" sz="1150" b="1" u="none" strike="noStrike" dirty="0" err="1">
                  <a:solidFill>
                    <a:srgbClr val="FFFFFF"/>
                  </a:solidFill>
                  <a:effectLst/>
                  <a:uFillTx/>
                  <a:latin typeface="Noto Sans CJK KR"/>
                  <a:ea typeface="Noto Sans CJK KR"/>
                </a:rPr>
                <a:t>변경점</a:t>
              </a:r>
              <a:endParaRPr lang="en-US" sz="85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A36F7D6C-0CE3-4EC7-8AB5-BD4C6A07C96F}"/>
                </a:ext>
              </a:extLst>
            </p:cNvPr>
            <p:cNvGrpSpPr/>
            <p:nvPr/>
          </p:nvGrpSpPr>
          <p:grpSpPr>
            <a:xfrm>
              <a:off x="2865062" y="2033121"/>
              <a:ext cx="7380849" cy="4074639"/>
              <a:chOff x="2865062" y="2033121"/>
              <a:chExt cx="7380849" cy="4074639"/>
            </a:xfrm>
          </p:grpSpPr>
          <p:sp>
            <p:nvSpPr>
              <p:cNvPr id="66" name="Text 7"/>
              <p:cNvSpPr/>
              <p:nvPr/>
            </p:nvSpPr>
            <p:spPr>
              <a:xfrm>
                <a:off x="2865062" y="2033121"/>
                <a:ext cx="7380849" cy="519021"/>
              </a:xfrm>
              <a:prstGeom prst="rect">
                <a:avLst/>
              </a:prstGeom>
              <a:solidFill>
                <a:srgbClr val="FFFFFF"/>
              </a:solidFill>
              <a:ln w="0">
                <a:solidFill>
                  <a:srgbClr val="D8E5F3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" tIns="396" rIns="396" bIns="396" anchor="ctr">
                <a:norm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r>
                  <a:rPr lang="ko-KR" altLang="en-US" sz="1400" b="0" u="none" strike="noStrike" dirty="0">
                    <a:solidFill>
                      <a:srgbClr val="66768A"/>
                    </a:solidFill>
                    <a:effectLst/>
                    <a:uFillTx/>
                    <a:latin typeface="Noto Sans CJK KR"/>
                    <a:ea typeface="Noto Sans CJK KR"/>
                  </a:rPr>
                  <a:t>등록된 사용자에게 지정 시간 </a:t>
                </a:r>
                <a:r>
                  <a:rPr lang="en-US" altLang="ko-KR" sz="1400" b="0" u="none" strike="noStrike" dirty="0">
                    <a:solidFill>
                      <a:srgbClr val="66768A"/>
                    </a:solidFill>
                    <a:effectLst/>
                    <a:uFillTx/>
                    <a:latin typeface="Noto Sans CJK KR"/>
                    <a:ea typeface="Noto Sans CJK KR"/>
                  </a:rPr>
                  <a:t>DM </a:t>
                </a:r>
                <a:r>
                  <a:rPr lang="ko-KR" altLang="en-US" sz="1400" b="0" u="none" strike="noStrike" dirty="0">
                    <a:solidFill>
                      <a:srgbClr val="66768A"/>
                    </a:solidFill>
                    <a:effectLst/>
                    <a:uFillTx/>
                    <a:latin typeface="Noto Sans CJK KR"/>
                    <a:ea typeface="Noto Sans CJK KR"/>
                  </a:rPr>
                  <a:t>발송</a:t>
                </a:r>
                <a:endParaRPr lang="en-US" sz="14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Text 10"/>
              <p:cNvSpPr/>
              <p:nvPr/>
            </p:nvSpPr>
            <p:spPr>
              <a:xfrm>
                <a:off x="2865062" y="2744352"/>
                <a:ext cx="7380849" cy="519021"/>
              </a:xfrm>
              <a:prstGeom prst="rect">
                <a:avLst/>
              </a:prstGeom>
              <a:solidFill>
                <a:srgbClr val="FFFFFF"/>
              </a:solidFill>
              <a:ln w="0">
                <a:solidFill>
                  <a:srgbClr val="D8E5F3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" tIns="396" rIns="396" bIns="396" anchor="ctr">
                <a:normAutofit/>
              </a:bodyPr>
              <a:lstStyle/>
              <a:p>
                <a:pPr algn="ctr">
                  <a:tabLst>
                    <a:tab pos="0" algn="l"/>
                  </a:tabLst>
                  <a:defRPr/>
                </a:pPr>
                <a:r>
                  <a:rPr lang="en-US" altLang="zh-CN" sz="1400" b="0" u="none" strike="noStrike" dirty="0">
                    <a:solidFill>
                      <a:srgbClr val="66768A"/>
                    </a:solidFill>
                    <a:effectLst/>
                    <a:uFillTx/>
                    <a:latin typeface="Noto Sans CJK KR"/>
                    <a:ea typeface="Noto Sans CJK KR"/>
                  </a:rPr>
                  <a:t>Discord </a:t>
                </a:r>
                <a:r>
                  <a:rPr lang="ko-KR" altLang="en-US" sz="1400" b="0" u="none" strike="noStrike" dirty="0">
                    <a:solidFill>
                      <a:srgbClr val="66768A"/>
                    </a:solidFill>
                    <a:effectLst/>
                    <a:uFillTx/>
                    <a:latin typeface="Noto Sans CJK KR"/>
                    <a:ea typeface="Noto Sans CJK KR"/>
                  </a:rPr>
                  <a:t>명령어 기반 사용자 조작</a:t>
                </a:r>
                <a:endParaRPr lang="en-US" altLang="ko-KR" sz="14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" name="Text 13"/>
              <p:cNvSpPr/>
              <p:nvPr/>
            </p:nvSpPr>
            <p:spPr>
              <a:xfrm>
                <a:off x="2865062" y="3455583"/>
                <a:ext cx="7380849" cy="519021"/>
              </a:xfrm>
              <a:prstGeom prst="rect">
                <a:avLst/>
              </a:prstGeom>
              <a:solidFill>
                <a:srgbClr val="FFFFFF"/>
              </a:solidFill>
              <a:ln w="0">
                <a:solidFill>
                  <a:srgbClr val="D8E5F3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" tIns="396" rIns="396" bIns="396" anchor="ctr">
                <a:norm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r>
                  <a:rPr lang="en-US" sz="1400" b="0" u="none" strike="noStrike" dirty="0" err="1">
                    <a:solidFill>
                      <a:srgbClr val="66768A"/>
                    </a:solidFill>
                    <a:effectLst/>
                    <a:uFillTx/>
                    <a:latin typeface="Noto Sans CJK KR"/>
                    <a:ea typeface="Noto Sans CJK KR"/>
                  </a:rPr>
                  <a:t>config.json</a:t>
                </a:r>
                <a:r>
                  <a:rPr lang="ko-KR" altLang="en-US" sz="1400" dirty="0">
                    <a:solidFill>
                      <a:srgbClr val="66768A"/>
                    </a:solidFill>
                    <a:latin typeface="Noto Sans CJK KR"/>
                    <a:ea typeface="Noto Sans CJK KR"/>
                  </a:rPr>
                  <a:t>에</a:t>
                </a:r>
                <a:r>
                  <a:rPr lang="zh-CN" sz="1400" b="0" u="none" strike="noStrike" dirty="0">
                    <a:solidFill>
                      <a:srgbClr val="66768A"/>
                    </a:solidFill>
                    <a:effectLst/>
                    <a:uFillTx/>
                    <a:latin typeface="Noto Sans CJK KR"/>
                    <a:ea typeface="Noto Sans CJK KR"/>
                  </a:rPr>
                  <a:t> 지역 설정 저장</a:t>
                </a:r>
                <a:endParaRPr lang="en-US" sz="14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Text 16"/>
              <p:cNvSpPr/>
              <p:nvPr/>
            </p:nvSpPr>
            <p:spPr>
              <a:xfrm>
                <a:off x="2865062" y="4166276"/>
                <a:ext cx="7380849" cy="519021"/>
              </a:xfrm>
              <a:prstGeom prst="rect">
                <a:avLst/>
              </a:prstGeom>
              <a:solidFill>
                <a:srgbClr val="FFFFFF"/>
              </a:solidFill>
              <a:ln w="0">
                <a:solidFill>
                  <a:srgbClr val="D8E5F3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" tIns="396" rIns="396" bIns="396" anchor="ctr">
                <a:norm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r>
                  <a:rPr lang="en-US" sz="1400" b="0" u="none" strike="noStrike" dirty="0" err="1">
                    <a:solidFill>
                      <a:srgbClr val="66768A"/>
                    </a:solidFill>
                    <a:effectLst/>
                    <a:uFillTx/>
                    <a:latin typeface="Noto Sans CJK KR"/>
                    <a:ea typeface="Noto Sans CJK KR"/>
                  </a:rPr>
                  <a:t>OpenWeather</a:t>
                </a:r>
                <a:r>
                  <a:rPr lang="en-US" sz="1400" b="0" u="none" strike="noStrike" dirty="0">
                    <a:solidFill>
                      <a:srgbClr val="66768A"/>
                    </a:solidFill>
                    <a:effectLst/>
                    <a:uFillTx/>
                    <a:latin typeface="Noto Sans CJK KR"/>
                    <a:ea typeface="Noto Sans CJK KR"/>
                  </a:rPr>
                  <a:t> </a:t>
                </a:r>
                <a:r>
                  <a:rPr lang="zh-CN" sz="1400" b="0" u="none" strike="noStrike" dirty="0">
                    <a:solidFill>
                      <a:srgbClr val="66768A"/>
                    </a:solidFill>
                    <a:effectLst/>
                    <a:uFillTx/>
                    <a:latin typeface="Noto Sans CJK KR"/>
                    <a:ea typeface="Noto Sans CJK KR"/>
                  </a:rPr>
                  <a:t>기반 날씨와 미세먼지 수집</a:t>
                </a:r>
                <a:endParaRPr lang="en-US" sz="14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" name="Text 19"/>
              <p:cNvSpPr/>
              <p:nvPr/>
            </p:nvSpPr>
            <p:spPr>
              <a:xfrm>
                <a:off x="2865062" y="4877508"/>
                <a:ext cx="7380849" cy="519021"/>
              </a:xfrm>
              <a:prstGeom prst="rect">
                <a:avLst/>
              </a:prstGeom>
              <a:solidFill>
                <a:srgbClr val="FFFFFF"/>
              </a:solidFill>
              <a:ln w="0">
                <a:solidFill>
                  <a:srgbClr val="D8E5F3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" tIns="396" rIns="396" bIns="396" anchor="ctr">
                <a:norm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r>
                  <a:rPr lang="en-US" sz="1400" b="0" u="none" strike="noStrike" dirty="0">
                    <a:solidFill>
                      <a:srgbClr val="66768A"/>
                    </a:solidFill>
                    <a:effectLst/>
                    <a:uFillTx/>
                    <a:latin typeface="Noto Sans CJK KR"/>
                    <a:ea typeface="Noto Sans CJK KR"/>
                  </a:rPr>
                  <a:t>Google News RSS → Gemini </a:t>
                </a:r>
                <a:r>
                  <a:rPr lang="zh-CN" sz="1400" b="0" u="none" strike="noStrike" dirty="0">
                    <a:solidFill>
                      <a:srgbClr val="66768A"/>
                    </a:solidFill>
                    <a:effectLst/>
                    <a:uFillTx/>
                    <a:latin typeface="Noto Sans CJK KR"/>
                    <a:ea typeface="Noto Sans CJK KR"/>
                  </a:rPr>
                  <a:t>요약</a:t>
                </a:r>
                <a:endParaRPr lang="en-US" sz="14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" name="Text 22"/>
              <p:cNvSpPr/>
              <p:nvPr/>
            </p:nvSpPr>
            <p:spPr>
              <a:xfrm>
                <a:off x="2865062" y="5588739"/>
                <a:ext cx="7380849" cy="519021"/>
              </a:xfrm>
              <a:prstGeom prst="rect">
                <a:avLst/>
              </a:prstGeom>
              <a:solidFill>
                <a:srgbClr val="FFFFFF"/>
              </a:solidFill>
              <a:ln w="0">
                <a:solidFill>
                  <a:srgbClr val="D8E5F3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" tIns="396" rIns="396" bIns="396" anchor="ctr">
                <a:norm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r>
                  <a:rPr lang="ko-KR" altLang="en-US" sz="1400" b="0" u="none" strike="noStrike" dirty="0">
                    <a:solidFill>
                      <a:srgbClr val="66768A"/>
                    </a:solidFill>
                    <a:effectLst/>
                    <a:uFillTx/>
                    <a:latin typeface="Noto Sans CJK KR"/>
                    <a:ea typeface="Noto Sans CJK KR"/>
                  </a:rPr>
                  <a:t>뉴스 관심분야 선택</a:t>
                </a:r>
                <a:r>
                  <a:rPr lang="en-US" altLang="ko-KR" sz="1400" b="0" u="none" strike="noStrike" dirty="0">
                    <a:solidFill>
                      <a:srgbClr val="66768A"/>
                    </a:solidFill>
                    <a:effectLst/>
                    <a:uFillTx/>
                    <a:latin typeface="Noto Sans CJK KR"/>
                    <a:ea typeface="Noto Sans CJK KR"/>
                  </a:rPr>
                  <a:t>, </a:t>
                </a:r>
                <a:r>
                  <a:rPr lang="ko-KR" altLang="en-US" sz="1400" b="0" u="none" strike="noStrike" dirty="0">
                    <a:solidFill>
                      <a:srgbClr val="66768A"/>
                    </a:solidFill>
                    <a:effectLst/>
                    <a:uFillTx/>
                    <a:latin typeface="Noto Sans CJK KR"/>
                    <a:ea typeface="Noto Sans CJK KR"/>
                  </a:rPr>
                  <a:t>브리핑 항목 </a:t>
                </a:r>
                <a:r>
                  <a:rPr lang="en-US" altLang="ko-KR" sz="1400" b="0" u="none" strike="noStrike" dirty="0">
                    <a:solidFill>
                      <a:srgbClr val="66768A"/>
                    </a:solidFill>
                    <a:effectLst/>
                    <a:uFillTx/>
                    <a:latin typeface="Noto Sans CJK KR"/>
                    <a:ea typeface="Noto Sans CJK KR"/>
                  </a:rPr>
                  <a:t>on/off </a:t>
                </a:r>
                <a:r>
                  <a:rPr lang="ko-KR" altLang="en-US" sz="1400" b="0" u="none" strike="noStrike" dirty="0">
                    <a:solidFill>
                      <a:srgbClr val="66768A"/>
                    </a:solidFill>
                    <a:effectLst/>
                    <a:uFillTx/>
                    <a:latin typeface="Noto Sans CJK KR"/>
                    <a:ea typeface="Noto Sans CJK KR"/>
                  </a:rPr>
                  <a:t>기능</a:t>
                </a:r>
                <a:endParaRPr lang="en-US" sz="1400" b="0" u="none" strike="noStrike" dirty="0">
                  <a:solidFill>
                    <a:srgbClr val="000000"/>
                  </a:solidFill>
                  <a:effectLst/>
                  <a:uFillTx/>
                </a:endParaRPr>
              </a:p>
            </p:txBody>
          </p:sp>
        </p:grpSp>
      </p:grpSp>
      <p:sp>
        <p:nvSpPr>
          <p:cNvPr id="82" name="Text 23"/>
          <p:cNvSpPr/>
          <p:nvPr/>
        </p:nvSpPr>
        <p:spPr>
          <a:xfrm>
            <a:off x="10413695" y="5643656"/>
            <a:ext cx="946389" cy="327888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98" tIns="198" rIns="198" bIns="198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030" b="1" u="none" strike="noStrike" dirty="0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진행</a:t>
            </a:r>
            <a:r>
              <a:rPr lang="ko-KR" altLang="en-US" sz="1030" b="1" dirty="0">
                <a:solidFill>
                  <a:srgbClr val="FFFFFF"/>
                </a:solidFill>
                <a:latin typeface="Noto Sans CJK KR"/>
                <a:ea typeface="Noto Sans CJK KR"/>
              </a:rPr>
              <a:t>중</a:t>
            </a:r>
            <a:endParaRPr lang="en-US" sz="73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5"/>
          <p:cNvSpPr/>
          <p:nvPr/>
        </p:nvSpPr>
        <p:spPr>
          <a:xfrm>
            <a:off x="502920" y="6546960"/>
            <a:ext cx="7314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Daily Report AI · </a:t>
            </a:r>
            <a:r>
              <a:rPr lang="zh-CN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컴퓨팅사고 </a:t>
            </a:r>
            <a:r>
              <a:rPr lang="en-US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27</a:t>
            </a:r>
            <a:r>
              <a:rPr lang="zh-CN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분반 팀 프로젝트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6"/>
          <p:cNvSpPr/>
          <p:nvPr/>
        </p:nvSpPr>
        <p:spPr>
          <a:xfrm>
            <a:off x="11292840" y="6510600"/>
            <a:ext cx="411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0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05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/>
          <p:nvPr/>
        </p:nvSpPr>
        <p:spPr>
          <a:xfrm>
            <a:off x="530280" y="329040"/>
            <a:ext cx="2011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1" u="none" strike="noStrike" dirty="0">
                <a:solidFill>
                  <a:srgbClr val="2775EA"/>
                </a:solidFill>
                <a:effectLst/>
                <a:uFillTx/>
                <a:latin typeface="Noto Sans CJK KR"/>
                <a:ea typeface="Noto Sans CJK KR"/>
              </a:rPr>
              <a:t>05 Discord </a:t>
            </a:r>
            <a:r>
              <a:rPr lang="ko-KR" altLang="en-US" sz="1400" b="1" u="none" strike="noStrike" dirty="0">
                <a:solidFill>
                  <a:srgbClr val="2775EA"/>
                </a:solidFill>
                <a:effectLst/>
                <a:uFillTx/>
                <a:latin typeface="Noto Sans CJK KR"/>
                <a:ea typeface="Noto Sans CJK KR"/>
              </a:rPr>
              <a:t>명령어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"/>
          <p:cNvSpPr/>
          <p:nvPr/>
        </p:nvSpPr>
        <p:spPr>
          <a:xfrm>
            <a:off x="530280" y="58536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ko-KR" altLang="en-US" sz="28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기능별 </a:t>
            </a:r>
            <a:r>
              <a:rPr lang="en-US" altLang="ko-KR" sz="28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Discord </a:t>
            </a:r>
            <a:r>
              <a:rPr lang="ko-KR" altLang="en-US" sz="28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명령어</a:t>
            </a:r>
            <a:endParaRPr lang="en-US" sz="2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"/>
          <p:cNvSpPr/>
          <p:nvPr/>
        </p:nvSpPr>
        <p:spPr>
          <a:xfrm>
            <a:off x="548640" y="1024200"/>
            <a:ext cx="10515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ko-KR" altLang="en-US" sz="1250" dirty="0">
                <a:solidFill>
                  <a:srgbClr val="66768A"/>
                </a:solidFill>
                <a:latin typeface="Noto Sans CJK KR"/>
              </a:rPr>
              <a:t>구현 완료된 것과 구현중인 기능</a:t>
            </a:r>
            <a:endParaRPr lang="en-US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"/>
          <p:cNvSpPr/>
          <p:nvPr/>
        </p:nvSpPr>
        <p:spPr>
          <a:xfrm>
            <a:off x="838200" y="2326724"/>
            <a:ext cx="2158162" cy="368807"/>
          </a:xfrm>
          <a:prstGeom prst="rect">
            <a:avLst/>
          </a:prstGeom>
          <a:solidFill>
            <a:srgbClr val="172B8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96" tIns="396" rIns="396" bIns="396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ko-KR" altLang="en-US" sz="1150" b="1" dirty="0">
                <a:solidFill>
                  <a:srgbClr val="FFFFFF"/>
                </a:solidFill>
                <a:latin typeface="Noto Sans CJK KR"/>
                <a:ea typeface="Noto Sans CJK KR"/>
              </a:rPr>
              <a:t>기본</a:t>
            </a:r>
            <a:r>
              <a:rPr lang="ko-KR" altLang="en-US" sz="1150" b="1" u="none" strike="noStrike" dirty="0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 설정</a:t>
            </a:r>
            <a:endParaRPr lang="en-US" sz="8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6"/>
          <p:cNvSpPr/>
          <p:nvPr/>
        </p:nvSpPr>
        <p:spPr>
          <a:xfrm>
            <a:off x="838200" y="2805365"/>
            <a:ext cx="2158162" cy="519021"/>
          </a:xfrm>
          <a:prstGeom prst="rect">
            <a:avLst/>
          </a:prstGeom>
          <a:solidFill>
            <a:srgbClr val="FFFFFF"/>
          </a:solidFill>
          <a:ln w="0">
            <a:solidFill>
              <a:srgbClr val="D8E5F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96" tIns="396" rIns="396" bIns="396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altLang="zh-CN" sz="16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/</a:t>
            </a:r>
            <a:r>
              <a:rPr lang="ko-KR" altLang="en-US" sz="16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등록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9"/>
          <p:cNvSpPr/>
          <p:nvPr/>
        </p:nvSpPr>
        <p:spPr>
          <a:xfrm>
            <a:off x="838200" y="3516596"/>
            <a:ext cx="2158162" cy="519021"/>
          </a:xfrm>
          <a:prstGeom prst="rect">
            <a:avLst/>
          </a:prstGeom>
          <a:solidFill>
            <a:srgbClr val="FFFFFF"/>
          </a:solidFill>
          <a:ln w="0">
            <a:solidFill>
              <a:srgbClr val="D8E5F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96" tIns="396" rIns="396" bIns="396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6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/</a:t>
            </a:r>
            <a:r>
              <a:rPr lang="ko-KR" altLang="en-US" sz="16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설정 지역 </a:t>
            </a:r>
            <a:r>
              <a:rPr lang="en-US" altLang="ko-KR" sz="16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[</a:t>
            </a:r>
            <a:r>
              <a:rPr lang="ko-KR" altLang="en-US" sz="1600" b="1" u="none" strike="noStrike" dirty="0" err="1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지역명</a:t>
            </a:r>
            <a:r>
              <a:rPr lang="en-US" altLang="ko-KR" sz="16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]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2"/>
          <p:cNvSpPr/>
          <p:nvPr/>
        </p:nvSpPr>
        <p:spPr>
          <a:xfrm>
            <a:off x="838200" y="4227827"/>
            <a:ext cx="2158162" cy="519021"/>
          </a:xfrm>
          <a:prstGeom prst="rect">
            <a:avLst/>
          </a:prstGeom>
          <a:solidFill>
            <a:srgbClr val="FFFFFF"/>
          </a:solidFill>
          <a:ln w="0">
            <a:solidFill>
              <a:srgbClr val="D8E5F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96" tIns="396" rIns="396" bIns="396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altLang="zh-CN" sz="16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/</a:t>
            </a:r>
            <a:r>
              <a:rPr lang="ko-KR" altLang="en-US" sz="16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설정 시간 </a:t>
            </a:r>
            <a:r>
              <a:rPr lang="en-US" altLang="ko-KR" sz="16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[HH:MM]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5"/>
          <p:cNvSpPr/>
          <p:nvPr/>
        </p:nvSpPr>
        <p:spPr>
          <a:xfrm>
            <a:off x="3591458" y="2842345"/>
            <a:ext cx="2158162" cy="519021"/>
          </a:xfrm>
          <a:prstGeom prst="rect">
            <a:avLst/>
          </a:prstGeom>
          <a:solidFill>
            <a:srgbClr val="FFFFFF"/>
          </a:solidFill>
          <a:ln w="0">
            <a:solidFill>
              <a:srgbClr val="D8E5F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96" tIns="396" rIns="396" bIns="396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altLang="zh-CN" sz="16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/</a:t>
            </a:r>
            <a:r>
              <a:rPr lang="ko-KR" altLang="en-US" sz="16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날씨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8"/>
          <p:cNvSpPr/>
          <p:nvPr/>
        </p:nvSpPr>
        <p:spPr>
          <a:xfrm>
            <a:off x="3591458" y="3553577"/>
            <a:ext cx="2158162" cy="519021"/>
          </a:xfrm>
          <a:prstGeom prst="rect">
            <a:avLst/>
          </a:prstGeom>
          <a:solidFill>
            <a:srgbClr val="FFFFFF"/>
          </a:solidFill>
          <a:ln w="0">
            <a:solidFill>
              <a:srgbClr val="D8E5F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96" tIns="396" rIns="396" bIns="396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altLang="zh-CN" sz="16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/</a:t>
            </a:r>
            <a:r>
              <a:rPr lang="ko-KR" altLang="en-US" sz="16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뉴스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1"/>
          <p:cNvSpPr/>
          <p:nvPr/>
        </p:nvSpPr>
        <p:spPr>
          <a:xfrm>
            <a:off x="3591458" y="4264808"/>
            <a:ext cx="2158162" cy="519021"/>
          </a:xfrm>
          <a:prstGeom prst="rect">
            <a:avLst/>
          </a:prstGeom>
          <a:solidFill>
            <a:srgbClr val="FFFFFF"/>
          </a:solidFill>
          <a:ln w="0">
            <a:solidFill>
              <a:srgbClr val="D8E5F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96" tIns="396" rIns="396" bIns="396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altLang="ko-KR" sz="16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/</a:t>
            </a:r>
            <a:r>
              <a:rPr lang="ko-KR" altLang="en-US" sz="1600" b="1" dirty="0">
                <a:solidFill>
                  <a:srgbClr val="102033"/>
                </a:solidFill>
                <a:latin typeface="Noto Sans CJK KR"/>
                <a:ea typeface="Noto Sans CJK KR"/>
              </a:rPr>
              <a:t>리</a:t>
            </a:r>
            <a:r>
              <a:rPr lang="ko-KR" altLang="en-US" sz="16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포트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5"/>
          <p:cNvSpPr/>
          <p:nvPr/>
        </p:nvSpPr>
        <p:spPr>
          <a:xfrm>
            <a:off x="502920" y="6546960"/>
            <a:ext cx="7314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Daily Report AI · </a:t>
            </a:r>
            <a:r>
              <a:rPr lang="zh-CN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컴퓨팅사고 </a:t>
            </a:r>
            <a:r>
              <a:rPr lang="en-US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27</a:t>
            </a:r>
            <a:r>
              <a:rPr lang="zh-CN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분반 팀 프로젝트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6"/>
          <p:cNvSpPr/>
          <p:nvPr/>
        </p:nvSpPr>
        <p:spPr>
          <a:xfrm>
            <a:off x="11292840" y="6510600"/>
            <a:ext cx="411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00" b="0" u="none" strike="noStrike" dirty="0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06</a:t>
            </a:r>
            <a:endParaRPr lang="en-US" sz="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2C7C7612-3FB3-49B3-BA94-E78778FD2172}"/>
              </a:ext>
            </a:extLst>
          </p:cNvPr>
          <p:cNvSpPr/>
          <p:nvPr/>
        </p:nvSpPr>
        <p:spPr>
          <a:xfrm>
            <a:off x="6772275" y="2326723"/>
            <a:ext cx="4000500" cy="368807"/>
          </a:xfrm>
          <a:prstGeom prst="rect">
            <a:avLst/>
          </a:prstGeom>
          <a:solidFill>
            <a:srgbClr val="172B8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96" tIns="396" rIns="396" bIns="396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ko-KR" altLang="en-US" sz="1150" b="1" u="none" strike="noStrike" dirty="0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개인화</a:t>
            </a:r>
            <a:endParaRPr lang="en-US" sz="8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A79BF5FA-3E8E-4A41-8EB9-0F3E68A49534}"/>
              </a:ext>
            </a:extLst>
          </p:cNvPr>
          <p:cNvSpPr/>
          <p:nvPr/>
        </p:nvSpPr>
        <p:spPr>
          <a:xfrm>
            <a:off x="3591458" y="2331700"/>
            <a:ext cx="2158162" cy="368807"/>
          </a:xfrm>
          <a:prstGeom prst="rect">
            <a:avLst/>
          </a:prstGeom>
          <a:solidFill>
            <a:srgbClr val="172B8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96" tIns="396" rIns="396" bIns="396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ko-KR" altLang="en-US" sz="1150" b="1" dirty="0">
                <a:solidFill>
                  <a:srgbClr val="FFFFFF"/>
                </a:solidFill>
                <a:latin typeface="Noto Sans CJK KR"/>
              </a:rPr>
              <a:t>정보 확인</a:t>
            </a:r>
            <a:endParaRPr lang="en-US" sz="8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1">
            <a:extLst>
              <a:ext uri="{FF2B5EF4-FFF2-40B4-BE49-F238E27FC236}">
                <a16:creationId xmlns:a16="http://schemas.microsoft.com/office/drawing/2014/main" id="{20607948-A26F-45D2-A5D0-31A2F2CCCC42}"/>
              </a:ext>
            </a:extLst>
          </p:cNvPr>
          <p:cNvSpPr/>
          <p:nvPr/>
        </p:nvSpPr>
        <p:spPr>
          <a:xfrm>
            <a:off x="3591458" y="4976039"/>
            <a:ext cx="2158162" cy="519021"/>
          </a:xfrm>
          <a:prstGeom prst="rect">
            <a:avLst/>
          </a:prstGeom>
          <a:solidFill>
            <a:srgbClr val="FFFFFF"/>
          </a:solidFill>
          <a:ln w="0">
            <a:solidFill>
              <a:srgbClr val="D8E5F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96" tIns="396" rIns="396" bIns="396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altLang="ko-KR" sz="16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/</a:t>
            </a:r>
            <a:r>
              <a:rPr lang="ko-KR" altLang="en-US" sz="16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질문 </a:t>
            </a:r>
            <a:r>
              <a:rPr lang="en-US" altLang="ko-KR" sz="16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[</a:t>
            </a:r>
            <a:r>
              <a:rPr lang="ko-KR" altLang="en-US" sz="16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내용</a:t>
            </a:r>
            <a:r>
              <a:rPr lang="en-US" altLang="ko-KR" sz="16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]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0CDE212C-DFA1-41B6-B115-AC1AF3D7A4E6}"/>
              </a:ext>
            </a:extLst>
          </p:cNvPr>
          <p:cNvSpPr/>
          <p:nvPr/>
        </p:nvSpPr>
        <p:spPr>
          <a:xfrm>
            <a:off x="838200" y="1589875"/>
            <a:ext cx="4911420" cy="476484"/>
          </a:xfrm>
          <a:prstGeom prst="rect">
            <a:avLst/>
          </a:prstGeom>
          <a:solidFill>
            <a:srgbClr val="16A477"/>
          </a:solidFill>
          <a:ln w="0">
            <a:solidFill>
              <a:srgbClr val="16A47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98" tIns="198" rIns="198" bIns="198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ko-KR" altLang="en-US" sz="1600" b="1" u="none" strike="noStrike" dirty="0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구현 </a:t>
            </a:r>
            <a:r>
              <a:rPr lang="zh-CN" sz="1600" b="1" u="none" strike="noStrike" dirty="0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완료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5EF68F53-B3D3-4FA8-96CE-D765EA044BB8}"/>
              </a:ext>
            </a:extLst>
          </p:cNvPr>
          <p:cNvSpPr/>
          <p:nvPr/>
        </p:nvSpPr>
        <p:spPr>
          <a:xfrm>
            <a:off x="6772275" y="1591159"/>
            <a:ext cx="4000500" cy="4752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98" tIns="198" rIns="198" bIns="198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600" b="1" u="none" strike="noStrike" dirty="0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진행</a:t>
            </a:r>
            <a:r>
              <a:rPr lang="ko-KR" altLang="en-US" sz="1600" b="1" dirty="0">
                <a:solidFill>
                  <a:srgbClr val="FFFFFF"/>
                </a:solidFill>
                <a:latin typeface="Noto Sans CJK KR"/>
                <a:ea typeface="Noto Sans CJK KR"/>
              </a:rPr>
              <a:t>중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AB9371D0-A4D0-4E3D-8684-0FC1CEDB843E}"/>
              </a:ext>
            </a:extLst>
          </p:cNvPr>
          <p:cNvSpPr/>
          <p:nvPr/>
        </p:nvSpPr>
        <p:spPr>
          <a:xfrm>
            <a:off x="6772275" y="3554871"/>
            <a:ext cx="4000500" cy="519021"/>
          </a:xfrm>
          <a:prstGeom prst="rect">
            <a:avLst/>
          </a:prstGeom>
          <a:solidFill>
            <a:srgbClr val="FFFFFF"/>
          </a:solidFill>
          <a:ln w="0">
            <a:solidFill>
              <a:srgbClr val="D8E5F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96" tIns="396" rIns="396" bIns="396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altLang="zh-CN" sz="16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/</a:t>
            </a:r>
            <a:r>
              <a:rPr lang="ko-KR" altLang="en-US" sz="1600" b="1" dirty="0">
                <a:solidFill>
                  <a:srgbClr val="102033"/>
                </a:solidFill>
                <a:latin typeface="Noto Sans CJK KR"/>
                <a:ea typeface="Noto Sans CJK KR"/>
              </a:rPr>
              <a:t>설정 항목 </a:t>
            </a:r>
            <a:r>
              <a:rPr lang="en-US" altLang="ko-KR" sz="1600" b="1" dirty="0">
                <a:solidFill>
                  <a:srgbClr val="102033"/>
                </a:solidFill>
                <a:latin typeface="Noto Sans CJK KR"/>
                <a:ea typeface="Noto Sans CJK KR"/>
              </a:rPr>
              <a:t>[</a:t>
            </a:r>
            <a:r>
              <a:rPr lang="ko-KR" altLang="en-US" sz="1600" b="1" dirty="0">
                <a:solidFill>
                  <a:srgbClr val="102033"/>
                </a:solidFill>
                <a:latin typeface="Noto Sans CJK KR"/>
                <a:ea typeface="Noto Sans CJK KR"/>
              </a:rPr>
              <a:t>리포트 항목</a:t>
            </a:r>
            <a:r>
              <a:rPr lang="en-US" altLang="ko-KR" sz="1600" b="1" dirty="0">
                <a:solidFill>
                  <a:srgbClr val="102033"/>
                </a:solidFill>
                <a:latin typeface="Noto Sans CJK KR"/>
                <a:ea typeface="Noto Sans CJK KR"/>
              </a:rPr>
              <a:t>] [ON/OFF]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53E67418-AA17-4496-AB16-2FE8AC94899B}"/>
              </a:ext>
            </a:extLst>
          </p:cNvPr>
          <p:cNvSpPr/>
          <p:nvPr/>
        </p:nvSpPr>
        <p:spPr>
          <a:xfrm>
            <a:off x="6772275" y="2842345"/>
            <a:ext cx="4000500" cy="519021"/>
          </a:xfrm>
          <a:prstGeom prst="rect">
            <a:avLst/>
          </a:prstGeom>
          <a:solidFill>
            <a:srgbClr val="FFFFFF"/>
          </a:solidFill>
          <a:ln w="0">
            <a:solidFill>
              <a:srgbClr val="D8E5F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96" tIns="396" rIns="396" bIns="396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altLang="zh-CN" sz="16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/</a:t>
            </a:r>
            <a:r>
              <a:rPr lang="ko-KR" altLang="en-US" sz="16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설정 </a:t>
            </a:r>
            <a:r>
              <a:rPr lang="ko-KR" altLang="en-US" sz="1600" b="1" u="none" strike="noStrike" dirty="0" err="1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뉴스카테고리</a:t>
            </a:r>
            <a:r>
              <a:rPr lang="ko-KR" altLang="en-US" sz="16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 </a:t>
            </a:r>
            <a:r>
              <a:rPr lang="en-US" altLang="ko-KR" sz="16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[</a:t>
            </a:r>
            <a:r>
              <a:rPr lang="ko-KR" altLang="en-US" sz="16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카테고리 </a:t>
            </a:r>
            <a:r>
              <a:rPr lang="ko-KR" altLang="en-US" sz="1600" b="1" dirty="0">
                <a:solidFill>
                  <a:srgbClr val="102033"/>
                </a:solidFill>
                <a:latin typeface="Noto Sans CJK KR"/>
                <a:ea typeface="Noto Sans CJK KR"/>
              </a:rPr>
              <a:t>선택</a:t>
            </a:r>
            <a:r>
              <a:rPr lang="en-US" altLang="ko-KR" sz="16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]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8927254F-51E7-495F-873E-F0C4C2A7B8D4}"/>
              </a:ext>
            </a:extLst>
          </p:cNvPr>
          <p:cNvSpPr/>
          <p:nvPr/>
        </p:nvSpPr>
        <p:spPr>
          <a:xfrm>
            <a:off x="838200" y="4973801"/>
            <a:ext cx="2158162" cy="519021"/>
          </a:xfrm>
          <a:prstGeom prst="rect">
            <a:avLst/>
          </a:prstGeom>
          <a:solidFill>
            <a:srgbClr val="FFFFFF"/>
          </a:solidFill>
          <a:ln w="0">
            <a:solidFill>
              <a:srgbClr val="D8E5F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96" tIns="396" rIns="396" bIns="396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altLang="zh-CN" sz="16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/</a:t>
            </a:r>
            <a:r>
              <a:rPr lang="ko-KR" altLang="en-US" sz="1600" b="1" dirty="0">
                <a:solidFill>
                  <a:srgbClr val="102033"/>
                </a:solidFill>
                <a:latin typeface="Noto Sans CJK KR"/>
                <a:ea typeface="Noto Sans CJK KR"/>
              </a:rPr>
              <a:t>탈퇴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1015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01752"/>
            <a:ext cx="237744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50" b="1">
                <a:solidFill>
                  <a:srgbClr val="1E63D2"/>
                </a:solidFill>
                <a:latin typeface="맑은 고딕"/>
              </a:rPr>
              <a:t>06 초안 대비 개선점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5943600" cy="4114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500" b="1">
                <a:solidFill>
                  <a:srgbClr val="1A2940"/>
                </a:solidFill>
                <a:latin typeface="맑은 고딕"/>
              </a:rPr>
              <a:t>초안 대비 개선점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02920"/>
            <a:ext cx="3154680" cy="502920"/>
          </a:xfrm>
          <a:prstGeom prst="roundRect">
            <a:avLst/>
          </a:prstGeom>
          <a:solidFill>
            <a:srgbClr val="F5F8FF"/>
          </a:solidFill>
          <a:ln w="12700">
            <a:solidFill>
              <a:srgbClr val="C5D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58784" y="630936"/>
            <a:ext cx="283464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250" b="1">
                <a:solidFill>
                  <a:srgbClr val="1E63D2"/>
                </a:solidFill>
                <a:latin typeface="맑은 고딕"/>
              </a:rPr>
              <a:t>핵심: 오류 대응 + 반복 호출 최적화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44752"/>
            <a:ext cx="11064240" cy="420624"/>
          </a:xfrm>
          <a:prstGeom prst="roundRect">
            <a:avLst/>
          </a:prstGeom>
          <a:solidFill>
            <a:srgbClr val="DCE9FF"/>
          </a:solidFill>
          <a:ln w="12700">
            <a:solidFill>
              <a:srgbClr val="C5D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554480"/>
            <a:ext cx="192024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350" b="1">
                <a:solidFill>
                  <a:srgbClr val="1A2940"/>
                </a:solidFill>
                <a:latin typeface="맑은 고딕"/>
              </a:rPr>
              <a:t>개선 항목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8648" y="1554480"/>
            <a:ext cx="356616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350" b="1">
                <a:solidFill>
                  <a:srgbClr val="1A2940"/>
                </a:solidFill>
                <a:latin typeface="맑은 고딕"/>
              </a:rPr>
              <a:t>초안의 한계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9128" y="1554480"/>
            <a:ext cx="475488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350" b="1">
                <a:solidFill>
                  <a:srgbClr val="1A2940"/>
                </a:solidFill>
                <a:latin typeface="맑은 고딕"/>
              </a:rPr>
              <a:t>개선 결과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956816"/>
            <a:ext cx="110642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94360" y="2011680"/>
            <a:ext cx="2139696" cy="548640"/>
          </a:xfrm>
          <a:prstGeom prst="roundRect">
            <a:avLst/>
          </a:prstGeom>
          <a:solidFill>
            <a:srgbClr val="F5F8FF"/>
          </a:solidFill>
          <a:ln w="1270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788920" y="2011680"/>
            <a:ext cx="3785616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629400" y="2011680"/>
            <a:ext cx="4974336" cy="54864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E8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4088" y="2130552"/>
            <a:ext cx="1920240" cy="27432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/>
            <a:r>
              <a:rPr sz="1450" b="1">
                <a:solidFill>
                  <a:srgbClr val="1A2940"/>
                </a:solidFill>
                <a:latin typeface="맑은 고딕"/>
              </a:rPr>
              <a:t>⏰ 자동 브리핑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4368" y="2112264"/>
            <a:ext cx="3474720" cy="329184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/>
            <a:r>
              <a:rPr sz="1320" b="0">
                <a:solidFill>
                  <a:srgbClr val="2A364C"/>
                </a:solidFill>
                <a:latin typeface="맑은 고딕"/>
              </a:rPr>
              <a:t>지정 시간 DM 발송만 지원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2112264"/>
            <a:ext cx="4663440" cy="329184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/>
            <a:r>
              <a:rPr sz="1320" b="1">
                <a:solidFill>
                  <a:srgbClr val="1E63D2"/>
                </a:solidFill>
                <a:latin typeface="맑은 고딕"/>
              </a:rPr>
              <a:t>악기상 예보 시 30분 전 날씨 알림 추가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688336"/>
            <a:ext cx="110642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94360" y="2743200"/>
            <a:ext cx="2139696" cy="548640"/>
          </a:xfrm>
          <a:prstGeom prst="roundRect">
            <a:avLst/>
          </a:prstGeom>
          <a:solidFill>
            <a:srgbClr val="F5F8FF"/>
          </a:solidFill>
          <a:ln w="1270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788920" y="2743200"/>
            <a:ext cx="3785616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629400" y="2743200"/>
            <a:ext cx="4974336" cy="54864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E8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4088" y="2862072"/>
            <a:ext cx="1920240" cy="27432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/>
            <a:r>
              <a:rPr sz="1450" b="1">
                <a:solidFill>
                  <a:srgbClr val="1A2940"/>
                </a:solidFill>
                <a:latin typeface="맑은 고딕"/>
              </a:rPr>
              <a:t>✨ Gemini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44368" y="2843784"/>
            <a:ext cx="3474720" cy="329184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/>
            <a:r>
              <a:rPr sz="1320" b="0">
                <a:solidFill>
                  <a:srgbClr val="2A364C"/>
                </a:solidFill>
                <a:latin typeface="맑은 고딕"/>
              </a:rPr>
              <a:t>API 키 1개 사용 → 429 오류 가능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8" y="2843784"/>
            <a:ext cx="4663440" cy="329184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/>
            <a:r>
              <a:rPr sz="1320" b="1">
                <a:solidFill>
                  <a:srgbClr val="1E63D2"/>
                </a:solidFill>
                <a:latin typeface="맑은 고딕"/>
              </a:rPr>
              <a:t>3개 키 순환 호출로 요청 제한 대응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419856"/>
            <a:ext cx="110642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94360" y="3474720"/>
            <a:ext cx="2139696" cy="548640"/>
          </a:xfrm>
          <a:prstGeom prst="roundRect">
            <a:avLst/>
          </a:prstGeom>
          <a:solidFill>
            <a:srgbClr val="F5F8FF"/>
          </a:solidFill>
          <a:ln w="1270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2788920" y="3474720"/>
            <a:ext cx="3785616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629400" y="3474720"/>
            <a:ext cx="4974336" cy="54864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E8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4088" y="3593592"/>
            <a:ext cx="1920240" cy="27432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/>
            <a:r>
              <a:rPr sz="1450" b="1">
                <a:solidFill>
                  <a:srgbClr val="1A2940"/>
                </a:solidFill>
                <a:latin typeface="맑은 고딕"/>
              </a:rPr>
              <a:t>💬 메시지 전송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44368" y="3619863"/>
            <a:ext cx="2681953" cy="240066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/>
            <a:r>
              <a:rPr sz="1320" b="0" dirty="0">
                <a:solidFill>
                  <a:srgbClr val="2A364C"/>
                </a:solidFill>
                <a:latin typeface="맑은 고딕"/>
              </a:rPr>
              <a:t>Discord 2000자 </a:t>
            </a:r>
            <a:r>
              <a:rPr sz="1320" b="0" dirty="0" err="1">
                <a:solidFill>
                  <a:srgbClr val="2A364C"/>
                </a:solidFill>
                <a:latin typeface="맑은 고딕"/>
              </a:rPr>
              <a:t>초과</a:t>
            </a:r>
            <a:r>
              <a:rPr sz="1320" b="0" dirty="0">
                <a:solidFill>
                  <a:srgbClr val="2A364C"/>
                </a:solidFill>
                <a:latin typeface="맑은 고딕"/>
              </a:rPr>
              <a:t> 시 </a:t>
            </a:r>
            <a:r>
              <a:rPr sz="1320" b="0" dirty="0" err="1">
                <a:solidFill>
                  <a:srgbClr val="2A364C"/>
                </a:solidFill>
                <a:latin typeface="맑은 고딕"/>
              </a:rPr>
              <a:t>오류</a:t>
            </a:r>
            <a:r>
              <a:rPr sz="1320" b="0" dirty="0">
                <a:solidFill>
                  <a:srgbClr val="2A364C"/>
                </a:solidFill>
                <a:latin typeface="맑은 고딕"/>
              </a:rPr>
              <a:t> </a:t>
            </a:r>
            <a:r>
              <a:rPr lang="ko-KR" altLang="en-US" sz="1320" b="0" dirty="0">
                <a:solidFill>
                  <a:srgbClr val="2A364C"/>
                </a:solidFill>
                <a:latin typeface="맑은 고딕"/>
              </a:rPr>
              <a:t>발생</a:t>
            </a:r>
            <a:endParaRPr sz="1320" b="0" dirty="0">
              <a:solidFill>
                <a:srgbClr val="2A364C"/>
              </a:solidFill>
              <a:latin typeface="맑은 고딕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784848" y="3619863"/>
            <a:ext cx="3831305" cy="240066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/>
            <a:r>
              <a:rPr sz="1320" b="1" dirty="0">
                <a:solidFill>
                  <a:srgbClr val="1E63D2"/>
                </a:solidFill>
                <a:latin typeface="맑은 고딕"/>
              </a:rPr>
              <a:t>1900자 </a:t>
            </a:r>
            <a:r>
              <a:rPr sz="1320" b="1" dirty="0" err="1">
                <a:solidFill>
                  <a:srgbClr val="1E63D2"/>
                </a:solidFill>
                <a:latin typeface="맑은 고딕"/>
              </a:rPr>
              <a:t>기준</a:t>
            </a:r>
            <a:r>
              <a:rPr sz="1320" b="1" dirty="0">
                <a:solidFill>
                  <a:srgbClr val="1E63D2"/>
                </a:solidFill>
                <a:latin typeface="맑은 고딕"/>
              </a:rPr>
              <a:t> </a:t>
            </a:r>
            <a:r>
              <a:rPr sz="1320" b="1" dirty="0" err="1">
                <a:solidFill>
                  <a:srgbClr val="1E63D2"/>
                </a:solidFill>
                <a:latin typeface="맑은 고딕"/>
              </a:rPr>
              <a:t>분할</a:t>
            </a:r>
            <a:r>
              <a:rPr sz="1320" b="1" dirty="0">
                <a:solidFill>
                  <a:srgbClr val="1E63D2"/>
                </a:solidFill>
                <a:latin typeface="맑은 고딕"/>
              </a:rPr>
              <a:t> </a:t>
            </a:r>
            <a:r>
              <a:rPr sz="1320" b="1" dirty="0" err="1">
                <a:solidFill>
                  <a:srgbClr val="1E63D2"/>
                </a:solidFill>
                <a:latin typeface="맑은 고딕"/>
              </a:rPr>
              <a:t>전송</a:t>
            </a:r>
            <a:r>
              <a:rPr lang="en-US" sz="1320" b="1" dirty="0">
                <a:solidFill>
                  <a:srgbClr val="1E63D2"/>
                </a:solidFill>
                <a:latin typeface="맑은 고딕"/>
              </a:rPr>
              <a:t>(</a:t>
            </a:r>
            <a:r>
              <a:rPr lang="ko-KR" altLang="en-US" sz="1320" b="1" dirty="0" err="1">
                <a:solidFill>
                  <a:srgbClr val="1E63D2"/>
                </a:solidFill>
                <a:latin typeface="맑은 고딕"/>
              </a:rPr>
              <a:t>줄바꿈</a:t>
            </a:r>
            <a:r>
              <a:rPr lang="ko-KR" altLang="en-US" sz="1320" b="1" dirty="0">
                <a:solidFill>
                  <a:srgbClr val="1E63D2"/>
                </a:solidFill>
                <a:latin typeface="맑은 고딕"/>
              </a:rPr>
              <a:t> 단위 텍스트 병합</a:t>
            </a:r>
            <a:r>
              <a:rPr lang="en-US" altLang="ko-KR" sz="1320" b="1" dirty="0">
                <a:solidFill>
                  <a:srgbClr val="1E63D2"/>
                </a:solidFill>
                <a:latin typeface="맑은 고딕"/>
              </a:rPr>
              <a:t>)</a:t>
            </a:r>
            <a:endParaRPr sz="1320" b="1" dirty="0">
              <a:solidFill>
                <a:srgbClr val="1E63D2"/>
              </a:solidFill>
              <a:latin typeface="맑은 고딕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66928" y="4151376"/>
            <a:ext cx="110642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94360" y="4206240"/>
            <a:ext cx="2139696" cy="548640"/>
          </a:xfrm>
          <a:prstGeom prst="roundRect">
            <a:avLst/>
          </a:prstGeom>
          <a:solidFill>
            <a:srgbClr val="F5F8FF"/>
          </a:solidFill>
          <a:ln w="1270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2788920" y="4206240"/>
            <a:ext cx="3785616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629400" y="4206240"/>
            <a:ext cx="4974336" cy="54864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E8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04088" y="4325112"/>
            <a:ext cx="1920240" cy="27432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/>
            <a:r>
              <a:rPr sz="1450" b="1">
                <a:solidFill>
                  <a:srgbClr val="1A2940"/>
                </a:solidFill>
                <a:latin typeface="맑은 고딕"/>
              </a:rPr>
              <a:t>🌐 API/RSS 최적화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44368" y="4351383"/>
            <a:ext cx="3493072" cy="240066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/>
            <a:r>
              <a:rPr sz="1320" b="0" dirty="0" err="1">
                <a:solidFill>
                  <a:srgbClr val="2A364C"/>
                </a:solidFill>
                <a:latin typeface="맑은 고딕"/>
              </a:rPr>
              <a:t>요청마다</a:t>
            </a:r>
            <a:r>
              <a:rPr sz="1320" b="0" dirty="0">
                <a:solidFill>
                  <a:srgbClr val="2A364C"/>
                </a:solidFill>
                <a:latin typeface="맑은 고딕"/>
              </a:rPr>
              <a:t> API/RSS </a:t>
            </a:r>
            <a:r>
              <a:rPr sz="1320" b="0" dirty="0" err="1">
                <a:solidFill>
                  <a:srgbClr val="2A364C"/>
                </a:solidFill>
                <a:latin typeface="맑은 고딕"/>
              </a:rPr>
              <a:t>호출</a:t>
            </a:r>
            <a:r>
              <a:rPr sz="1320" b="0" dirty="0">
                <a:solidFill>
                  <a:srgbClr val="2A364C"/>
                </a:solidFill>
                <a:latin typeface="맑은 고딕"/>
              </a:rPr>
              <a:t> → 지연·</a:t>
            </a:r>
            <a:r>
              <a:rPr lang="en-US" sz="1320" b="0" dirty="0">
                <a:solidFill>
                  <a:srgbClr val="2A364C"/>
                </a:solidFill>
                <a:latin typeface="맑은 고딕"/>
              </a:rPr>
              <a:t>429</a:t>
            </a:r>
            <a:r>
              <a:rPr lang="ko-KR" altLang="en-US" sz="1320" b="0" dirty="0">
                <a:solidFill>
                  <a:srgbClr val="2A364C"/>
                </a:solidFill>
                <a:latin typeface="맑은 고딕"/>
              </a:rPr>
              <a:t>오류</a:t>
            </a:r>
            <a:r>
              <a:rPr sz="1320" b="0" dirty="0">
                <a:solidFill>
                  <a:srgbClr val="2A364C"/>
                </a:solidFill>
                <a:latin typeface="맑은 고딕"/>
              </a:rPr>
              <a:t> </a:t>
            </a:r>
            <a:r>
              <a:rPr sz="1320" b="0" dirty="0" err="1">
                <a:solidFill>
                  <a:srgbClr val="2A364C"/>
                </a:solidFill>
                <a:latin typeface="맑은 고딕"/>
              </a:rPr>
              <a:t>가능</a:t>
            </a:r>
            <a:endParaRPr sz="1320" b="0" dirty="0">
              <a:solidFill>
                <a:srgbClr val="2A364C"/>
              </a:solidFill>
              <a:latin typeface="맑은 고딕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784848" y="4306824"/>
            <a:ext cx="4663440" cy="329184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/>
            <a:r>
              <a:rPr sz="1320" b="1">
                <a:solidFill>
                  <a:srgbClr val="1E63D2"/>
                </a:solidFill>
                <a:latin typeface="맑은 고딕"/>
              </a:rPr>
              <a:t>날씨 10분 · 뉴스 30분 캐싱 적용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4882896"/>
            <a:ext cx="110642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594360" y="4937759"/>
            <a:ext cx="2139696" cy="548640"/>
          </a:xfrm>
          <a:prstGeom prst="roundRect">
            <a:avLst/>
          </a:prstGeom>
          <a:solidFill>
            <a:srgbClr val="F5F8FF"/>
          </a:solidFill>
          <a:ln w="12700"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2788920" y="4937759"/>
            <a:ext cx="3785616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629400" y="4937759"/>
            <a:ext cx="4974336" cy="54864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E8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4088" y="5056632"/>
            <a:ext cx="1920240" cy="27432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/>
            <a:r>
              <a:rPr sz="1450" b="1">
                <a:solidFill>
                  <a:srgbClr val="1A2940"/>
                </a:solidFill>
                <a:latin typeface="맑은 고딕"/>
              </a:rPr>
              <a:t>👤 사용자 관리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44368" y="5038344"/>
            <a:ext cx="3474720" cy="329184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/>
            <a:r>
              <a:rPr sz="1320" b="0">
                <a:solidFill>
                  <a:srgbClr val="2A364C"/>
                </a:solidFill>
                <a:latin typeface="맑은 고딕"/>
              </a:rPr>
              <a:t>등록 후 리포트 대상 해제 불가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84848" y="5038344"/>
            <a:ext cx="4663440" cy="329184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/>
            <a:r>
              <a:rPr sz="1320" b="1">
                <a:solidFill>
                  <a:srgbClr val="1E63D2"/>
                </a:solidFill>
                <a:latin typeface="맑은 고딕"/>
              </a:rPr>
              <a:t>/탈퇴 명령어 추가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6928" y="5650992"/>
            <a:ext cx="10515600" cy="402336"/>
          </a:xfrm>
          <a:prstGeom prst="roundRect">
            <a:avLst/>
          </a:prstGeom>
          <a:solidFill>
            <a:srgbClr val="F5F9FF"/>
          </a:solidFill>
          <a:ln w="12700">
            <a:solidFill>
              <a:srgbClr val="D2E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49808" y="5747004"/>
            <a:ext cx="9875520" cy="21031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20" b="0">
                <a:solidFill>
                  <a:srgbClr val="65748B"/>
                </a:solidFill>
                <a:latin typeface="맑은 고딕"/>
              </a:rPr>
              <a:t>429 Too Many Requests = rate limit 도달 시 발생하는 요청 제한 오류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65748B"/>
                </a:solidFill>
                <a:latin typeface="맑은 고딕"/>
              </a:rPr>
              <a:t>Daily Report AI · 컴퓨팅사고 27분반 팀 프로젝트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301984" y="6446520"/>
            <a:ext cx="41148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850" b="0">
                <a:solidFill>
                  <a:srgbClr val="65748B"/>
                </a:solidFill>
                <a:latin typeface="맑은 고딕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642356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 0"/>
          <p:cNvSpPr/>
          <p:nvPr/>
        </p:nvSpPr>
        <p:spPr>
          <a:xfrm>
            <a:off x="530280" y="329040"/>
            <a:ext cx="2011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1" u="none" strike="noStrike" dirty="0">
                <a:solidFill>
                  <a:srgbClr val="2775EA"/>
                </a:solidFill>
                <a:effectLst/>
                <a:uFillTx/>
                <a:latin typeface="Noto Sans CJK KR"/>
                <a:ea typeface="Noto Sans CJK KR"/>
              </a:rPr>
              <a:t>07 </a:t>
            </a:r>
            <a:r>
              <a:rPr lang="ko-KR" altLang="en-US" sz="1400" b="1" u="none" strike="noStrike" dirty="0">
                <a:solidFill>
                  <a:srgbClr val="2775EA"/>
                </a:solidFill>
                <a:effectLst/>
                <a:uFillTx/>
                <a:latin typeface="Noto Sans CJK KR"/>
                <a:ea typeface="Noto Sans CJK KR"/>
              </a:rPr>
              <a:t>사용 예시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"/>
          <p:cNvSpPr/>
          <p:nvPr/>
        </p:nvSpPr>
        <p:spPr>
          <a:xfrm>
            <a:off x="530280" y="58536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ko-KR" altLang="en-US" sz="28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사</a:t>
            </a:r>
            <a:r>
              <a:rPr lang="ko-KR" altLang="en-US" sz="2800" b="1" dirty="0">
                <a:solidFill>
                  <a:srgbClr val="102033"/>
                </a:solidFill>
                <a:latin typeface="Noto Sans CJK KR"/>
                <a:ea typeface="Noto Sans CJK KR"/>
              </a:rPr>
              <a:t>용자 등록</a:t>
            </a:r>
            <a:endParaRPr lang="en-US" sz="2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6"/>
          <p:cNvSpPr/>
          <p:nvPr/>
        </p:nvSpPr>
        <p:spPr>
          <a:xfrm>
            <a:off x="502920" y="6546960"/>
            <a:ext cx="7314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Daily Report AI · </a:t>
            </a:r>
            <a:r>
              <a:rPr lang="zh-CN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컴퓨팅사고 </a:t>
            </a:r>
            <a:r>
              <a:rPr lang="en-US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27</a:t>
            </a:r>
            <a:r>
              <a:rPr lang="zh-CN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분반 팀 프로젝트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7"/>
          <p:cNvSpPr/>
          <p:nvPr/>
        </p:nvSpPr>
        <p:spPr>
          <a:xfrm>
            <a:off x="11292840" y="6510600"/>
            <a:ext cx="411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00" dirty="0">
                <a:solidFill>
                  <a:srgbClr val="8EA0B7"/>
                </a:solidFill>
                <a:latin typeface="Noto Sans CJK KR"/>
                <a:ea typeface="Noto Sans CJK KR"/>
              </a:rPr>
              <a:t>0</a:t>
            </a:r>
            <a:r>
              <a:rPr lang="en-US" sz="1000" b="0" u="none" strike="noStrike" dirty="0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8</a:t>
            </a:r>
            <a:endParaRPr lang="en-US" sz="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44B731E-77B9-4BDE-B31F-0356B06BF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8460" y="2267058"/>
            <a:ext cx="4153260" cy="200423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498900B-5BE2-4CBC-80FD-960E66718B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80" y="2267058"/>
            <a:ext cx="5675967" cy="2004234"/>
          </a:xfrm>
          <a:prstGeom prst="rect">
            <a:avLst/>
          </a:prstGeom>
        </p:spPr>
      </p:pic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22EA64EF-62C4-42DC-9CA6-6D8DBFFF7ECA}"/>
              </a:ext>
            </a:extLst>
          </p:cNvPr>
          <p:cNvSpPr/>
          <p:nvPr/>
        </p:nvSpPr>
        <p:spPr>
          <a:xfrm>
            <a:off x="6532129" y="3059533"/>
            <a:ext cx="650449" cy="4192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 15">
            <a:extLst>
              <a:ext uri="{FF2B5EF4-FFF2-40B4-BE49-F238E27FC236}">
                <a16:creationId xmlns:a16="http://schemas.microsoft.com/office/drawing/2014/main" id="{A7410772-B501-45EC-AFDA-915020E764EE}"/>
              </a:ext>
            </a:extLst>
          </p:cNvPr>
          <p:cNvSpPr/>
          <p:nvPr/>
        </p:nvSpPr>
        <p:spPr>
          <a:xfrm>
            <a:off x="530280" y="4271291"/>
            <a:ext cx="5675967" cy="51902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0">
            <a:solidFill>
              <a:srgbClr val="D8E5F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96" tIns="396" rIns="396" bIns="396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altLang="ko-KR" sz="16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/</a:t>
            </a:r>
            <a:r>
              <a:rPr lang="ko-KR" altLang="en-US" sz="16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등록</a:t>
            </a:r>
            <a:r>
              <a:rPr lang="en-US" altLang="ko-KR" sz="16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:</a:t>
            </a:r>
            <a:r>
              <a:rPr lang="ko-KR" altLang="en-US" sz="16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 리포트 수신 대상 등록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6449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 0"/>
          <p:cNvSpPr/>
          <p:nvPr/>
        </p:nvSpPr>
        <p:spPr>
          <a:xfrm>
            <a:off x="530280" y="329040"/>
            <a:ext cx="2011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1" u="none" strike="noStrike" dirty="0">
                <a:solidFill>
                  <a:srgbClr val="2775EA"/>
                </a:solidFill>
                <a:effectLst/>
                <a:uFillTx/>
                <a:latin typeface="Noto Sans CJK KR"/>
                <a:ea typeface="Noto Sans CJK KR"/>
              </a:rPr>
              <a:t>07 </a:t>
            </a:r>
            <a:r>
              <a:rPr lang="ko-KR" altLang="en-US" sz="1400" b="1" u="none" strike="noStrike" dirty="0">
                <a:solidFill>
                  <a:srgbClr val="2775EA"/>
                </a:solidFill>
                <a:effectLst/>
                <a:uFillTx/>
                <a:latin typeface="Noto Sans CJK KR"/>
                <a:ea typeface="Noto Sans CJK KR"/>
              </a:rPr>
              <a:t>사용 예시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"/>
          <p:cNvSpPr/>
          <p:nvPr/>
        </p:nvSpPr>
        <p:spPr>
          <a:xfrm>
            <a:off x="530280" y="58536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ko-KR" altLang="en-US" sz="2800" b="1" dirty="0">
                <a:solidFill>
                  <a:srgbClr val="102033"/>
                </a:solidFill>
                <a:latin typeface="Noto Sans CJK KR"/>
                <a:ea typeface="Noto Sans CJK KR"/>
              </a:rPr>
              <a:t>지역 선택</a:t>
            </a:r>
            <a:endParaRPr lang="en-US" sz="2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6"/>
          <p:cNvSpPr/>
          <p:nvPr/>
        </p:nvSpPr>
        <p:spPr>
          <a:xfrm>
            <a:off x="502920" y="6546960"/>
            <a:ext cx="7314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Daily Report AI · </a:t>
            </a:r>
            <a:r>
              <a:rPr lang="zh-CN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컴퓨팅사고 </a:t>
            </a:r>
            <a:r>
              <a:rPr lang="en-US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27</a:t>
            </a:r>
            <a:r>
              <a:rPr lang="zh-CN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분반 팀 프로젝트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7"/>
          <p:cNvSpPr/>
          <p:nvPr/>
        </p:nvSpPr>
        <p:spPr>
          <a:xfrm>
            <a:off x="11292840" y="6510600"/>
            <a:ext cx="411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00" b="0" u="none" strike="noStrike" dirty="0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09</a:t>
            </a:r>
            <a:endParaRPr lang="en-US" sz="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44B731E-77B9-4BDE-B31F-0356B06BF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80" y="2472538"/>
            <a:ext cx="5203396" cy="211000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404AFC4-2BB3-4127-B656-60A2B1B3C8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77" y="2844963"/>
            <a:ext cx="5357324" cy="1365148"/>
          </a:xfrm>
          <a:prstGeom prst="rect">
            <a:avLst/>
          </a:prstGeom>
        </p:spPr>
      </p:pic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36410FD3-D24F-4981-AD0F-FEE96AB4B8BA}"/>
              </a:ext>
            </a:extLst>
          </p:cNvPr>
          <p:cNvSpPr/>
          <p:nvPr/>
        </p:nvSpPr>
        <p:spPr>
          <a:xfrm>
            <a:off x="5810602" y="3317897"/>
            <a:ext cx="650449" cy="4192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5356DEE0-8AE6-4B40-BE02-1FD46CEC5A86}"/>
              </a:ext>
            </a:extLst>
          </p:cNvPr>
          <p:cNvSpPr/>
          <p:nvPr/>
        </p:nvSpPr>
        <p:spPr>
          <a:xfrm>
            <a:off x="530280" y="4582539"/>
            <a:ext cx="5203396" cy="51902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0">
            <a:solidFill>
              <a:srgbClr val="D8E5F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96" tIns="396" rIns="396" bIns="396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ko-KR" altLang="en-US" sz="16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지역 선택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92408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 0"/>
          <p:cNvSpPr/>
          <p:nvPr/>
        </p:nvSpPr>
        <p:spPr>
          <a:xfrm>
            <a:off x="530280" y="329040"/>
            <a:ext cx="2011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1" u="none" strike="noStrike" dirty="0">
                <a:solidFill>
                  <a:srgbClr val="2775EA"/>
                </a:solidFill>
                <a:effectLst/>
                <a:uFillTx/>
                <a:latin typeface="Noto Sans CJK KR"/>
                <a:ea typeface="Noto Sans CJK KR"/>
              </a:rPr>
              <a:t>07 </a:t>
            </a:r>
            <a:r>
              <a:rPr lang="ko-KR" altLang="en-US" sz="1400" b="1" u="none" strike="noStrike" dirty="0">
                <a:solidFill>
                  <a:srgbClr val="2775EA"/>
                </a:solidFill>
                <a:effectLst/>
                <a:uFillTx/>
                <a:latin typeface="Noto Sans CJK KR"/>
                <a:ea typeface="Noto Sans CJK KR"/>
              </a:rPr>
              <a:t>사용 예시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"/>
          <p:cNvSpPr/>
          <p:nvPr/>
        </p:nvSpPr>
        <p:spPr>
          <a:xfrm>
            <a:off x="530280" y="58536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ko-KR" altLang="en-US" sz="2800" b="1" dirty="0">
                <a:solidFill>
                  <a:srgbClr val="102033"/>
                </a:solidFill>
                <a:latin typeface="Noto Sans CJK KR"/>
                <a:ea typeface="Noto Sans CJK KR"/>
              </a:rPr>
              <a:t>시간 설정</a:t>
            </a:r>
            <a:endParaRPr lang="en-US" sz="2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6"/>
          <p:cNvSpPr/>
          <p:nvPr/>
        </p:nvSpPr>
        <p:spPr>
          <a:xfrm>
            <a:off x="502920" y="6546960"/>
            <a:ext cx="7314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Daily Report AI · </a:t>
            </a:r>
            <a:r>
              <a:rPr lang="zh-CN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컴퓨팅사고 </a:t>
            </a:r>
            <a:r>
              <a:rPr lang="en-US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27</a:t>
            </a:r>
            <a:r>
              <a:rPr lang="zh-CN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분반 팀 프로젝트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7"/>
          <p:cNvSpPr/>
          <p:nvPr/>
        </p:nvSpPr>
        <p:spPr>
          <a:xfrm>
            <a:off x="11292840" y="6510600"/>
            <a:ext cx="411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0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10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B5AD1B6-89A0-4EE0-B4ED-92BAA1DF2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0575" y="4677463"/>
            <a:ext cx="6110849" cy="168494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00261C4-9DD9-4ABA-94C2-29315CDED1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5671" y="1540802"/>
            <a:ext cx="9200658" cy="1684947"/>
          </a:xfrm>
          <a:prstGeom prst="rect">
            <a:avLst/>
          </a:prstGeom>
        </p:spPr>
      </p:pic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8760E85A-6CA8-4D31-84BA-32BD135A37C4}"/>
              </a:ext>
            </a:extLst>
          </p:cNvPr>
          <p:cNvSpPr/>
          <p:nvPr/>
        </p:nvSpPr>
        <p:spPr>
          <a:xfrm rot="5400000">
            <a:off x="5721461" y="3837578"/>
            <a:ext cx="749076" cy="7461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 15">
            <a:extLst>
              <a:ext uri="{FF2B5EF4-FFF2-40B4-BE49-F238E27FC236}">
                <a16:creationId xmlns:a16="http://schemas.microsoft.com/office/drawing/2014/main" id="{448C0D69-EDFF-4AAF-97F1-89A64F3DBFA1}"/>
              </a:ext>
            </a:extLst>
          </p:cNvPr>
          <p:cNvSpPr/>
          <p:nvPr/>
        </p:nvSpPr>
        <p:spPr>
          <a:xfrm>
            <a:off x="1495670" y="3224674"/>
            <a:ext cx="9200658" cy="51902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0">
            <a:solidFill>
              <a:srgbClr val="D8E5F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96" tIns="396" rIns="396" bIns="396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altLang="ko-KR" sz="16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/</a:t>
            </a:r>
            <a:r>
              <a:rPr lang="ko-KR" altLang="en-US" sz="16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설정 시간</a:t>
            </a:r>
            <a:r>
              <a:rPr lang="en-US" altLang="ko-KR" sz="16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: </a:t>
            </a:r>
            <a:r>
              <a:rPr lang="ko-KR" altLang="en-US" sz="16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 브리핑 시간 변경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53938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 0"/>
          <p:cNvSpPr/>
          <p:nvPr/>
        </p:nvSpPr>
        <p:spPr>
          <a:xfrm>
            <a:off x="530280" y="329040"/>
            <a:ext cx="2011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1" u="none" strike="noStrike" dirty="0">
                <a:solidFill>
                  <a:srgbClr val="2775EA"/>
                </a:solidFill>
                <a:effectLst/>
                <a:uFillTx/>
                <a:latin typeface="Noto Sans CJK KR"/>
                <a:ea typeface="Noto Sans CJK KR"/>
              </a:rPr>
              <a:t>07 </a:t>
            </a:r>
            <a:r>
              <a:rPr lang="ko-KR" altLang="en-US" sz="1400" b="1" u="none" strike="noStrike" dirty="0">
                <a:solidFill>
                  <a:srgbClr val="2775EA"/>
                </a:solidFill>
                <a:effectLst/>
                <a:uFillTx/>
                <a:latin typeface="Noto Sans CJK KR"/>
                <a:ea typeface="Noto Sans CJK KR"/>
              </a:rPr>
              <a:t>사용 예시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"/>
          <p:cNvSpPr/>
          <p:nvPr/>
        </p:nvSpPr>
        <p:spPr>
          <a:xfrm>
            <a:off x="530280" y="58536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ko-KR" altLang="en-US" sz="28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리포트 발송 결과</a:t>
            </a:r>
            <a:endParaRPr lang="en-US" sz="2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6"/>
          <p:cNvSpPr/>
          <p:nvPr/>
        </p:nvSpPr>
        <p:spPr>
          <a:xfrm>
            <a:off x="502920" y="6546960"/>
            <a:ext cx="7314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Daily Report AI · </a:t>
            </a:r>
            <a:r>
              <a:rPr lang="zh-CN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컴퓨팅사고 </a:t>
            </a:r>
            <a:r>
              <a:rPr lang="en-US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27</a:t>
            </a:r>
            <a:r>
              <a:rPr lang="zh-CN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분반 팀 프로젝트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7"/>
          <p:cNvSpPr/>
          <p:nvPr/>
        </p:nvSpPr>
        <p:spPr>
          <a:xfrm>
            <a:off x="11292840" y="6510600"/>
            <a:ext cx="411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00" b="0" u="none" strike="noStrike" dirty="0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11</a:t>
            </a:r>
            <a:endParaRPr lang="en-US" sz="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5">
            <a:extLst>
              <a:ext uri="{FF2B5EF4-FFF2-40B4-BE49-F238E27FC236}">
                <a16:creationId xmlns:a16="http://schemas.microsoft.com/office/drawing/2014/main" id="{1587D909-B77B-44DE-B4D7-4226BDCAB955}"/>
              </a:ext>
            </a:extLst>
          </p:cNvPr>
          <p:cNvSpPr/>
          <p:nvPr/>
        </p:nvSpPr>
        <p:spPr>
          <a:xfrm>
            <a:off x="7497900" y="1242124"/>
            <a:ext cx="4000500" cy="51902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0">
            <a:solidFill>
              <a:srgbClr val="D8E5F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96" tIns="396" rIns="396" bIns="396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altLang="ko-KR" sz="16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30</a:t>
            </a:r>
            <a:r>
              <a:rPr lang="ko-KR" altLang="en-US" sz="16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분 전 비 예보 알림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9344CC6-3564-4523-9C33-1BD35F85C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01422"/>
            <a:ext cx="6508613" cy="608756"/>
          </a:xfrm>
          <a:prstGeom prst="rect">
            <a:avLst/>
          </a:prstGeom>
        </p:spPr>
      </p:pic>
      <p:sp>
        <p:nvSpPr>
          <p:cNvPr id="14" name="Text 15">
            <a:extLst>
              <a:ext uri="{FF2B5EF4-FFF2-40B4-BE49-F238E27FC236}">
                <a16:creationId xmlns:a16="http://schemas.microsoft.com/office/drawing/2014/main" id="{54927522-B1E5-4EB0-A206-A81905789E9B}"/>
              </a:ext>
            </a:extLst>
          </p:cNvPr>
          <p:cNvSpPr/>
          <p:nvPr/>
        </p:nvSpPr>
        <p:spPr>
          <a:xfrm>
            <a:off x="7497900" y="3840298"/>
            <a:ext cx="4000500" cy="51902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0">
            <a:solidFill>
              <a:srgbClr val="D8E5F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96" tIns="396" rIns="396" bIns="396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ko-KR" altLang="en-US" sz="16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지정시간 리포트 발송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3E3264D-A6EA-449D-A339-9E598A3861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19" y="1948137"/>
            <a:ext cx="6508613" cy="474462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530280" y="329040"/>
            <a:ext cx="2011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1" u="none" strike="noStrike" dirty="0">
                <a:solidFill>
                  <a:srgbClr val="2775EA"/>
                </a:solidFill>
                <a:effectLst/>
                <a:uFillTx/>
                <a:latin typeface="Noto Sans CJK KR"/>
                <a:ea typeface="Noto Sans CJK KR"/>
              </a:rPr>
              <a:t>08 </a:t>
            </a:r>
            <a:r>
              <a:rPr lang="zh-CN" sz="1400" b="1" u="none" strike="noStrike" dirty="0">
                <a:solidFill>
                  <a:srgbClr val="2775EA"/>
                </a:solidFill>
                <a:effectLst/>
                <a:uFillTx/>
                <a:latin typeface="Noto Sans CJK KR"/>
                <a:ea typeface="Noto Sans CJK KR"/>
              </a:rPr>
              <a:t>추가 기획 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530280" y="58536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ko-KR" altLang="en-US" sz="2800" b="1" dirty="0">
                <a:solidFill>
                  <a:srgbClr val="102033"/>
                </a:solidFill>
                <a:latin typeface="Noto Sans CJK KR"/>
                <a:ea typeface="Noto Sans CJK KR"/>
              </a:rPr>
              <a:t>추가 기획 </a:t>
            </a:r>
            <a:r>
              <a:rPr lang="en-US" altLang="ko-KR" sz="2800" b="1" dirty="0">
                <a:solidFill>
                  <a:srgbClr val="102033"/>
                </a:solidFill>
                <a:latin typeface="Noto Sans CJK KR"/>
                <a:ea typeface="Noto Sans CJK KR"/>
              </a:rPr>
              <a:t>1: </a:t>
            </a:r>
            <a:r>
              <a:rPr lang="zh-CN" sz="28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뉴스 카테고리 설정 기능</a:t>
            </a:r>
            <a:endParaRPr lang="en-US" sz="2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"/>
          <p:cNvSpPr/>
          <p:nvPr/>
        </p:nvSpPr>
        <p:spPr>
          <a:xfrm>
            <a:off x="548640" y="1024200"/>
            <a:ext cx="10515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25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사용자 관심사 기준으로 큐레이션된 요약</a:t>
            </a:r>
            <a:r>
              <a:rPr lang="en-US" altLang="zh-CN" sz="1250" dirty="0">
                <a:solidFill>
                  <a:srgbClr val="66768A"/>
                </a:solidFill>
                <a:latin typeface="Noto Sans CJK KR"/>
                <a:ea typeface="Noto Sans CJK KR"/>
              </a:rPr>
              <a:t> </a:t>
            </a:r>
            <a:r>
              <a:rPr lang="ko-KR" altLang="en-US" sz="1250" dirty="0">
                <a:solidFill>
                  <a:srgbClr val="66768A"/>
                </a:solidFill>
                <a:latin typeface="Noto Sans CJK KR"/>
                <a:ea typeface="Noto Sans CJK KR"/>
              </a:rPr>
              <a:t>제공</a:t>
            </a:r>
            <a:endParaRPr lang="en-US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9BA22BF-8CB8-408C-AD1B-61F43AC9BC52}"/>
              </a:ext>
            </a:extLst>
          </p:cNvPr>
          <p:cNvGrpSpPr/>
          <p:nvPr/>
        </p:nvGrpSpPr>
        <p:grpSpPr>
          <a:xfrm>
            <a:off x="723900" y="2732557"/>
            <a:ext cx="10744200" cy="1392885"/>
            <a:chOff x="1006200" y="2350440"/>
            <a:chExt cx="10286640" cy="1078560"/>
          </a:xfrm>
        </p:grpSpPr>
        <p:sp>
          <p:nvSpPr>
            <p:cNvPr id="91" name="Text 4"/>
            <p:cNvSpPr/>
            <p:nvPr/>
          </p:nvSpPr>
          <p:spPr>
            <a:xfrm>
              <a:off x="1006200" y="2619900"/>
              <a:ext cx="934815" cy="638566"/>
            </a:xfrm>
            <a:prstGeom prst="rect">
              <a:avLst/>
            </a:prstGeom>
            <a:solidFill>
              <a:srgbClr val="EEF5FF"/>
            </a:solidFill>
            <a:ln w="0">
              <a:solidFill>
                <a:srgbClr val="CDE2FF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98" tIns="198" rIns="198" bIns="198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lang="zh-CN" sz="1150" b="1" u="none" strike="noStrike">
                  <a:solidFill>
                    <a:srgbClr val="2775EA"/>
                  </a:solidFill>
                  <a:effectLst/>
                  <a:uFillTx/>
                  <a:latin typeface="Noto Sans CJK KR"/>
                  <a:ea typeface="Noto Sans CJK KR"/>
                </a:rPr>
                <a:t>경제</a:t>
              </a:r>
              <a:endParaRPr lang="en-US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Text 5"/>
            <p:cNvSpPr/>
            <p:nvPr/>
          </p:nvSpPr>
          <p:spPr>
            <a:xfrm>
              <a:off x="2128420" y="2619900"/>
              <a:ext cx="747779" cy="638566"/>
            </a:xfrm>
            <a:prstGeom prst="rect">
              <a:avLst/>
            </a:prstGeom>
            <a:solidFill>
              <a:srgbClr val="EEF5FF"/>
            </a:solidFill>
            <a:ln w="0">
              <a:solidFill>
                <a:srgbClr val="CDE2FF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98" tIns="198" rIns="198" bIns="198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lang="en-US" sz="1150" b="1" u="none" strike="noStrike">
                  <a:solidFill>
                    <a:srgbClr val="2775EA"/>
                  </a:solidFill>
                  <a:effectLst/>
                  <a:uFillTx/>
                  <a:latin typeface="Noto Sans CJK KR"/>
                  <a:ea typeface="Noto Sans CJK KR"/>
                </a:rPr>
                <a:t>IT</a:t>
              </a:r>
              <a:endParaRPr lang="en-US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Text 6"/>
            <p:cNvSpPr/>
            <p:nvPr/>
          </p:nvSpPr>
          <p:spPr>
            <a:xfrm>
              <a:off x="3063604" y="2619900"/>
              <a:ext cx="934815" cy="638566"/>
            </a:xfrm>
            <a:prstGeom prst="rect">
              <a:avLst/>
            </a:prstGeom>
            <a:solidFill>
              <a:srgbClr val="EEF5FF"/>
            </a:solidFill>
            <a:ln w="0">
              <a:solidFill>
                <a:srgbClr val="CDE2FF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98" tIns="198" rIns="198" bIns="198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lang="zh-CN" sz="1150" b="1" u="none" strike="noStrike">
                  <a:solidFill>
                    <a:srgbClr val="2775EA"/>
                  </a:solidFill>
                  <a:effectLst/>
                  <a:uFillTx/>
                  <a:latin typeface="Noto Sans CJK KR"/>
                  <a:ea typeface="Noto Sans CJK KR"/>
                </a:rPr>
                <a:t>스포츠</a:t>
              </a:r>
              <a:endParaRPr lang="en-US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Text 7"/>
            <p:cNvSpPr/>
            <p:nvPr/>
          </p:nvSpPr>
          <p:spPr>
            <a:xfrm>
              <a:off x="4185825" y="2619900"/>
              <a:ext cx="934815" cy="638566"/>
            </a:xfrm>
            <a:prstGeom prst="rect">
              <a:avLst/>
            </a:prstGeom>
            <a:solidFill>
              <a:srgbClr val="EEF5FF"/>
            </a:solidFill>
            <a:ln w="0">
              <a:solidFill>
                <a:srgbClr val="CDE2FF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98" tIns="198" rIns="198" bIns="198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lang="zh-CN" sz="1150" b="1" u="none" strike="noStrike">
                  <a:solidFill>
                    <a:srgbClr val="2775EA"/>
                  </a:solidFill>
                  <a:effectLst/>
                  <a:uFillTx/>
                  <a:latin typeface="Noto Sans CJK KR"/>
                  <a:ea typeface="Noto Sans CJK KR"/>
                </a:rPr>
                <a:t>종합</a:t>
              </a:r>
              <a:endParaRPr lang="en-US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Shape 8"/>
            <p:cNvSpPr/>
            <p:nvPr/>
          </p:nvSpPr>
          <p:spPr>
            <a:xfrm>
              <a:off x="5303880" y="2862360"/>
              <a:ext cx="914400" cy="360"/>
            </a:xfrm>
            <a:prstGeom prst="line">
              <a:avLst/>
            </a:prstGeom>
            <a:ln w="15240">
              <a:solidFill>
                <a:srgbClr val="AFC3DB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9500" tIns="-24552" rIns="49500" bIns="-24552" anchor="t" anchorCtr="1">
              <a:noAutofit/>
            </a:bodyPr>
            <a:lstStyle/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" name="Text 9"/>
            <p:cNvSpPr/>
            <p:nvPr/>
          </p:nvSpPr>
          <p:spPr>
            <a:xfrm>
              <a:off x="6401160" y="2350440"/>
              <a:ext cx="1874160" cy="1078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FE0F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96" tIns="396" rIns="396" bIns="396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lang="zh-CN" sz="1250" b="1" u="none" strike="noStrike" dirty="0">
                  <a:solidFill>
                    <a:srgbClr val="102033"/>
                  </a:solidFill>
                  <a:effectLst/>
                  <a:uFillTx/>
                  <a:latin typeface="Noto Sans CJK KR"/>
                  <a:ea typeface="Noto Sans CJK KR"/>
                </a:rPr>
                <a:t>카테고리별 </a:t>
              </a:r>
              <a:r>
                <a:rPr lang="en-US" sz="1250" b="1" u="none" strike="noStrike" dirty="0">
                  <a:solidFill>
                    <a:srgbClr val="102033"/>
                  </a:solidFill>
                  <a:effectLst/>
                  <a:uFillTx/>
                  <a:latin typeface="Noto Sans CJK KR"/>
                  <a:ea typeface="Noto Sans CJK KR"/>
                </a:rPr>
                <a:t>RSS</a:t>
              </a:r>
              <a:endParaRPr lang="en-US" sz="95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lang="zh-CN" sz="1250" b="1" u="none" strike="noStrike" dirty="0">
                  <a:solidFill>
                    <a:srgbClr val="102033"/>
                  </a:solidFill>
                  <a:effectLst/>
                  <a:uFillTx/>
                  <a:latin typeface="Noto Sans CJK KR"/>
                  <a:ea typeface="Noto Sans CJK KR"/>
                </a:rPr>
                <a:t>또는 필터링 적용</a:t>
              </a:r>
              <a:endParaRPr lang="en-US" sz="95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" name="Shape 10"/>
            <p:cNvSpPr/>
            <p:nvPr/>
          </p:nvSpPr>
          <p:spPr>
            <a:xfrm>
              <a:off x="8458560" y="2862360"/>
              <a:ext cx="914400" cy="360"/>
            </a:xfrm>
            <a:prstGeom prst="line">
              <a:avLst/>
            </a:prstGeom>
            <a:ln w="15240">
              <a:solidFill>
                <a:srgbClr val="AFC3DB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9500" tIns="-24552" rIns="49500" bIns="-24552" anchor="t" anchorCtr="1">
              <a:noAutofit/>
            </a:bodyPr>
            <a:lstStyle/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" name="Text 11"/>
            <p:cNvSpPr/>
            <p:nvPr/>
          </p:nvSpPr>
          <p:spPr>
            <a:xfrm>
              <a:off x="9537480" y="2350440"/>
              <a:ext cx="1755360" cy="1078560"/>
            </a:xfrm>
            <a:prstGeom prst="rect">
              <a:avLst/>
            </a:prstGeom>
            <a:solidFill>
              <a:srgbClr val="172B85"/>
            </a:solidFill>
            <a:ln w="12700">
              <a:solidFill>
                <a:srgbClr val="172B8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96" tIns="396" rIns="396" bIns="396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lang="zh-CN" sz="1250" b="1" u="none" strike="noStrike" dirty="0">
                  <a:solidFill>
                    <a:srgbClr val="FFFFFF"/>
                  </a:solidFill>
                  <a:effectLst/>
                  <a:uFillTx/>
                  <a:latin typeface="Noto Sans CJK KR"/>
                  <a:ea typeface="Noto Sans CJK KR"/>
                </a:rPr>
                <a:t>주요 뉴스 </a:t>
              </a:r>
              <a:r>
                <a:rPr lang="en-US" sz="1250" b="1" u="none" strike="noStrike" dirty="0">
                  <a:solidFill>
                    <a:srgbClr val="FFFFFF"/>
                  </a:solidFill>
                  <a:effectLst/>
                  <a:uFillTx/>
                  <a:latin typeface="Noto Sans CJK KR"/>
                  <a:ea typeface="Noto Sans CJK KR"/>
                </a:rPr>
                <a:t>3</a:t>
              </a:r>
              <a:r>
                <a:rPr lang="zh-CN" sz="1250" b="1" u="none" strike="noStrike" dirty="0">
                  <a:solidFill>
                    <a:srgbClr val="FFFFFF"/>
                  </a:solidFill>
                  <a:effectLst/>
                  <a:uFillTx/>
                  <a:latin typeface="Noto Sans CJK KR"/>
                  <a:ea typeface="Noto Sans CJK KR"/>
                </a:rPr>
                <a:t>건</a:t>
              </a:r>
              <a:endParaRPr lang="en-US" sz="95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lang="en-US" sz="1250" b="1" u="none" strike="noStrike" dirty="0">
                  <a:solidFill>
                    <a:srgbClr val="FFFFFF"/>
                  </a:solidFill>
                  <a:effectLst/>
                  <a:uFillTx/>
                  <a:latin typeface="Noto Sans CJK KR"/>
                  <a:ea typeface="Noto Sans CJK KR"/>
                </a:rPr>
                <a:t>AI </a:t>
              </a:r>
              <a:r>
                <a:rPr lang="zh-CN" sz="1250" b="1" u="none" strike="noStrike" dirty="0">
                  <a:solidFill>
                    <a:srgbClr val="FFFFFF"/>
                  </a:solidFill>
                  <a:effectLst/>
                  <a:uFillTx/>
                  <a:latin typeface="Noto Sans CJK KR"/>
                  <a:ea typeface="Noto Sans CJK KR"/>
                </a:rPr>
                <a:t>요약</a:t>
              </a:r>
              <a:endParaRPr lang="en-US" sz="95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2" name="Text 15"/>
          <p:cNvSpPr/>
          <p:nvPr/>
        </p:nvSpPr>
        <p:spPr>
          <a:xfrm>
            <a:off x="502920" y="6546960"/>
            <a:ext cx="7314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Daily Report AI · </a:t>
            </a:r>
            <a:r>
              <a:rPr lang="zh-CN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컴퓨팅사고 </a:t>
            </a:r>
            <a:r>
              <a:rPr lang="en-US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27</a:t>
            </a:r>
            <a:r>
              <a:rPr lang="zh-CN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분반 팀 프로젝트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6"/>
          <p:cNvSpPr/>
          <p:nvPr/>
        </p:nvSpPr>
        <p:spPr>
          <a:xfrm>
            <a:off x="11292840" y="6510600"/>
            <a:ext cx="411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00" dirty="0">
                <a:solidFill>
                  <a:srgbClr val="8EA0B7"/>
                </a:solidFill>
                <a:latin typeface="Noto Sans CJK KR"/>
                <a:ea typeface="Noto Sans CJK KR"/>
              </a:rPr>
              <a:t>12</a:t>
            </a:r>
            <a:endParaRPr lang="en-US" sz="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D2B117D2-1A98-4B78-9C18-398D7BE40FD0}"/>
              </a:ext>
            </a:extLst>
          </p:cNvPr>
          <p:cNvSpPr/>
          <p:nvPr/>
        </p:nvSpPr>
        <p:spPr>
          <a:xfrm>
            <a:off x="872569" y="2213536"/>
            <a:ext cx="4000500" cy="51902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0">
            <a:solidFill>
              <a:srgbClr val="D8E5F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96" tIns="396" rIns="396" bIns="396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ko-KR" altLang="en-US" sz="16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뉴스 카테고리 선택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/>
          <p:nvPr/>
        </p:nvSpPr>
        <p:spPr>
          <a:xfrm>
            <a:off x="530280" y="329040"/>
            <a:ext cx="2011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1" u="none" strike="noStrike" dirty="0">
                <a:solidFill>
                  <a:srgbClr val="2775EA"/>
                </a:solidFill>
                <a:effectLst/>
                <a:uFillTx/>
                <a:latin typeface="Noto Sans CJK KR"/>
                <a:ea typeface="Noto Sans CJK KR"/>
              </a:rPr>
              <a:t>08 </a:t>
            </a:r>
            <a:r>
              <a:rPr lang="zh-CN" sz="1400" b="1" u="none" strike="noStrike" dirty="0">
                <a:solidFill>
                  <a:srgbClr val="2775EA"/>
                </a:solidFill>
                <a:effectLst/>
                <a:uFillTx/>
                <a:latin typeface="Noto Sans CJK KR"/>
                <a:ea typeface="Noto Sans CJK KR"/>
              </a:rPr>
              <a:t>추가 기획 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530280" y="58536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ko-KR" altLang="en-US" sz="28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추가 기획 </a:t>
            </a:r>
            <a:r>
              <a:rPr lang="en-US" altLang="ko-KR" sz="28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2: </a:t>
            </a:r>
            <a:r>
              <a:rPr lang="zh-CN" sz="28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브리핑 항목 </a:t>
            </a:r>
            <a:r>
              <a:rPr lang="en-US" sz="28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on/off </a:t>
            </a:r>
            <a:r>
              <a:rPr lang="zh-CN" sz="28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기능</a:t>
            </a:r>
            <a:endParaRPr lang="en-US" sz="2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"/>
          <p:cNvSpPr/>
          <p:nvPr/>
        </p:nvSpPr>
        <p:spPr>
          <a:xfrm>
            <a:off x="548640" y="1024200"/>
            <a:ext cx="10515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ko-KR" altLang="en-US" sz="1250" dirty="0">
                <a:solidFill>
                  <a:srgbClr val="66768A"/>
                </a:solidFill>
                <a:latin typeface="Noto Sans CJK KR"/>
                <a:ea typeface="Noto Sans CJK KR"/>
              </a:rPr>
              <a:t>사용자에게 리포트 항목에 대한 선택권 부여</a:t>
            </a:r>
            <a:r>
              <a:rPr lang="en-US" sz="125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"/>
          <p:cNvSpPr/>
          <p:nvPr/>
        </p:nvSpPr>
        <p:spPr>
          <a:xfrm>
            <a:off x="2514240" y="5030580"/>
            <a:ext cx="6583320" cy="411120"/>
          </a:xfrm>
          <a:prstGeom prst="rect">
            <a:avLst/>
          </a:prstGeom>
          <a:solidFill>
            <a:srgbClr val="172B85"/>
          </a:solidFill>
          <a:ln w="0">
            <a:solidFill>
              <a:srgbClr val="172B85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96" tIns="396" rIns="396" bIns="396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altLang="zh-CN" sz="1800" b="1" u="none" strike="noStrike" dirty="0">
                <a:solidFill>
                  <a:schemeClr val="bg1"/>
                </a:solidFill>
                <a:effectLst/>
                <a:uFillTx/>
                <a:latin typeface="Noto Sans CJK KR"/>
                <a:ea typeface="Noto Sans CJK KR"/>
              </a:rPr>
              <a:t>/</a:t>
            </a:r>
            <a:r>
              <a:rPr lang="ko-KR" altLang="en-US" sz="1800" b="1" dirty="0">
                <a:solidFill>
                  <a:schemeClr val="bg1"/>
                </a:solidFill>
                <a:latin typeface="Noto Sans CJK KR"/>
                <a:ea typeface="Noto Sans CJK KR"/>
              </a:rPr>
              <a:t>설정 항목 </a:t>
            </a:r>
            <a:r>
              <a:rPr lang="en-US" altLang="ko-KR" sz="1800" b="1" dirty="0">
                <a:solidFill>
                  <a:schemeClr val="bg1"/>
                </a:solidFill>
                <a:latin typeface="Noto Sans CJK KR"/>
                <a:ea typeface="Noto Sans CJK KR"/>
              </a:rPr>
              <a:t>[</a:t>
            </a:r>
            <a:r>
              <a:rPr lang="ko-KR" altLang="en-US" sz="1800" b="1" dirty="0">
                <a:solidFill>
                  <a:srgbClr val="00B0F0"/>
                </a:solidFill>
                <a:latin typeface="Noto Sans CJK KR"/>
                <a:ea typeface="Noto Sans CJK KR"/>
              </a:rPr>
              <a:t>리포트 항목</a:t>
            </a:r>
            <a:r>
              <a:rPr lang="en-US" altLang="ko-KR" sz="1800" b="1" dirty="0">
                <a:solidFill>
                  <a:schemeClr val="bg1"/>
                </a:solidFill>
                <a:latin typeface="Noto Sans CJK KR"/>
                <a:ea typeface="Noto Sans CJK KR"/>
              </a:rPr>
              <a:t>] [</a:t>
            </a:r>
            <a:r>
              <a:rPr lang="en-US" altLang="ko-KR" sz="1800" b="1" dirty="0">
                <a:solidFill>
                  <a:srgbClr val="00B050"/>
                </a:solidFill>
                <a:latin typeface="Noto Sans CJK KR"/>
                <a:ea typeface="Noto Sans CJK KR"/>
              </a:rPr>
              <a:t>ON</a:t>
            </a:r>
            <a:r>
              <a:rPr lang="en-US" altLang="ko-KR" sz="1800" b="1" dirty="0">
                <a:solidFill>
                  <a:schemeClr val="bg1"/>
                </a:solidFill>
                <a:latin typeface="Noto Sans CJK KR"/>
                <a:ea typeface="Noto Sans CJK KR"/>
              </a:rPr>
              <a:t>/</a:t>
            </a:r>
            <a:r>
              <a:rPr lang="en-US" altLang="ko-KR" sz="1800" b="1" dirty="0">
                <a:solidFill>
                  <a:srgbClr val="FF0000"/>
                </a:solidFill>
                <a:latin typeface="Noto Sans CJK KR"/>
                <a:ea typeface="Noto Sans CJK KR"/>
              </a:rPr>
              <a:t>OFF</a:t>
            </a:r>
            <a:r>
              <a:rPr lang="en-US" altLang="ko-KR" sz="1800" b="1" dirty="0">
                <a:solidFill>
                  <a:schemeClr val="bg1"/>
                </a:solidFill>
                <a:latin typeface="Noto Sans CJK KR"/>
                <a:ea typeface="Noto Sans CJK KR"/>
              </a:rPr>
              <a:t>]</a:t>
            </a:r>
            <a:endParaRPr lang="en-US" altLang="ko-KR" sz="18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777240" y="1655280"/>
            <a:ext cx="1691280" cy="712800"/>
          </a:xfrm>
          <a:prstGeom prst="rect">
            <a:avLst/>
          </a:prstGeom>
          <a:solidFill>
            <a:srgbClr val="FFFFFF"/>
          </a:solidFill>
          <a:ln w="0">
            <a:solidFill>
              <a:srgbClr val="D8E5F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500" tIns="24750" rIns="49500" bIns="24750" anchor="ctr">
            <a:normAutofit/>
          </a:bodyPr>
          <a:lstStyle/>
          <a:p>
            <a:pPr>
              <a:defRPr/>
            </a:pPr>
            <a:r>
              <a:rPr lang="en-US" sz="14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🌤 </a:t>
            </a:r>
            <a:r>
              <a:rPr lang="en-US" sz="1400" b="1" u="none" strike="noStrike" dirty="0" err="1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날씨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true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5"/>
          <p:cNvSpPr/>
          <p:nvPr/>
        </p:nvSpPr>
        <p:spPr>
          <a:xfrm>
            <a:off x="1710000" y="2039400"/>
            <a:ext cx="566640" cy="209880"/>
          </a:xfrm>
          <a:prstGeom prst="rect">
            <a:avLst/>
          </a:prstGeom>
          <a:solidFill>
            <a:srgbClr val="16A477"/>
          </a:solidFill>
          <a:ln w="0">
            <a:solidFill>
              <a:srgbClr val="16A47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98" tIns="198" rIns="198" bIns="198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on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6"/>
          <p:cNvSpPr/>
          <p:nvPr/>
        </p:nvSpPr>
        <p:spPr>
          <a:xfrm>
            <a:off x="2926080" y="1655280"/>
            <a:ext cx="1691280" cy="712800"/>
          </a:xfrm>
          <a:prstGeom prst="rect">
            <a:avLst/>
          </a:prstGeom>
          <a:solidFill>
            <a:srgbClr val="FFFFFF"/>
          </a:solidFill>
          <a:ln w="0">
            <a:solidFill>
              <a:srgbClr val="D8E5F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500" tIns="24750" rIns="49500" bIns="24750" anchor="ctr">
            <a:normAutofit/>
          </a:bodyPr>
          <a:lstStyle/>
          <a:p>
            <a:pPr>
              <a:defRPr/>
            </a:pPr>
            <a:r>
              <a:rPr lang="en-US" sz="14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💨 </a:t>
            </a:r>
            <a:r>
              <a:rPr lang="en-US" sz="1400" b="1" u="none" strike="noStrike" dirty="0" err="1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미세먼지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true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7"/>
          <p:cNvSpPr/>
          <p:nvPr/>
        </p:nvSpPr>
        <p:spPr>
          <a:xfrm>
            <a:off x="3858840" y="2039400"/>
            <a:ext cx="566640" cy="209880"/>
          </a:xfrm>
          <a:prstGeom prst="rect">
            <a:avLst/>
          </a:prstGeom>
          <a:solidFill>
            <a:srgbClr val="16A477"/>
          </a:solidFill>
          <a:ln w="0">
            <a:solidFill>
              <a:srgbClr val="16A47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98" tIns="198" rIns="198" bIns="198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on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8"/>
          <p:cNvSpPr/>
          <p:nvPr/>
        </p:nvSpPr>
        <p:spPr>
          <a:xfrm>
            <a:off x="5074920" y="1655280"/>
            <a:ext cx="1691280" cy="712800"/>
          </a:xfrm>
          <a:prstGeom prst="rect">
            <a:avLst/>
          </a:prstGeom>
          <a:solidFill>
            <a:srgbClr val="FFFFFF"/>
          </a:solidFill>
          <a:ln w="0">
            <a:solidFill>
              <a:srgbClr val="D8E5F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500" tIns="24750" rIns="49500" bIns="24750" anchor="ctr">
            <a:normAutofit/>
          </a:bodyPr>
          <a:lstStyle/>
          <a:p>
            <a:pPr>
              <a:defRPr/>
            </a:pPr>
            <a:r>
              <a:rPr lang="en-US" sz="14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📰 </a:t>
            </a:r>
            <a:r>
              <a:rPr lang="en-US" sz="1400" b="1" u="none" strike="noStrike" dirty="0" err="1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뉴스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false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9"/>
          <p:cNvSpPr/>
          <p:nvPr/>
        </p:nvSpPr>
        <p:spPr>
          <a:xfrm>
            <a:off x="6007680" y="2039400"/>
            <a:ext cx="566640" cy="20988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98" tIns="198" rIns="198" bIns="198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off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0"/>
          <p:cNvSpPr/>
          <p:nvPr/>
        </p:nvSpPr>
        <p:spPr>
          <a:xfrm>
            <a:off x="7223760" y="1655280"/>
            <a:ext cx="1691280" cy="712800"/>
          </a:xfrm>
          <a:prstGeom prst="rect">
            <a:avLst/>
          </a:prstGeom>
          <a:solidFill>
            <a:srgbClr val="FFFFFF"/>
          </a:solidFill>
          <a:ln w="0">
            <a:solidFill>
              <a:srgbClr val="D8E5F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500" tIns="24750" rIns="49500" bIns="24750" anchor="ctr">
            <a:normAutofit/>
          </a:bodyPr>
          <a:lstStyle/>
          <a:p>
            <a:pPr>
              <a:defRPr/>
            </a:pPr>
            <a:r>
              <a:rPr lang="en-US" sz="14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👗 </a:t>
            </a:r>
            <a:r>
              <a:rPr lang="en-US" sz="1400" b="1" u="none" strike="noStrike" dirty="0" err="1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옷차림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true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1"/>
          <p:cNvSpPr/>
          <p:nvPr/>
        </p:nvSpPr>
        <p:spPr>
          <a:xfrm>
            <a:off x="8156520" y="2039400"/>
            <a:ext cx="566640" cy="209880"/>
          </a:xfrm>
          <a:prstGeom prst="rect">
            <a:avLst/>
          </a:prstGeom>
          <a:solidFill>
            <a:srgbClr val="16A477"/>
          </a:solidFill>
          <a:ln w="0">
            <a:solidFill>
              <a:srgbClr val="16A47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98" tIns="198" rIns="198" bIns="198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on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2"/>
          <p:cNvSpPr/>
          <p:nvPr/>
        </p:nvSpPr>
        <p:spPr>
          <a:xfrm>
            <a:off x="9372600" y="1655280"/>
            <a:ext cx="1691280" cy="712800"/>
          </a:xfrm>
          <a:prstGeom prst="rect">
            <a:avLst/>
          </a:prstGeom>
          <a:solidFill>
            <a:srgbClr val="FFFFFF"/>
          </a:solidFill>
          <a:ln w="0">
            <a:solidFill>
              <a:srgbClr val="D8E5F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500" tIns="24750" rIns="49500" bIns="24750" anchor="ctr">
            <a:normAutofit/>
          </a:bodyPr>
          <a:lstStyle/>
          <a:p>
            <a:pPr>
              <a:defRPr/>
            </a:pPr>
            <a:r>
              <a:rPr lang="en-US" sz="14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💬 </a:t>
            </a:r>
            <a:r>
              <a:rPr lang="en-US" sz="1400" b="1" u="none" strike="noStrike" dirty="0" err="1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한마디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dirty="0">
                <a:solidFill>
                  <a:srgbClr val="66768A"/>
                </a:solidFill>
                <a:latin typeface="Noto Sans CJK KR"/>
                <a:ea typeface="Noto Sans CJK KR"/>
              </a:rPr>
              <a:t>t</a:t>
            </a:r>
            <a:r>
              <a:rPr lang="en-US" sz="140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rue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3"/>
          <p:cNvSpPr/>
          <p:nvPr/>
        </p:nvSpPr>
        <p:spPr>
          <a:xfrm>
            <a:off x="10305360" y="2039400"/>
            <a:ext cx="566640" cy="209880"/>
          </a:xfrm>
          <a:prstGeom prst="rect">
            <a:avLst/>
          </a:prstGeom>
          <a:solidFill>
            <a:srgbClr val="16A477"/>
          </a:solidFill>
          <a:ln w="0">
            <a:solidFill>
              <a:srgbClr val="16A47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98" tIns="198" rIns="198" bIns="198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on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4"/>
          <p:cNvSpPr/>
          <p:nvPr/>
        </p:nvSpPr>
        <p:spPr>
          <a:xfrm>
            <a:off x="5805900" y="2643592"/>
            <a:ext cx="360" cy="576360"/>
          </a:xfrm>
          <a:prstGeom prst="line">
            <a:avLst/>
          </a:prstGeom>
          <a:ln w="15240">
            <a:solidFill>
              <a:srgbClr val="B3C9E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500" tIns="24750" rIns="49500" bIns="24750" anchor="t" anchorCtr="1">
            <a:noAutofit/>
          </a:bodyPr>
          <a:lstStyle/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6"/>
          <p:cNvSpPr/>
          <p:nvPr/>
        </p:nvSpPr>
        <p:spPr>
          <a:xfrm>
            <a:off x="3726180" y="3456360"/>
            <a:ext cx="4160160" cy="914040"/>
          </a:xfrm>
          <a:prstGeom prst="rect">
            <a:avLst/>
          </a:prstGeom>
          <a:solidFill>
            <a:srgbClr val="FFFFFF"/>
          </a:solidFill>
          <a:ln w="0">
            <a:solidFill>
              <a:srgbClr val="D8E5F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500" tIns="24750" rIns="49500" bIns="24750" anchor="ctr">
            <a:normAutofit/>
          </a:bodyPr>
          <a:lstStyle/>
          <a:p>
            <a:pPr algn="ctr">
              <a:defRPr/>
            </a:pPr>
            <a:r>
              <a:rPr lang="zh-CN" sz="152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같은 봇</a:t>
            </a:r>
            <a:r>
              <a:rPr lang="en-US" sz="152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zh-CN" sz="152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다른 리포트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28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사용자마다 </a:t>
            </a:r>
            <a:r>
              <a:rPr lang="ko-KR" altLang="en-US" sz="128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개인화된 구성의 리포트 발송 가능</a:t>
            </a:r>
            <a:endParaRPr lang="en-US" sz="9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7"/>
          <p:cNvSpPr/>
          <p:nvPr/>
        </p:nvSpPr>
        <p:spPr>
          <a:xfrm>
            <a:off x="502920" y="6546960"/>
            <a:ext cx="7314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Daily Report AI · </a:t>
            </a:r>
            <a:r>
              <a:rPr lang="zh-CN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컴퓨팅사고 </a:t>
            </a:r>
            <a:r>
              <a:rPr lang="en-US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27</a:t>
            </a:r>
            <a:r>
              <a:rPr lang="zh-CN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분반 팀 프로젝트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8"/>
          <p:cNvSpPr/>
          <p:nvPr/>
        </p:nvSpPr>
        <p:spPr>
          <a:xfrm>
            <a:off x="11292840" y="6510600"/>
            <a:ext cx="411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00" dirty="0">
                <a:solidFill>
                  <a:srgbClr val="8EA0B7"/>
                </a:solidFill>
                <a:latin typeface="Noto Sans CJK KR"/>
              </a:rPr>
              <a:t>13</a:t>
            </a:r>
            <a:endParaRPr lang="en-US" sz="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/>
          <p:nvPr/>
        </p:nvSpPr>
        <p:spPr>
          <a:xfrm>
            <a:off x="530280" y="329040"/>
            <a:ext cx="2011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1" u="none" strike="noStrike" dirty="0">
                <a:solidFill>
                  <a:srgbClr val="2775EA"/>
                </a:solidFill>
                <a:effectLst/>
                <a:uFillTx/>
                <a:latin typeface="Noto Sans CJK KR"/>
                <a:ea typeface="Noto Sans CJK KR"/>
              </a:rPr>
              <a:t>08-1 </a:t>
            </a:r>
            <a:r>
              <a:rPr lang="ko-KR" altLang="en-US" sz="1400" b="1" dirty="0">
                <a:solidFill>
                  <a:srgbClr val="2775EA"/>
                </a:solidFill>
                <a:latin typeface="Noto Sans CJK KR"/>
                <a:ea typeface="Noto Sans CJK KR"/>
              </a:rPr>
              <a:t>작동</a:t>
            </a:r>
            <a:r>
              <a:rPr lang="ko-KR" altLang="en-US" sz="1400" b="1" u="none" strike="noStrike" dirty="0">
                <a:solidFill>
                  <a:srgbClr val="2775EA"/>
                </a:solidFill>
                <a:effectLst/>
                <a:uFillTx/>
                <a:latin typeface="Noto Sans CJK KR"/>
                <a:ea typeface="Noto Sans CJK KR"/>
              </a:rPr>
              <a:t> 예시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530280" y="58536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ko-KR" altLang="en-US" sz="2800" b="1" dirty="0">
                <a:solidFill>
                  <a:srgbClr val="102033"/>
                </a:solidFill>
                <a:latin typeface="Noto Sans CJK KR"/>
                <a:ea typeface="Noto Sans CJK KR"/>
              </a:rPr>
              <a:t>작동 예시</a:t>
            </a:r>
            <a:endParaRPr lang="en-US" sz="2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7"/>
          <p:cNvSpPr/>
          <p:nvPr/>
        </p:nvSpPr>
        <p:spPr>
          <a:xfrm>
            <a:off x="502920" y="6546960"/>
            <a:ext cx="7314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Daily Report AI · </a:t>
            </a:r>
            <a:r>
              <a:rPr lang="zh-CN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컴퓨팅사고 </a:t>
            </a:r>
            <a:r>
              <a:rPr lang="en-US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27</a:t>
            </a:r>
            <a:r>
              <a:rPr lang="zh-CN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분반 팀 프로젝트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8"/>
          <p:cNvSpPr/>
          <p:nvPr/>
        </p:nvSpPr>
        <p:spPr>
          <a:xfrm>
            <a:off x="11292840" y="6510600"/>
            <a:ext cx="411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00" dirty="0">
                <a:solidFill>
                  <a:srgbClr val="8EA0B7"/>
                </a:solidFill>
                <a:latin typeface="Noto Sans CJK KR"/>
              </a:rPr>
              <a:t>14</a:t>
            </a:r>
            <a:endParaRPr lang="en-US" sz="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8FF6CCA-42C6-44BD-AFBB-AA9188E7A826}"/>
              </a:ext>
            </a:extLst>
          </p:cNvPr>
          <p:cNvGrpSpPr/>
          <p:nvPr/>
        </p:nvGrpSpPr>
        <p:grpSpPr>
          <a:xfrm>
            <a:off x="534975" y="2078550"/>
            <a:ext cx="11122049" cy="4450410"/>
            <a:chOff x="266700" y="1657350"/>
            <a:chExt cx="11122049" cy="4450410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29469307-398D-45D8-A431-3998ECBEF6CD}"/>
                </a:ext>
              </a:extLst>
            </p:cNvPr>
            <p:cNvGrpSpPr/>
            <p:nvPr/>
          </p:nvGrpSpPr>
          <p:grpSpPr>
            <a:xfrm>
              <a:off x="266700" y="1657350"/>
              <a:ext cx="3700350" cy="4450410"/>
              <a:chOff x="276225" y="1170389"/>
              <a:chExt cx="3700350" cy="4450410"/>
            </a:xfrm>
          </p:grpSpPr>
          <p:sp>
            <p:nvSpPr>
              <p:cNvPr id="4" name="사각형: 둥근 모서리 3">
                <a:extLst>
                  <a:ext uri="{FF2B5EF4-FFF2-40B4-BE49-F238E27FC236}">
                    <a16:creationId xmlns:a16="http://schemas.microsoft.com/office/drawing/2014/main" id="{2D020A49-EAD2-472B-8260-9CD465561C9F}"/>
                  </a:ext>
                </a:extLst>
              </p:cNvPr>
              <p:cNvSpPr/>
              <p:nvPr/>
            </p:nvSpPr>
            <p:spPr>
              <a:xfrm>
                <a:off x="276225" y="1170389"/>
                <a:ext cx="3700350" cy="2895427"/>
              </a:xfrm>
              <a:prstGeom prst="roundRect">
                <a:avLst/>
              </a:prstGeom>
              <a:solidFill>
                <a:srgbClr val="1A1A1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5F8C924C-F9D8-4D83-A9C9-7B691D7BCA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2180" y="1373527"/>
                <a:ext cx="626895" cy="626895"/>
              </a:xfrm>
              <a:prstGeom prst="rect">
                <a:avLst/>
              </a:prstGeom>
            </p:spPr>
          </p:pic>
          <p:sp>
            <p:nvSpPr>
              <p:cNvPr id="30" name="Text 3">
                <a:extLst>
                  <a:ext uri="{FF2B5EF4-FFF2-40B4-BE49-F238E27FC236}">
                    <a16:creationId xmlns:a16="http://schemas.microsoft.com/office/drawing/2014/main" id="{A83341D8-613A-49F7-82F5-C418232B30A3}"/>
                  </a:ext>
                </a:extLst>
              </p:cNvPr>
              <p:cNvSpPr/>
              <p:nvPr/>
            </p:nvSpPr>
            <p:spPr>
              <a:xfrm>
                <a:off x="828591" y="1456354"/>
                <a:ext cx="2196571" cy="105947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" tIns="396" rIns="396" bIns="396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r>
                  <a:rPr lang="ko-KR" altLang="en-US" sz="1400" b="1" dirty="0">
                    <a:solidFill>
                      <a:schemeClr val="bg1"/>
                    </a:solidFill>
                    <a:latin typeface="Noto Sans CJK KR"/>
                    <a:ea typeface="Noto Sans CJK KR"/>
                  </a:rPr>
                  <a:t>데일리 리포트 </a:t>
                </a:r>
                <a:r>
                  <a:rPr lang="en-US" altLang="ko-KR" sz="1400" b="1" dirty="0">
                    <a:solidFill>
                      <a:schemeClr val="bg1"/>
                    </a:solidFill>
                    <a:latin typeface="Noto Sans CJK KR"/>
                    <a:ea typeface="Noto Sans CJK KR"/>
                  </a:rPr>
                  <a:t>AI</a:t>
                </a:r>
                <a:endParaRPr lang="en-US" altLang="ko-KR" sz="1400" b="0" u="none" strike="noStrike" dirty="0">
                  <a:solidFill>
                    <a:schemeClr val="bg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Text 3">
                <a:extLst>
                  <a:ext uri="{FF2B5EF4-FFF2-40B4-BE49-F238E27FC236}">
                    <a16:creationId xmlns:a16="http://schemas.microsoft.com/office/drawing/2014/main" id="{98B0FEEC-6B8B-4E67-AFAB-F6423F753984}"/>
                  </a:ext>
                </a:extLst>
              </p:cNvPr>
              <p:cNvSpPr/>
              <p:nvPr/>
            </p:nvSpPr>
            <p:spPr>
              <a:xfrm>
                <a:off x="1258830" y="1697550"/>
                <a:ext cx="2386125" cy="3923249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" tIns="396" rIns="396" bIns="396" anchor="ctr">
                <a:noAutofit/>
              </a:bodyPr>
              <a:lstStyle/>
              <a:p>
                <a:pPr marL="285750" indent="-285750" defTabSz="914400">
                  <a:lnSpc>
                    <a:spcPct val="100000"/>
                  </a:lnSpc>
                  <a:buFont typeface="Wingdings" panose="05000000000000000000" pitchFamily="2" charset="2"/>
                  <a:buChar char="§"/>
                  <a:tabLst>
                    <a:tab pos="0" algn="l"/>
                  </a:tabLst>
                  <a:defRPr/>
                </a:pPr>
                <a:r>
                  <a:rPr lang="ko-KR" altLang="en-US" sz="1400" b="1" dirty="0">
                    <a:solidFill>
                      <a:schemeClr val="bg1"/>
                    </a:solidFill>
                    <a:latin typeface="Noto Sans CJK KR"/>
                    <a:ea typeface="Noto Sans CJK KR"/>
                  </a:rPr>
                  <a:t>날씨정보</a:t>
                </a:r>
                <a:endParaRPr lang="en-US" altLang="ko-KR" sz="1400" b="1" dirty="0">
                  <a:solidFill>
                    <a:schemeClr val="bg1"/>
                  </a:solidFill>
                  <a:latin typeface="Noto Sans CJK KR"/>
                  <a:ea typeface="Noto Sans CJK KR"/>
                </a:endParaRPr>
              </a:p>
              <a:p>
                <a:pPr marL="285750" indent="-285750" defTabSz="914400">
                  <a:lnSpc>
                    <a:spcPct val="100000"/>
                  </a:lnSpc>
                  <a:buFont typeface="Wingdings" panose="05000000000000000000" pitchFamily="2" charset="2"/>
                  <a:buChar char="§"/>
                  <a:tabLst>
                    <a:tab pos="0" algn="l"/>
                  </a:tabLst>
                  <a:defRPr/>
                </a:pPr>
                <a:endParaRPr lang="en-US" altLang="ko-KR" sz="1400" b="1" dirty="0">
                  <a:solidFill>
                    <a:schemeClr val="bg1"/>
                  </a:solidFill>
                  <a:latin typeface="Noto Sans CJK KR"/>
                  <a:ea typeface="Noto Sans CJK KR"/>
                </a:endParaRPr>
              </a:p>
              <a:p>
                <a:pPr marL="285750" indent="-285750" defTabSz="914400">
                  <a:lnSpc>
                    <a:spcPct val="100000"/>
                  </a:lnSpc>
                  <a:buFont typeface="Wingdings" panose="05000000000000000000" pitchFamily="2" charset="2"/>
                  <a:buChar char="§"/>
                  <a:tabLst>
                    <a:tab pos="0" algn="l"/>
                  </a:tabLst>
                  <a:defRPr/>
                </a:pPr>
                <a:r>
                  <a:rPr lang="ko-KR" altLang="en-US" sz="1400" b="1" dirty="0">
                    <a:solidFill>
                      <a:schemeClr val="bg1"/>
                    </a:solidFill>
                    <a:latin typeface="Noto Sans CJK KR"/>
                    <a:ea typeface="Noto Sans CJK KR"/>
                  </a:rPr>
                  <a:t>미세먼지 등급</a:t>
                </a:r>
                <a:endParaRPr lang="en-US" altLang="ko-KR" sz="1400" b="1" dirty="0">
                  <a:solidFill>
                    <a:schemeClr val="bg1"/>
                  </a:solidFill>
                  <a:latin typeface="Noto Sans CJK KR"/>
                  <a:ea typeface="Noto Sans CJK KR"/>
                </a:endParaRPr>
              </a:p>
              <a:p>
                <a:pPr marL="285750" indent="-285750" defTabSz="914400">
                  <a:lnSpc>
                    <a:spcPct val="100000"/>
                  </a:lnSpc>
                  <a:buFont typeface="Wingdings" panose="05000000000000000000" pitchFamily="2" charset="2"/>
                  <a:buChar char="§"/>
                  <a:tabLst>
                    <a:tab pos="0" algn="l"/>
                  </a:tabLst>
                  <a:defRPr/>
                </a:pPr>
                <a:endParaRPr lang="en-US" altLang="ko-KR" sz="1400" b="1" dirty="0">
                  <a:solidFill>
                    <a:schemeClr val="bg1"/>
                  </a:solidFill>
                  <a:latin typeface="Noto Sans CJK KR"/>
                  <a:ea typeface="Noto Sans CJK KR"/>
                </a:endParaRPr>
              </a:p>
              <a:p>
                <a:pPr marL="285750" indent="-285750" defTabSz="914400">
                  <a:lnSpc>
                    <a:spcPct val="100000"/>
                  </a:lnSpc>
                  <a:buFont typeface="Wingdings" panose="05000000000000000000" pitchFamily="2" charset="2"/>
                  <a:buChar char="§"/>
                  <a:tabLst>
                    <a:tab pos="0" algn="l"/>
                  </a:tabLst>
                  <a:defRPr/>
                </a:pPr>
                <a:r>
                  <a:rPr lang="ko-KR" altLang="en-US" sz="1400" b="1" dirty="0">
                    <a:solidFill>
                      <a:schemeClr val="bg1"/>
                    </a:solidFill>
                    <a:latin typeface="Noto Sans CJK KR"/>
                    <a:ea typeface="Noto Sans CJK KR"/>
                  </a:rPr>
                  <a:t>주요 뉴스 </a:t>
                </a:r>
                <a:r>
                  <a:rPr lang="en-US" altLang="ko-KR" sz="1400" b="1" dirty="0">
                    <a:solidFill>
                      <a:schemeClr val="bg1"/>
                    </a:solidFill>
                    <a:latin typeface="Noto Sans CJK KR"/>
                    <a:ea typeface="Noto Sans CJK KR"/>
                  </a:rPr>
                  <a:t>3</a:t>
                </a:r>
                <a:r>
                  <a:rPr lang="ko-KR" altLang="en-US" sz="1400" b="1" dirty="0">
                    <a:solidFill>
                      <a:schemeClr val="bg1"/>
                    </a:solidFill>
                    <a:latin typeface="Noto Sans CJK KR"/>
                    <a:ea typeface="Noto Sans CJK KR"/>
                  </a:rPr>
                  <a:t>건 요약</a:t>
                </a:r>
                <a:endParaRPr lang="en-US" altLang="ko-KR" sz="1400" b="1" dirty="0">
                  <a:solidFill>
                    <a:schemeClr val="bg1"/>
                  </a:solidFill>
                  <a:latin typeface="Noto Sans CJK KR"/>
                  <a:ea typeface="Noto Sans CJK KR"/>
                </a:endParaRPr>
              </a:p>
              <a:p>
                <a:pPr marL="285750" indent="-285750" defTabSz="914400">
                  <a:lnSpc>
                    <a:spcPct val="100000"/>
                  </a:lnSpc>
                  <a:buFont typeface="Wingdings" panose="05000000000000000000" pitchFamily="2" charset="2"/>
                  <a:buChar char="§"/>
                  <a:tabLst>
                    <a:tab pos="0" algn="l"/>
                  </a:tabLst>
                  <a:defRPr/>
                </a:pPr>
                <a:endParaRPr lang="en-US" altLang="ko-KR" sz="1400" b="1" dirty="0">
                  <a:solidFill>
                    <a:schemeClr val="bg1"/>
                  </a:solidFill>
                  <a:latin typeface="Noto Sans CJK KR"/>
                  <a:ea typeface="Noto Sans CJK KR"/>
                </a:endParaRPr>
              </a:p>
              <a:p>
                <a:pPr marL="285750" indent="-285750" defTabSz="914400">
                  <a:lnSpc>
                    <a:spcPct val="100000"/>
                  </a:lnSpc>
                  <a:buFont typeface="Wingdings" panose="05000000000000000000" pitchFamily="2" charset="2"/>
                  <a:buChar char="§"/>
                  <a:tabLst>
                    <a:tab pos="0" algn="l"/>
                  </a:tabLst>
                  <a:defRPr/>
                </a:pPr>
                <a:r>
                  <a:rPr lang="ko-KR" altLang="en-US" sz="1400" b="1" dirty="0">
                    <a:solidFill>
                      <a:schemeClr val="bg1"/>
                    </a:solidFill>
                    <a:latin typeface="Noto Sans CJK KR"/>
                    <a:ea typeface="Noto Sans CJK KR"/>
                  </a:rPr>
                  <a:t>옷차림 추천</a:t>
                </a:r>
                <a:endParaRPr lang="en-US" altLang="ko-KR" sz="1400" b="1" dirty="0">
                  <a:solidFill>
                    <a:schemeClr val="bg1"/>
                  </a:solidFill>
                  <a:latin typeface="Noto Sans CJK KR"/>
                  <a:ea typeface="Noto Sans CJK KR"/>
                </a:endParaRPr>
              </a:p>
              <a:p>
                <a:pPr marL="285750" indent="-285750" defTabSz="914400">
                  <a:lnSpc>
                    <a:spcPct val="100000"/>
                  </a:lnSpc>
                  <a:buFont typeface="Wingdings" panose="05000000000000000000" pitchFamily="2" charset="2"/>
                  <a:buChar char="§"/>
                  <a:tabLst>
                    <a:tab pos="0" algn="l"/>
                  </a:tabLst>
                  <a:defRPr/>
                </a:pPr>
                <a:endParaRPr lang="en-US" altLang="ko-KR" sz="1400" b="1" dirty="0">
                  <a:solidFill>
                    <a:schemeClr val="bg1"/>
                  </a:solidFill>
                  <a:latin typeface="Noto Sans CJK KR"/>
                  <a:ea typeface="Noto Sans CJK KR"/>
                </a:endParaRPr>
              </a:p>
              <a:p>
                <a:pPr marL="285750" indent="-285750" defTabSz="914400">
                  <a:lnSpc>
                    <a:spcPct val="100000"/>
                  </a:lnSpc>
                  <a:buFont typeface="Wingdings" panose="05000000000000000000" pitchFamily="2" charset="2"/>
                  <a:buChar char="§"/>
                  <a:tabLst>
                    <a:tab pos="0" algn="l"/>
                  </a:tabLst>
                  <a:defRPr/>
                </a:pPr>
                <a:r>
                  <a:rPr lang="ko-KR" altLang="en-US" sz="1400" b="1" dirty="0">
                    <a:solidFill>
                      <a:schemeClr val="bg1"/>
                    </a:solidFill>
                    <a:latin typeface="Noto Sans CJK KR"/>
                    <a:ea typeface="Noto Sans CJK KR"/>
                  </a:rPr>
                  <a:t>오늘의 한 마디</a:t>
                </a:r>
                <a:endParaRPr lang="en-US" altLang="ko-KR" sz="1400" b="1" dirty="0">
                  <a:solidFill>
                    <a:schemeClr val="bg1"/>
                  </a:solidFill>
                  <a:latin typeface="Noto Sans CJK KR"/>
                  <a:ea typeface="Noto Sans CJK KR"/>
                </a:endParaRPr>
              </a:p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altLang="ko-KR" sz="1400" b="1" dirty="0">
                  <a:solidFill>
                    <a:schemeClr val="bg1"/>
                  </a:solidFill>
                  <a:latin typeface="Noto Sans CJK KR"/>
                </a:endParaRPr>
              </a:p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altLang="ko-KR" sz="1400" b="1" u="none" strike="noStrike" dirty="0">
                  <a:solidFill>
                    <a:schemeClr val="bg1"/>
                  </a:solidFill>
                  <a:effectLst/>
                  <a:uFillTx/>
                  <a:latin typeface="Noto Sans CJK KR"/>
                </a:endParaRPr>
              </a:p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altLang="ko-KR" sz="1400" b="1" dirty="0">
                  <a:solidFill>
                    <a:schemeClr val="bg1"/>
                  </a:solidFill>
                  <a:latin typeface="Noto Sans CJK KR"/>
                </a:endParaRPr>
              </a:p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altLang="ko-KR" sz="1400" b="1" u="none" strike="noStrike" dirty="0">
                  <a:solidFill>
                    <a:schemeClr val="bg1"/>
                  </a:solidFill>
                  <a:effectLst/>
                  <a:uFillTx/>
                  <a:latin typeface="Noto Sans CJK KR"/>
                </a:endParaRPr>
              </a:p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altLang="ko-KR" sz="1400" b="1" dirty="0">
                  <a:solidFill>
                    <a:schemeClr val="bg1"/>
                  </a:solidFill>
                  <a:latin typeface="Noto Sans CJK KR"/>
                </a:endParaRPr>
              </a:p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altLang="ko-KR" sz="1400" b="1" u="none" strike="noStrike" dirty="0">
                  <a:solidFill>
                    <a:schemeClr val="bg1"/>
                  </a:solidFill>
                  <a:effectLst/>
                  <a:uFillTx/>
                  <a:latin typeface="Noto Sans CJK KR"/>
                </a:endParaRPr>
              </a:p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altLang="ko-KR" sz="1400" b="1" dirty="0">
                  <a:solidFill>
                    <a:schemeClr val="bg1"/>
                  </a:solidFill>
                  <a:latin typeface="Noto Sans CJK KR"/>
                </a:endParaRPr>
              </a:p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altLang="ko-KR" sz="1400" b="1" u="none" strike="noStrike" dirty="0">
                  <a:solidFill>
                    <a:schemeClr val="bg1"/>
                  </a:solidFill>
                  <a:effectLst/>
                  <a:uFillTx/>
                  <a:latin typeface="Noto Sans CJK KR"/>
                </a:endParaRPr>
              </a:p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altLang="ko-KR" sz="1400" b="1" u="none" strike="noStrike" dirty="0">
                  <a:solidFill>
                    <a:schemeClr val="bg1"/>
                  </a:solidFill>
                  <a:effectLst/>
                  <a:uFillTx/>
                  <a:latin typeface="Noto Sans CJK KR"/>
                </a:endParaRPr>
              </a:p>
            </p:txBody>
          </p:sp>
          <p:sp>
            <p:nvSpPr>
              <p:cNvPr id="32" name="Text 3">
                <a:extLst>
                  <a:ext uri="{FF2B5EF4-FFF2-40B4-BE49-F238E27FC236}">
                    <a16:creationId xmlns:a16="http://schemas.microsoft.com/office/drawing/2014/main" id="{C75F1C8F-A712-40D6-9BDA-8B62586AE642}"/>
                  </a:ext>
                </a:extLst>
              </p:cNvPr>
              <p:cNvSpPr/>
              <p:nvPr/>
            </p:nvSpPr>
            <p:spPr>
              <a:xfrm>
                <a:off x="2657475" y="1475904"/>
                <a:ext cx="704098" cy="88932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" tIns="396" rIns="396" bIns="396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r>
                  <a:rPr lang="ko-KR" altLang="en-US" sz="1100" b="1" dirty="0">
                    <a:solidFill>
                      <a:srgbClr val="808081"/>
                    </a:solidFill>
                    <a:latin typeface="Noto Sans CJK KR"/>
                    <a:ea typeface="Noto Sans CJK KR"/>
                  </a:rPr>
                  <a:t>오전 </a:t>
                </a:r>
                <a:r>
                  <a:rPr lang="en-US" altLang="ko-KR" sz="1100" b="1" dirty="0">
                    <a:solidFill>
                      <a:srgbClr val="808081"/>
                    </a:solidFill>
                    <a:latin typeface="Noto Sans CJK KR"/>
                    <a:ea typeface="Noto Sans CJK KR"/>
                  </a:rPr>
                  <a:t>07:00</a:t>
                </a:r>
                <a:endParaRPr lang="en-US" altLang="ko-KR" sz="1100" b="0" u="none" strike="noStrike" dirty="0">
                  <a:solidFill>
                    <a:srgbClr val="80808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" name="화살표: 오른쪽 8">
              <a:extLst>
                <a:ext uri="{FF2B5EF4-FFF2-40B4-BE49-F238E27FC236}">
                  <a16:creationId xmlns:a16="http://schemas.microsoft.com/office/drawing/2014/main" id="{143C42A3-497B-472D-AE18-6C41573E45EB}"/>
                </a:ext>
              </a:extLst>
            </p:cNvPr>
            <p:cNvSpPr/>
            <p:nvPr/>
          </p:nvSpPr>
          <p:spPr>
            <a:xfrm>
              <a:off x="4839067" y="2745611"/>
              <a:ext cx="1977315" cy="42516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C9384DC6-F062-47C2-8705-D8D5BE4E0A91}"/>
                </a:ext>
              </a:extLst>
            </p:cNvPr>
            <p:cNvGrpSpPr/>
            <p:nvPr/>
          </p:nvGrpSpPr>
          <p:grpSpPr>
            <a:xfrm>
              <a:off x="7688399" y="1657350"/>
              <a:ext cx="3700350" cy="4450410"/>
              <a:chOff x="276225" y="1170389"/>
              <a:chExt cx="3700350" cy="4450410"/>
            </a:xfrm>
          </p:grpSpPr>
          <p:sp>
            <p:nvSpPr>
              <p:cNvPr id="53" name="사각형: 둥근 모서리 52">
                <a:extLst>
                  <a:ext uri="{FF2B5EF4-FFF2-40B4-BE49-F238E27FC236}">
                    <a16:creationId xmlns:a16="http://schemas.microsoft.com/office/drawing/2014/main" id="{5E86DD36-1AC1-45DD-8FED-C77D8186BB16}"/>
                  </a:ext>
                </a:extLst>
              </p:cNvPr>
              <p:cNvSpPr/>
              <p:nvPr/>
            </p:nvSpPr>
            <p:spPr>
              <a:xfrm>
                <a:off x="276225" y="1170389"/>
                <a:ext cx="3700350" cy="2895427"/>
              </a:xfrm>
              <a:prstGeom prst="roundRect">
                <a:avLst/>
              </a:prstGeom>
              <a:solidFill>
                <a:srgbClr val="1A1A1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54" name="그림 53">
                <a:extLst>
                  <a:ext uri="{FF2B5EF4-FFF2-40B4-BE49-F238E27FC236}">
                    <a16:creationId xmlns:a16="http://schemas.microsoft.com/office/drawing/2014/main" id="{1208C184-68D5-4ED5-86F7-8ACBF5DBB8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2180" y="1373527"/>
                <a:ext cx="626895" cy="626895"/>
              </a:xfrm>
              <a:prstGeom prst="rect">
                <a:avLst/>
              </a:prstGeom>
            </p:spPr>
          </p:pic>
          <p:sp>
            <p:nvSpPr>
              <p:cNvPr id="55" name="Text 3">
                <a:extLst>
                  <a:ext uri="{FF2B5EF4-FFF2-40B4-BE49-F238E27FC236}">
                    <a16:creationId xmlns:a16="http://schemas.microsoft.com/office/drawing/2014/main" id="{9BAA794B-0DB6-4A9B-9A17-90FCC133F40F}"/>
                  </a:ext>
                </a:extLst>
              </p:cNvPr>
              <p:cNvSpPr/>
              <p:nvPr/>
            </p:nvSpPr>
            <p:spPr>
              <a:xfrm>
                <a:off x="828591" y="1456354"/>
                <a:ext cx="2196571" cy="105947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" tIns="396" rIns="396" bIns="396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r>
                  <a:rPr lang="ko-KR" altLang="en-US" sz="1400" b="1" dirty="0">
                    <a:solidFill>
                      <a:schemeClr val="bg1"/>
                    </a:solidFill>
                    <a:latin typeface="Noto Sans CJK KR"/>
                    <a:ea typeface="Noto Sans CJK KR"/>
                  </a:rPr>
                  <a:t>데일리 리포트 </a:t>
                </a:r>
                <a:r>
                  <a:rPr lang="en-US" altLang="ko-KR" sz="1400" b="1" dirty="0">
                    <a:solidFill>
                      <a:schemeClr val="bg1"/>
                    </a:solidFill>
                    <a:latin typeface="Noto Sans CJK KR"/>
                    <a:ea typeface="Noto Sans CJK KR"/>
                  </a:rPr>
                  <a:t>AI</a:t>
                </a:r>
                <a:endParaRPr lang="en-US" altLang="ko-KR" sz="1400" b="0" u="none" strike="noStrike" dirty="0">
                  <a:solidFill>
                    <a:schemeClr val="bg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Text 3">
                <a:extLst>
                  <a:ext uri="{FF2B5EF4-FFF2-40B4-BE49-F238E27FC236}">
                    <a16:creationId xmlns:a16="http://schemas.microsoft.com/office/drawing/2014/main" id="{F9534714-4159-49A0-BEE1-9D8C53E15AF1}"/>
                  </a:ext>
                </a:extLst>
              </p:cNvPr>
              <p:cNvSpPr/>
              <p:nvPr/>
            </p:nvSpPr>
            <p:spPr>
              <a:xfrm>
                <a:off x="1258830" y="1697550"/>
                <a:ext cx="2386125" cy="3923249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" tIns="396" rIns="396" bIns="396" anchor="ctr">
                <a:noAutofit/>
              </a:bodyPr>
              <a:lstStyle/>
              <a:p>
                <a:pPr marL="285750" indent="-285750" defTabSz="914400">
                  <a:lnSpc>
                    <a:spcPct val="100000"/>
                  </a:lnSpc>
                  <a:buFont typeface="Wingdings" panose="05000000000000000000" pitchFamily="2" charset="2"/>
                  <a:buChar char="§"/>
                  <a:tabLst>
                    <a:tab pos="0" algn="l"/>
                  </a:tabLst>
                  <a:defRPr/>
                </a:pPr>
                <a:r>
                  <a:rPr lang="ko-KR" altLang="en-US" sz="1400" b="1" strike="sngStrike" dirty="0">
                    <a:solidFill>
                      <a:schemeClr val="bg1">
                        <a:lumMod val="65000"/>
                      </a:schemeClr>
                    </a:solidFill>
                    <a:latin typeface="Noto Sans CJK KR"/>
                    <a:ea typeface="Noto Sans CJK KR"/>
                  </a:rPr>
                  <a:t>날씨정보</a:t>
                </a:r>
                <a:endParaRPr lang="en-US" altLang="ko-KR" sz="1400" b="1" strike="sngStrike" dirty="0">
                  <a:solidFill>
                    <a:schemeClr val="bg1">
                      <a:lumMod val="65000"/>
                    </a:schemeClr>
                  </a:solidFill>
                  <a:latin typeface="Noto Sans CJK KR"/>
                  <a:ea typeface="Noto Sans CJK KR"/>
                </a:endParaRPr>
              </a:p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altLang="ko-KR" sz="1400" b="1" dirty="0">
                  <a:solidFill>
                    <a:schemeClr val="bg1"/>
                  </a:solidFill>
                  <a:latin typeface="Noto Sans CJK KR"/>
                  <a:ea typeface="Noto Sans CJK KR"/>
                </a:endParaRPr>
              </a:p>
              <a:p>
                <a:pPr marL="285750" indent="-285750" defTabSz="914400">
                  <a:lnSpc>
                    <a:spcPct val="100000"/>
                  </a:lnSpc>
                  <a:buFont typeface="Wingdings" panose="05000000000000000000" pitchFamily="2" charset="2"/>
                  <a:buChar char="§"/>
                  <a:tabLst>
                    <a:tab pos="0" algn="l"/>
                  </a:tabLst>
                  <a:defRPr/>
                </a:pPr>
                <a:r>
                  <a:rPr lang="ko-KR" altLang="en-US" sz="1400" b="1" dirty="0">
                    <a:solidFill>
                      <a:schemeClr val="bg1"/>
                    </a:solidFill>
                    <a:latin typeface="Noto Sans CJK KR"/>
                    <a:ea typeface="Noto Sans CJK KR"/>
                  </a:rPr>
                  <a:t>미세먼지 등급</a:t>
                </a:r>
                <a:endParaRPr lang="en-US" altLang="ko-KR" sz="1400" b="1" dirty="0">
                  <a:solidFill>
                    <a:schemeClr val="bg1"/>
                  </a:solidFill>
                  <a:latin typeface="Noto Sans CJK KR"/>
                  <a:ea typeface="Noto Sans CJK KR"/>
                </a:endParaRPr>
              </a:p>
              <a:p>
                <a:pPr marL="285750" indent="-285750" defTabSz="914400">
                  <a:lnSpc>
                    <a:spcPct val="100000"/>
                  </a:lnSpc>
                  <a:buFont typeface="Wingdings" panose="05000000000000000000" pitchFamily="2" charset="2"/>
                  <a:buChar char="§"/>
                  <a:tabLst>
                    <a:tab pos="0" algn="l"/>
                  </a:tabLst>
                  <a:defRPr/>
                </a:pPr>
                <a:endParaRPr lang="en-US" altLang="ko-KR" sz="1400" b="1" dirty="0">
                  <a:solidFill>
                    <a:schemeClr val="bg1"/>
                  </a:solidFill>
                  <a:latin typeface="Noto Sans CJK KR"/>
                  <a:ea typeface="Noto Sans CJK KR"/>
                </a:endParaRPr>
              </a:p>
              <a:p>
                <a:pPr marL="285750" indent="-285750" defTabSz="914400">
                  <a:lnSpc>
                    <a:spcPct val="100000"/>
                  </a:lnSpc>
                  <a:buFont typeface="Wingdings" panose="05000000000000000000" pitchFamily="2" charset="2"/>
                  <a:buChar char="§"/>
                  <a:tabLst>
                    <a:tab pos="0" algn="l"/>
                  </a:tabLst>
                  <a:defRPr/>
                </a:pPr>
                <a:r>
                  <a:rPr lang="ko-KR" altLang="en-US" sz="1400" b="1" dirty="0">
                    <a:solidFill>
                      <a:schemeClr val="bg1"/>
                    </a:solidFill>
                    <a:latin typeface="Noto Sans CJK KR"/>
                    <a:ea typeface="Noto Sans CJK KR"/>
                  </a:rPr>
                  <a:t>주요 </a:t>
                </a:r>
                <a:r>
                  <a:rPr lang="en-US" altLang="ko-KR" sz="1600" b="1" dirty="0">
                    <a:solidFill>
                      <a:srgbClr val="00B0F0"/>
                    </a:solidFill>
                    <a:latin typeface="Noto Sans CJK KR"/>
                    <a:ea typeface="Noto Sans CJK KR"/>
                  </a:rPr>
                  <a:t>IT</a:t>
                </a:r>
                <a:r>
                  <a:rPr lang="ko-KR" altLang="en-US" sz="1400" b="1" dirty="0">
                    <a:solidFill>
                      <a:srgbClr val="00B0F0"/>
                    </a:solidFill>
                    <a:latin typeface="Noto Sans CJK KR"/>
                    <a:ea typeface="Noto Sans CJK KR"/>
                  </a:rPr>
                  <a:t> </a:t>
                </a:r>
                <a:r>
                  <a:rPr lang="ko-KR" altLang="en-US" sz="1400" b="1" dirty="0">
                    <a:solidFill>
                      <a:schemeClr val="bg1"/>
                    </a:solidFill>
                    <a:latin typeface="Noto Sans CJK KR"/>
                    <a:ea typeface="Noto Sans CJK KR"/>
                  </a:rPr>
                  <a:t>뉴스 </a:t>
                </a:r>
                <a:r>
                  <a:rPr lang="en-US" altLang="ko-KR" sz="1400" b="1" dirty="0">
                    <a:solidFill>
                      <a:schemeClr val="bg1"/>
                    </a:solidFill>
                    <a:latin typeface="Noto Sans CJK KR"/>
                    <a:ea typeface="Noto Sans CJK KR"/>
                  </a:rPr>
                  <a:t>3</a:t>
                </a:r>
                <a:r>
                  <a:rPr lang="ko-KR" altLang="en-US" sz="1400" b="1" dirty="0">
                    <a:solidFill>
                      <a:schemeClr val="bg1"/>
                    </a:solidFill>
                    <a:latin typeface="Noto Sans CJK KR"/>
                    <a:ea typeface="Noto Sans CJK KR"/>
                  </a:rPr>
                  <a:t>건 요약</a:t>
                </a:r>
                <a:endParaRPr lang="en-US" altLang="ko-KR" sz="1400" b="1" dirty="0">
                  <a:solidFill>
                    <a:schemeClr val="bg1"/>
                  </a:solidFill>
                  <a:latin typeface="Noto Sans CJK KR"/>
                  <a:ea typeface="Noto Sans CJK KR"/>
                </a:endParaRPr>
              </a:p>
              <a:p>
                <a:pPr marL="285750" indent="-285750" defTabSz="914400">
                  <a:lnSpc>
                    <a:spcPct val="100000"/>
                  </a:lnSpc>
                  <a:buFont typeface="Wingdings" panose="05000000000000000000" pitchFamily="2" charset="2"/>
                  <a:buChar char="§"/>
                  <a:tabLst>
                    <a:tab pos="0" algn="l"/>
                  </a:tabLst>
                  <a:defRPr/>
                </a:pPr>
                <a:endParaRPr lang="en-US" altLang="ko-KR" sz="1400" b="1" dirty="0">
                  <a:solidFill>
                    <a:schemeClr val="bg1"/>
                  </a:solidFill>
                  <a:latin typeface="Noto Sans CJK KR"/>
                  <a:ea typeface="Noto Sans CJK KR"/>
                </a:endParaRPr>
              </a:p>
              <a:p>
                <a:pPr marL="285750" indent="-285750" defTabSz="914400">
                  <a:lnSpc>
                    <a:spcPct val="100000"/>
                  </a:lnSpc>
                  <a:buFont typeface="Wingdings" panose="05000000000000000000" pitchFamily="2" charset="2"/>
                  <a:buChar char="§"/>
                  <a:tabLst>
                    <a:tab pos="0" algn="l"/>
                  </a:tabLst>
                  <a:defRPr/>
                </a:pPr>
                <a:r>
                  <a:rPr lang="ko-KR" altLang="en-US" sz="1400" b="1" dirty="0">
                    <a:solidFill>
                      <a:schemeClr val="bg1"/>
                    </a:solidFill>
                    <a:latin typeface="Noto Sans CJK KR"/>
                    <a:ea typeface="Noto Sans CJK KR"/>
                  </a:rPr>
                  <a:t>옷차림 추천</a:t>
                </a:r>
                <a:endParaRPr lang="en-US" altLang="ko-KR" sz="1400" b="1" dirty="0">
                  <a:solidFill>
                    <a:schemeClr val="bg1"/>
                  </a:solidFill>
                  <a:latin typeface="Noto Sans CJK KR"/>
                  <a:ea typeface="Noto Sans CJK KR"/>
                </a:endParaRPr>
              </a:p>
              <a:p>
                <a:pPr marL="285750" indent="-285750" defTabSz="914400">
                  <a:lnSpc>
                    <a:spcPct val="100000"/>
                  </a:lnSpc>
                  <a:buFont typeface="Wingdings" panose="05000000000000000000" pitchFamily="2" charset="2"/>
                  <a:buChar char="§"/>
                  <a:tabLst>
                    <a:tab pos="0" algn="l"/>
                  </a:tabLst>
                  <a:defRPr/>
                </a:pPr>
                <a:endParaRPr lang="en-US" altLang="ko-KR" sz="1400" b="1" dirty="0">
                  <a:solidFill>
                    <a:schemeClr val="bg1"/>
                  </a:solidFill>
                  <a:latin typeface="Noto Sans CJK KR"/>
                  <a:ea typeface="Noto Sans CJK KR"/>
                </a:endParaRPr>
              </a:p>
              <a:p>
                <a:pPr marL="285750" indent="-285750" defTabSz="914400">
                  <a:lnSpc>
                    <a:spcPct val="100000"/>
                  </a:lnSpc>
                  <a:buFont typeface="Wingdings" panose="05000000000000000000" pitchFamily="2" charset="2"/>
                  <a:buChar char="§"/>
                  <a:tabLst>
                    <a:tab pos="0" algn="l"/>
                  </a:tabLst>
                  <a:defRPr/>
                </a:pPr>
                <a:r>
                  <a:rPr lang="ko-KR" altLang="en-US" sz="1400" b="1" dirty="0">
                    <a:solidFill>
                      <a:schemeClr val="bg1"/>
                    </a:solidFill>
                    <a:latin typeface="Noto Sans CJK KR"/>
                    <a:ea typeface="Noto Sans CJK KR"/>
                  </a:rPr>
                  <a:t>오늘의 한 마디</a:t>
                </a:r>
                <a:endParaRPr lang="en-US" altLang="ko-KR" sz="1400" b="1" dirty="0">
                  <a:solidFill>
                    <a:schemeClr val="bg1"/>
                  </a:solidFill>
                  <a:latin typeface="Noto Sans CJK KR"/>
                  <a:ea typeface="Noto Sans CJK KR"/>
                </a:endParaRPr>
              </a:p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altLang="ko-KR" sz="1400" b="1" dirty="0">
                  <a:solidFill>
                    <a:schemeClr val="bg1"/>
                  </a:solidFill>
                  <a:latin typeface="Noto Sans CJK KR"/>
                </a:endParaRPr>
              </a:p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altLang="ko-KR" sz="1400" b="1" u="none" strike="noStrike" dirty="0">
                  <a:solidFill>
                    <a:schemeClr val="bg1"/>
                  </a:solidFill>
                  <a:effectLst/>
                  <a:uFillTx/>
                  <a:latin typeface="Noto Sans CJK KR"/>
                </a:endParaRPr>
              </a:p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altLang="ko-KR" sz="1400" b="1" dirty="0">
                  <a:solidFill>
                    <a:schemeClr val="bg1"/>
                  </a:solidFill>
                  <a:latin typeface="Noto Sans CJK KR"/>
                </a:endParaRPr>
              </a:p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altLang="ko-KR" sz="1400" b="1" u="none" strike="noStrike" dirty="0">
                  <a:solidFill>
                    <a:schemeClr val="bg1"/>
                  </a:solidFill>
                  <a:effectLst/>
                  <a:uFillTx/>
                  <a:latin typeface="Noto Sans CJK KR"/>
                </a:endParaRPr>
              </a:p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altLang="ko-KR" sz="1400" b="1" dirty="0">
                  <a:solidFill>
                    <a:schemeClr val="bg1"/>
                  </a:solidFill>
                  <a:latin typeface="Noto Sans CJK KR"/>
                </a:endParaRPr>
              </a:p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altLang="ko-KR" sz="1400" b="1" u="none" strike="noStrike" dirty="0">
                  <a:solidFill>
                    <a:schemeClr val="bg1"/>
                  </a:solidFill>
                  <a:effectLst/>
                  <a:uFillTx/>
                  <a:latin typeface="Noto Sans CJK KR"/>
                </a:endParaRPr>
              </a:p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altLang="ko-KR" sz="1400" b="1" dirty="0">
                  <a:solidFill>
                    <a:schemeClr val="bg1"/>
                  </a:solidFill>
                  <a:latin typeface="Noto Sans CJK KR"/>
                </a:endParaRPr>
              </a:p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altLang="ko-KR" sz="1400" b="1" u="none" strike="noStrike" dirty="0">
                  <a:solidFill>
                    <a:schemeClr val="bg1"/>
                  </a:solidFill>
                  <a:effectLst/>
                  <a:uFillTx/>
                  <a:latin typeface="Noto Sans CJK KR"/>
                </a:endParaRPr>
              </a:p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altLang="ko-KR" sz="1400" b="1" u="none" strike="noStrike" dirty="0">
                  <a:solidFill>
                    <a:schemeClr val="bg1"/>
                  </a:solidFill>
                  <a:effectLst/>
                  <a:uFillTx/>
                  <a:latin typeface="Noto Sans CJK KR"/>
                </a:endParaRPr>
              </a:p>
            </p:txBody>
          </p:sp>
          <p:sp>
            <p:nvSpPr>
              <p:cNvPr id="57" name="Text 3">
                <a:extLst>
                  <a:ext uri="{FF2B5EF4-FFF2-40B4-BE49-F238E27FC236}">
                    <a16:creationId xmlns:a16="http://schemas.microsoft.com/office/drawing/2014/main" id="{E1C7E946-3E21-4956-A0CC-30C5E65121EB}"/>
                  </a:ext>
                </a:extLst>
              </p:cNvPr>
              <p:cNvSpPr/>
              <p:nvPr/>
            </p:nvSpPr>
            <p:spPr>
              <a:xfrm>
                <a:off x="2657475" y="1475904"/>
                <a:ext cx="704098" cy="88932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" tIns="396" rIns="396" bIns="396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r>
                  <a:rPr lang="ko-KR" altLang="en-US" sz="1100" b="1" dirty="0">
                    <a:solidFill>
                      <a:srgbClr val="808081"/>
                    </a:solidFill>
                    <a:latin typeface="Noto Sans CJK KR"/>
                    <a:ea typeface="Noto Sans CJK KR"/>
                  </a:rPr>
                  <a:t>오전 </a:t>
                </a:r>
                <a:r>
                  <a:rPr lang="en-US" altLang="ko-KR" sz="1100" b="1" dirty="0">
                    <a:solidFill>
                      <a:srgbClr val="808081"/>
                    </a:solidFill>
                    <a:latin typeface="Noto Sans CJK KR"/>
                    <a:ea typeface="Noto Sans CJK KR"/>
                  </a:rPr>
                  <a:t>07:00</a:t>
                </a:r>
                <a:endParaRPr lang="en-US" altLang="ko-KR" sz="1100" b="0" u="none" strike="noStrike" dirty="0">
                  <a:solidFill>
                    <a:srgbClr val="80808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9" name="Text 7">
            <a:extLst>
              <a:ext uri="{FF2B5EF4-FFF2-40B4-BE49-F238E27FC236}">
                <a16:creationId xmlns:a16="http://schemas.microsoft.com/office/drawing/2014/main" id="{7EC0CFCB-64ED-4821-93A6-594C0A053C86}"/>
              </a:ext>
            </a:extLst>
          </p:cNvPr>
          <p:cNvSpPr/>
          <p:nvPr/>
        </p:nvSpPr>
        <p:spPr>
          <a:xfrm>
            <a:off x="5107342" y="2541131"/>
            <a:ext cx="1977315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0F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96" tIns="396" rIns="396" bIns="396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altLang="zh-CN" sz="14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/</a:t>
            </a:r>
            <a:r>
              <a:rPr lang="ko-KR" altLang="en-US" sz="14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설정 </a:t>
            </a:r>
            <a:r>
              <a:rPr lang="ko-KR" altLang="en-US" sz="1400" b="1" u="none" strike="noStrike" dirty="0" err="1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뉴스카테고리</a:t>
            </a:r>
            <a:r>
              <a:rPr lang="ko-KR" altLang="en-US" sz="14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 </a:t>
            </a:r>
            <a:r>
              <a:rPr lang="en-US" altLang="ko-KR" sz="14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IT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9458CB4A-A214-4433-AD6F-EF1644A2AB10}"/>
              </a:ext>
            </a:extLst>
          </p:cNvPr>
          <p:cNvSpPr/>
          <p:nvPr/>
        </p:nvSpPr>
        <p:spPr>
          <a:xfrm>
            <a:off x="5107341" y="3806531"/>
            <a:ext cx="1977315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0F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96" tIns="396" rIns="396" bIns="396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altLang="zh-CN" sz="14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/</a:t>
            </a:r>
            <a:r>
              <a:rPr lang="ko-KR" altLang="en-US" sz="14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설정 항목 날씨 </a:t>
            </a:r>
            <a:r>
              <a:rPr lang="en-US" altLang="ko-KR" sz="1400" b="1" dirty="0">
                <a:solidFill>
                  <a:srgbClr val="102033"/>
                </a:solidFill>
                <a:latin typeface="Noto Sans CJK KR"/>
                <a:ea typeface="Noto Sans CJK KR"/>
              </a:rPr>
              <a:t>OFF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5827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 0"/>
          <p:cNvSpPr/>
          <p:nvPr/>
        </p:nvSpPr>
        <p:spPr>
          <a:xfrm>
            <a:off x="530279" y="329040"/>
            <a:ext cx="2174009" cy="25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1" u="none" strike="noStrike" dirty="0">
                <a:solidFill>
                  <a:srgbClr val="2775EA"/>
                </a:solidFill>
                <a:effectLst/>
                <a:uFillTx/>
                <a:latin typeface="Noto Sans CJK KR"/>
                <a:ea typeface="Noto Sans CJK KR"/>
              </a:rPr>
              <a:t>08-2 </a:t>
            </a:r>
            <a:r>
              <a:rPr lang="ko-KR" altLang="en-US" sz="1400" b="1" u="none" strike="noStrike" dirty="0">
                <a:solidFill>
                  <a:srgbClr val="2775EA"/>
                </a:solidFill>
                <a:effectLst/>
                <a:uFillTx/>
                <a:latin typeface="Noto Sans CJK KR"/>
                <a:ea typeface="Noto Sans CJK KR"/>
              </a:rPr>
              <a:t>개인화 설정 구조 계획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"/>
          <p:cNvSpPr/>
          <p:nvPr/>
        </p:nvSpPr>
        <p:spPr>
          <a:xfrm>
            <a:off x="530280" y="58536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28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사용자별 설정 관리 구조</a:t>
            </a:r>
            <a:r>
              <a:rPr lang="en-US" altLang="zh-CN" sz="28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 </a:t>
            </a:r>
            <a:endParaRPr lang="en-US" sz="2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"/>
          <p:cNvSpPr/>
          <p:nvPr/>
        </p:nvSpPr>
        <p:spPr>
          <a:xfrm>
            <a:off x="548640" y="1024200"/>
            <a:ext cx="10515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25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현재 </a:t>
            </a:r>
            <a:r>
              <a:rPr lang="en-US" sz="125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users </a:t>
            </a:r>
            <a:r>
              <a:rPr lang="zh-CN" sz="125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구조를 확장하면 뉴스 카테고리와 항목 </a:t>
            </a:r>
            <a:r>
              <a:rPr lang="en-US" sz="125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on/off</a:t>
            </a:r>
            <a:r>
              <a:rPr lang="zh-CN" sz="125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까지 한 곳에서 관리</a:t>
            </a:r>
            <a:r>
              <a:rPr lang="en-US" altLang="zh-CN" sz="125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 </a:t>
            </a:r>
            <a:r>
              <a:rPr lang="ko-KR" altLang="en-US" sz="125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가능</a:t>
            </a:r>
            <a:r>
              <a:rPr lang="en-US" sz="125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3"/>
          <p:cNvSpPr/>
          <p:nvPr/>
        </p:nvSpPr>
        <p:spPr>
          <a:xfrm>
            <a:off x="868680" y="1874520"/>
            <a:ext cx="129816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0F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96" tIns="396" rIns="396" bIns="396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50" u="none" strike="noStrike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Discord</a:t>
            </a:r>
            <a:endParaRPr lang="en-US" sz="95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50" u="none" strike="noStrike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User ID</a:t>
            </a:r>
            <a:endParaRPr lang="en-US" sz="95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4"/>
          <p:cNvSpPr/>
          <p:nvPr/>
        </p:nvSpPr>
        <p:spPr>
          <a:xfrm>
            <a:off x="2304000" y="2212560"/>
            <a:ext cx="667800" cy="360"/>
          </a:xfrm>
          <a:prstGeom prst="line">
            <a:avLst/>
          </a:prstGeom>
          <a:ln w="15240">
            <a:solidFill>
              <a:srgbClr val="AFC3D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500" tIns="-24552" rIns="49500" bIns="-24552" anchor="t" anchorCtr="1">
            <a:noAutofit/>
          </a:bodyPr>
          <a:lstStyle/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5"/>
          <p:cNvSpPr/>
          <p:nvPr/>
        </p:nvSpPr>
        <p:spPr>
          <a:xfrm>
            <a:off x="3127320" y="1874520"/>
            <a:ext cx="1691280" cy="685440"/>
          </a:xfrm>
          <a:prstGeom prst="rect">
            <a:avLst/>
          </a:prstGeom>
          <a:solidFill>
            <a:srgbClr val="172B85"/>
          </a:solidFill>
          <a:ln w="12700">
            <a:solidFill>
              <a:srgbClr val="172B8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96" tIns="396" rIns="396" bIns="396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600" b="1" u="none" strike="noStrike" dirty="0" err="1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config.</a:t>
            </a:r>
            <a:r>
              <a:rPr lang="en-US" sz="1600" b="1" dirty="0" err="1">
                <a:solidFill>
                  <a:srgbClr val="FFFFFF"/>
                </a:solidFill>
                <a:latin typeface="Noto Sans CJK KR"/>
                <a:ea typeface="Noto Sans CJK KR"/>
              </a:rPr>
              <a:t>json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6"/>
          <p:cNvSpPr/>
          <p:nvPr/>
        </p:nvSpPr>
        <p:spPr>
          <a:xfrm>
            <a:off x="4983480" y="2212560"/>
            <a:ext cx="640080" cy="360"/>
          </a:xfrm>
          <a:prstGeom prst="line">
            <a:avLst/>
          </a:prstGeom>
          <a:ln w="15240">
            <a:solidFill>
              <a:srgbClr val="AFC3D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500" tIns="-24552" rIns="49500" bIns="-24552" anchor="t" anchorCtr="1">
            <a:noAutofit/>
          </a:bodyPr>
          <a:lstStyle/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7"/>
          <p:cNvSpPr/>
          <p:nvPr/>
        </p:nvSpPr>
        <p:spPr>
          <a:xfrm>
            <a:off x="5806440" y="1874520"/>
            <a:ext cx="191988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0F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96" tIns="396" rIns="396" bIns="396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22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지역 </a:t>
            </a:r>
            <a:r>
              <a:rPr lang="en-US" sz="122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· </a:t>
            </a:r>
            <a:r>
              <a:rPr lang="zh-CN" sz="122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관심 뉴스 </a:t>
            </a:r>
            <a:r>
              <a:rPr lang="en-US" sz="122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· </a:t>
            </a: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ko-KR" altLang="en-US" sz="122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활성화</a:t>
            </a:r>
            <a:r>
              <a:rPr lang="en-US" sz="122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 </a:t>
            </a:r>
            <a:r>
              <a:rPr lang="zh-CN" sz="122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항목 설정</a:t>
            </a:r>
            <a:endParaRPr lang="en-US" sz="9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8"/>
          <p:cNvSpPr/>
          <p:nvPr/>
        </p:nvSpPr>
        <p:spPr>
          <a:xfrm>
            <a:off x="7909560" y="2212560"/>
            <a:ext cx="640080" cy="360"/>
          </a:xfrm>
          <a:prstGeom prst="line">
            <a:avLst/>
          </a:prstGeom>
          <a:ln w="15240">
            <a:solidFill>
              <a:srgbClr val="AFC3D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500" tIns="-24552" rIns="49500" bIns="-24552" anchor="t" anchorCtr="1">
            <a:noAutofit/>
          </a:bodyPr>
          <a:lstStyle/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9"/>
          <p:cNvSpPr/>
          <p:nvPr/>
        </p:nvSpPr>
        <p:spPr>
          <a:xfrm>
            <a:off x="8759880" y="1874520"/>
            <a:ext cx="1416960" cy="685440"/>
          </a:xfrm>
          <a:prstGeom prst="rect">
            <a:avLst/>
          </a:prstGeom>
          <a:solidFill>
            <a:srgbClr val="2775EA"/>
          </a:solidFill>
          <a:ln w="12700">
            <a:solidFill>
              <a:srgbClr val="2775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96" tIns="396" rIns="396" bIns="396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250" b="1" u="none" strike="noStrike" dirty="0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맞춤형</a:t>
            </a:r>
            <a:endParaRPr lang="en-US" sz="9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50" b="1" u="none" strike="noStrike" dirty="0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DM </a:t>
            </a:r>
            <a:r>
              <a:rPr lang="zh-CN" sz="1250" b="1" u="none" strike="noStrike" dirty="0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리포트</a:t>
            </a:r>
            <a:endParaRPr lang="en-US" sz="9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0"/>
          <p:cNvSpPr/>
          <p:nvPr/>
        </p:nvSpPr>
        <p:spPr>
          <a:xfrm>
            <a:off x="868680" y="2895337"/>
            <a:ext cx="4845960" cy="3316245"/>
          </a:xfrm>
          <a:prstGeom prst="rect">
            <a:avLst/>
          </a:prstGeom>
          <a:solidFill>
            <a:srgbClr val="101828"/>
          </a:solidFill>
          <a:ln w="0">
            <a:solidFill>
              <a:srgbClr val="10182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88" tIns="1188" rIns="1188" bIns="1188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20" b="0" u="none" strike="noStrike" dirty="0">
                <a:solidFill>
                  <a:srgbClr val="EAF4FF"/>
                </a:solidFill>
                <a:effectLst/>
                <a:uFillTx/>
                <a:latin typeface="Consolas"/>
                <a:ea typeface="Consolas"/>
              </a:rPr>
              <a:t>{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20" b="0" u="none" strike="noStrike" dirty="0">
                <a:solidFill>
                  <a:srgbClr val="EAF4FF"/>
                </a:solidFill>
                <a:effectLst/>
                <a:uFillTx/>
                <a:latin typeface="Consolas"/>
                <a:ea typeface="Consolas"/>
              </a:rPr>
              <a:t>  "</a:t>
            </a:r>
            <a:r>
              <a:rPr lang="en-US" sz="1320" b="0" u="none" strike="noStrike" dirty="0" err="1">
                <a:solidFill>
                  <a:srgbClr val="EAF4FF"/>
                </a:solidFill>
                <a:effectLst/>
                <a:uFillTx/>
                <a:latin typeface="Consolas"/>
                <a:ea typeface="Consolas"/>
              </a:rPr>
              <a:t>briefing_time</a:t>
            </a:r>
            <a:r>
              <a:rPr lang="en-US" sz="1320" b="0" u="none" strike="noStrike" dirty="0">
                <a:solidFill>
                  <a:srgbClr val="EAF4FF"/>
                </a:solidFill>
                <a:effectLst/>
                <a:uFillTx/>
                <a:latin typeface="Consolas"/>
                <a:ea typeface="Consolas"/>
              </a:rPr>
              <a:t>": "07:00",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20" b="0" u="none" strike="noStrike" dirty="0">
                <a:solidFill>
                  <a:srgbClr val="EAF4FF"/>
                </a:solidFill>
                <a:effectLst/>
                <a:uFillTx/>
                <a:latin typeface="Consolas"/>
                <a:ea typeface="Consolas"/>
              </a:rPr>
              <a:t>  "users": {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20" b="0" u="none" strike="noStrike" dirty="0">
                <a:solidFill>
                  <a:srgbClr val="EAF4FF"/>
                </a:solidFill>
                <a:effectLst/>
                <a:uFillTx/>
                <a:latin typeface="Consolas"/>
                <a:ea typeface="Consolas"/>
              </a:rPr>
              <a:t>    “123456789": {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20" b="0" u="none" strike="noStrike" dirty="0">
                <a:solidFill>
                  <a:srgbClr val="EAF4FF"/>
                </a:solidFill>
                <a:effectLst/>
                <a:uFillTx/>
                <a:latin typeface="Consolas"/>
                <a:ea typeface="Consolas"/>
              </a:rPr>
              <a:t>      "region": "Cheonan",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20" b="0" u="none" strike="noStrike" dirty="0">
                <a:solidFill>
                  <a:srgbClr val="EAF4FF"/>
                </a:solidFill>
                <a:effectLst/>
                <a:uFillTx/>
                <a:latin typeface="Consolas"/>
                <a:ea typeface="Consolas"/>
              </a:rPr>
              <a:t>      "</a:t>
            </a:r>
            <a:r>
              <a:rPr lang="en-US" sz="1320" b="0" u="none" strike="noStrike" dirty="0" err="1">
                <a:solidFill>
                  <a:srgbClr val="EAF4FF"/>
                </a:solidFill>
                <a:effectLst/>
                <a:uFillTx/>
                <a:latin typeface="Consolas"/>
                <a:ea typeface="Consolas"/>
              </a:rPr>
              <a:t>news_category</a:t>
            </a:r>
            <a:r>
              <a:rPr lang="en-US" sz="1320" b="0" u="none" strike="noStrike" dirty="0">
                <a:solidFill>
                  <a:srgbClr val="EAF4FF"/>
                </a:solidFill>
                <a:effectLst/>
                <a:uFillTx/>
                <a:latin typeface="Consolas"/>
                <a:ea typeface="Consolas"/>
              </a:rPr>
              <a:t>": "IT",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20" b="0" u="none" strike="noStrike" dirty="0">
                <a:solidFill>
                  <a:srgbClr val="EAF4FF"/>
                </a:solidFill>
                <a:effectLst/>
                <a:uFillTx/>
                <a:latin typeface="Consolas"/>
                <a:ea typeface="Consolas"/>
              </a:rPr>
              <a:t>      "</a:t>
            </a:r>
            <a:r>
              <a:rPr lang="en-US" sz="1320" b="0" u="none" strike="noStrike" dirty="0" err="1">
                <a:solidFill>
                  <a:srgbClr val="EAF4FF"/>
                </a:solidFill>
                <a:effectLst/>
                <a:uFillTx/>
                <a:latin typeface="Consolas"/>
                <a:ea typeface="Consolas"/>
              </a:rPr>
              <a:t>enabled_sections</a:t>
            </a:r>
            <a:r>
              <a:rPr lang="en-US" sz="1320" b="0" u="none" strike="noStrike" dirty="0">
                <a:solidFill>
                  <a:srgbClr val="EAF4FF"/>
                </a:solidFill>
                <a:effectLst/>
                <a:uFillTx/>
                <a:latin typeface="Consolas"/>
                <a:ea typeface="Consolas"/>
              </a:rPr>
              <a:t>": {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20" b="0" u="none" strike="noStrike" dirty="0">
                <a:solidFill>
                  <a:srgbClr val="EAF4FF"/>
                </a:solidFill>
                <a:effectLst/>
                <a:uFillTx/>
                <a:latin typeface="Consolas"/>
                <a:ea typeface="Consolas"/>
              </a:rPr>
              <a:t>        "weather": false,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20" b="0" u="none" strike="noStrike" dirty="0">
                <a:solidFill>
                  <a:srgbClr val="EAF4FF"/>
                </a:solidFill>
                <a:effectLst/>
                <a:uFillTx/>
                <a:latin typeface="Consolas"/>
                <a:ea typeface="Consolas"/>
              </a:rPr>
              <a:t>        "dust": true,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20" b="0" u="none" strike="noStrike" dirty="0">
                <a:solidFill>
                  <a:srgbClr val="EAF4FF"/>
                </a:solidFill>
                <a:effectLst/>
                <a:uFillTx/>
                <a:latin typeface="Consolas"/>
                <a:ea typeface="Consolas"/>
              </a:rPr>
              <a:t>        "news": true,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20" b="0" u="none" strike="noStrike" dirty="0">
                <a:solidFill>
                  <a:srgbClr val="EAF4FF"/>
                </a:solidFill>
                <a:effectLst/>
                <a:uFillTx/>
                <a:latin typeface="Consolas"/>
                <a:ea typeface="Consolas"/>
              </a:rPr>
              <a:t>        "outfit": true,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20" b="0" u="none" strike="noStrike" dirty="0">
                <a:solidFill>
                  <a:srgbClr val="EAF4FF"/>
                </a:solidFill>
                <a:effectLst/>
                <a:uFillTx/>
                <a:latin typeface="Consolas"/>
                <a:ea typeface="Consolas"/>
              </a:rPr>
              <a:t>        "quote": true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20" b="0" u="none" strike="noStrike" dirty="0">
                <a:solidFill>
                  <a:srgbClr val="EAF4FF"/>
                </a:solidFill>
                <a:effectLst/>
                <a:uFillTx/>
                <a:latin typeface="Consolas"/>
                <a:ea typeface="Consolas"/>
              </a:rPr>
              <a:t>      }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320" b="0" u="none" strike="noStrike" dirty="0">
              <a:solidFill>
                <a:srgbClr val="EAF4FF"/>
              </a:solidFill>
              <a:effectLst/>
              <a:uFillTx/>
              <a:latin typeface="Consolas"/>
              <a:ea typeface="Consola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20" b="0" u="none" strike="noStrike" dirty="0">
                <a:solidFill>
                  <a:srgbClr val="EAF4FF"/>
                </a:solidFill>
                <a:effectLst/>
                <a:uFillTx/>
                <a:latin typeface="Consolas"/>
                <a:ea typeface="Consolas"/>
              </a:rPr>
              <a:t>    }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20" b="0" u="none" strike="noStrike" dirty="0">
                <a:solidFill>
                  <a:srgbClr val="EAF4FF"/>
                </a:solidFill>
                <a:effectLst/>
                <a:uFillTx/>
                <a:latin typeface="Consolas"/>
                <a:ea typeface="Consolas"/>
              </a:rPr>
              <a:t>  }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20" b="0" u="none" strike="noStrike" dirty="0">
                <a:solidFill>
                  <a:srgbClr val="EAF4FF"/>
                </a:solidFill>
                <a:effectLst/>
                <a:uFillTx/>
                <a:latin typeface="Consolas"/>
                <a:ea typeface="Consolas"/>
              </a:rPr>
              <a:t>}</a:t>
            </a:r>
          </a:p>
        </p:txBody>
      </p:sp>
      <p:sp>
        <p:nvSpPr>
          <p:cNvPr id="134" name="Text 11"/>
          <p:cNvSpPr/>
          <p:nvPr/>
        </p:nvSpPr>
        <p:spPr>
          <a:xfrm>
            <a:off x="6286680" y="3943186"/>
            <a:ext cx="4525920" cy="749520"/>
          </a:xfrm>
          <a:prstGeom prst="rect">
            <a:avLst/>
          </a:prstGeom>
          <a:solidFill>
            <a:srgbClr val="FFFFFF"/>
          </a:solidFill>
          <a:ln w="0">
            <a:solidFill>
              <a:srgbClr val="D8E5F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500" tIns="24750" rIns="49500" bIns="24750" anchor="ctr">
            <a:normAutofit/>
          </a:bodyPr>
          <a:lstStyle/>
          <a:p>
            <a:pPr>
              <a:defRPr/>
            </a:pPr>
            <a:r>
              <a:rPr lang="zh-CN" sz="152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설정 변경 흐름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35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슬래시 커맨드 입력 → 메모리 설정 갱신 → </a:t>
            </a:r>
            <a:r>
              <a:rPr lang="en-US" sz="1350" b="0" u="none" strike="noStrike" dirty="0" err="1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config.json</a:t>
            </a:r>
            <a:r>
              <a:rPr lang="en-US" sz="135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 </a:t>
            </a:r>
            <a:r>
              <a:rPr lang="zh-CN" sz="135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저장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3"/>
          <p:cNvSpPr/>
          <p:nvPr/>
        </p:nvSpPr>
        <p:spPr>
          <a:xfrm>
            <a:off x="502920" y="6546960"/>
            <a:ext cx="7314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Daily Report AI · </a:t>
            </a:r>
            <a:r>
              <a:rPr lang="zh-CN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컴퓨팅사고 </a:t>
            </a:r>
            <a:r>
              <a:rPr lang="en-US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27</a:t>
            </a:r>
            <a:r>
              <a:rPr lang="zh-CN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분반 팀 프로젝트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4"/>
          <p:cNvSpPr/>
          <p:nvPr/>
        </p:nvSpPr>
        <p:spPr>
          <a:xfrm>
            <a:off x="11292840" y="6510600"/>
            <a:ext cx="411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00" dirty="0">
                <a:solidFill>
                  <a:srgbClr val="8EA0B7"/>
                </a:solidFill>
                <a:latin typeface="Noto Sans CJK KR"/>
              </a:rPr>
              <a:t>15</a:t>
            </a:r>
            <a:endParaRPr lang="en-US" sz="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EAE0E95E-300E-49F3-A7F1-58B656001F62}"/>
              </a:ext>
            </a:extLst>
          </p:cNvPr>
          <p:cNvSpPr/>
          <p:nvPr/>
        </p:nvSpPr>
        <p:spPr>
          <a:xfrm>
            <a:off x="6286680" y="4692706"/>
            <a:ext cx="4525920" cy="74952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500" tIns="24750" rIns="49500" bIns="2475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altLang="ko-KR" sz="135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※ </a:t>
            </a:r>
            <a:r>
              <a:rPr lang="en-US" altLang="ko-KR" sz="1350" b="0" u="none" strike="noStrike" dirty="0" err="1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briefing_time</a:t>
            </a:r>
            <a:r>
              <a:rPr lang="ko-KR" altLang="en-US" sz="135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은 전체 사용자 공통 발송 시간</a:t>
            </a:r>
            <a:r>
              <a:rPr lang="en-US" altLang="ko-KR" sz="135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,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altLang="ko-KR" sz="135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   </a:t>
            </a:r>
            <a:r>
              <a:rPr lang="ko-KR" altLang="en-US" sz="135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지역</a:t>
            </a:r>
            <a:r>
              <a:rPr lang="en-US" altLang="ko-KR" sz="135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·</a:t>
            </a:r>
            <a:r>
              <a:rPr lang="ko-KR" altLang="en-US" sz="135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뉴스 카테고리</a:t>
            </a:r>
            <a:r>
              <a:rPr lang="en-US" altLang="ko-KR" sz="135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·</a:t>
            </a:r>
            <a:r>
              <a:rPr lang="ko-KR" altLang="en-US" sz="135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활성화 항목은 사용자별 설정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 0"/>
          <p:cNvSpPr/>
          <p:nvPr/>
        </p:nvSpPr>
        <p:spPr>
          <a:xfrm>
            <a:off x="530280" y="329040"/>
            <a:ext cx="2011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1" u="none" strike="noStrike" dirty="0">
                <a:solidFill>
                  <a:srgbClr val="2775EA"/>
                </a:solidFill>
                <a:effectLst/>
                <a:uFillTx/>
                <a:latin typeface="Noto Sans CJK KR"/>
                <a:ea typeface="Noto Sans CJK KR"/>
              </a:rPr>
              <a:t>08-3 </a:t>
            </a:r>
            <a:r>
              <a:rPr lang="zh-CN" sz="1400" b="1" u="none" strike="noStrike" dirty="0">
                <a:solidFill>
                  <a:srgbClr val="2775EA"/>
                </a:solidFill>
                <a:effectLst/>
                <a:uFillTx/>
                <a:latin typeface="Noto Sans CJK KR"/>
                <a:ea typeface="Noto Sans CJK KR"/>
              </a:rPr>
              <a:t>시스템 흐름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"/>
          <p:cNvSpPr/>
          <p:nvPr/>
        </p:nvSpPr>
        <p:spPr>
          <a:xfrm>
            <a:off x="530280" y="58536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ko-KR" altLang="en-US" sz="28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시스템 흐름</a:t>
            </a:r>
            <a:r>
              <a:rPr lang="en-US" altLang="ko-KR" sz="28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: </a:t>
            </a:r>
            <a:r>
              <a:rPr lang="ko-KR" altLang="en-US" sz="28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현재 구현 </a:t>
            </a:r>
            <a:r>
              <a:rPr lang="en-US" altLang="ko-KR" sz="28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+ </a:t>
            </a:r>
            <a:r>
              <a:rPr lang="ko-KR" altLang="en-US" sz="28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개인화 확장 계획</a:t>
            </a:r>
            <a:endParaRPr lang="en-US" sz="2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8"/>
          <p:cNvSpPr/>
          <p:nvPr/>
        </p:nvSpPr>
        <p:spPr>
          <a:xfrm>
            <a:off x="502920" y="6546960"/>
            <a:ext cx="7314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Daily Report AI · </a:t>
            </a:r>
            <a:r>
              <a:rPr lang="zh-CN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컴퓨팅사고 </a:t>
            </a:r>
            <a:r>
              <a:rPr lang="en-US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27</a:t>
            </a:r>
            <a:r>
              <a:rPr lang="zh-CN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분반 팀 프로젝트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9"/>
          <p:cNvSpPr/>
          <p:nvPr/>
        </p:nvSpPr>
        <p:spPr>
          <a:xfrm>
            <a:off x="11292840" y="6510600"/>
            <a:ext cx="411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00" dirty="0">
                <a:solidFill>
                  <a:srgbClr val="8EA0B7"/>
                </a:solidFill>
                <a:latin typeface="Noto Sans CJK KR"/>
              </a:rPr>
              <a:t>16</a:t>
            </a:r>
            <a:endParaRPr lang="en-US" sz="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화살표: 아래쪽 1">
            <a:extLst>
              <a:ext uri="{FF2B5EF4-FFF2-40B4-BE49-F238E27FC236}">
                <a16:creationId xmlns:a16="http://schemas.microsoft.com/office/drawing/2014/main" id="{FAC7617B-3CA6-4104-BAC7-15255B70B8CE}"/>
              </a:ext>
            </a:extLst>
          </p:cNvPr>
          <p:cNvSpPr/>
          <p:nvPr/>
        </p:nvSpPr>
        <p:spPr>
          <a:xfrm>
            <a:off x="2918399" y="2485956"/>
            <a:ext cx="369651" cy="294274"/>
          </a:xfrm>
          <a:prstGeom prst="downArrow">
            <a:avLst/>
          </a:prstGeom>
          <a:solidFill>
            <a:srgbClr val="D0CECE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664A6A2-156E-4945-AA18-ECE8B3FE5A91}"/>
              </a:ext>
            </a:extLst>
          </p:cNvPr>
          <p:cNvGrpSpPr/>
          <p:nvPr/>
        </p:nvGrpSpPr>
        <p:grpSpPr>
          <a:xfrm>
            <a:off x="878992" y="1116617"/>
            <a:ext cx="2625646" cy="1916897"/>
            <a:chOff x="894841" y="718451"/>
            <a:chExt cx="2625646" cy="1916897"/>
          </a:xfrm>
        </p:grpSpPr>
        <p:sp>
          <p:nvSpPr>
            <p:cNvPr id="146" name="Text 8"/>
            <p:cNvSpPr/>
            <p:nvPr/>
          </p:nvSpPr>
          <p:spPr>
            <a:xfrm>
              <a:off x="897659" y="718451"/>
              <a:ext cx="2622828" cy="191689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FE0F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96" tIns="396" rIns="396" bIns="396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endParaRPr lang="en-US" altLang="ko-KR" sz="115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lang="ko-KR" altLang="en-US" sz="1150" b="1" u="none" strike="noStrike" dirty="0">
                  <a:solidFill>
                    <a:srgbClr val="102033"/>
                  </a:solidFill>
                  <a:effectLst/>
                  <a:uFillTx/>
                  <a:latin typeface="Noto Sans CJK KR"/>
                  <a:ea typeface="Noto Sans CJK KR"/>
                </a:rPr>
                <a:t>의존성 검사 </a:t>
              </a:r>
              <a:endParaRPr lang="en-US" altLang="ko-KR" sz="1150" b="1" dirty="0">
                <a:solidFill>
                  <a:srgbClr val="102033"/>
                </a:solidFill>
                <a:latin typeface="Noto Sans CJK KR"/>
                <a:ea typeface="Noto Sans CJK KR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lang="ko-KR" altLang="en-US" sz="1150" b="1" u="none" strike="noStrike" dirty="0">
                  <a:solidFill>
                    <a:srgbClr val="102033"/>
                  </a:solidFill>
                  <a:effectLst/>
                  <a:uFillTx/>
                  <a:latin typeface="Noto Sans CJK KR"/>
                  <a:ea typeface="Noto Sans CJK KR"/>
                </a:rPr>
                <a:t>스케줄러 스레드 </a:t>
              </a:r>
              <a:r>
                <a:rPr lang="en-US" altLang="ko-KR" sz="1150" b="1" u="none" strike="noStrike" dirty="0">
                  <a:solidFill>
                    <a:srgbClr val="102033"/>
                  </a:solidFill>
                  <a:effectLst/>
                  <a:uFillTx/>
                  <a:latin typeface="Noto Sans CJK KR"/>
                  <a:ea typeface="Noto Sans CJK KR"/>
                </a:rPr>
                <a:t>+ Discord </a:t>
              </a:r>
              <a:r>
                <a:rPr lang="ko-KR" altLang="en-US" sz="1150" b="1" u="none" strike="noStrike" dirty="0">
                  <a:solidFill>
                    <a:srgbClr val="102033"/>
                  </a:solidFill>
                  <a:effectLst/>
                  <a:uFillTx/>
                  <a:latin typeface="Noto Sans CJK KR"/>
                  <a:ea typeface="Noto Sans CJK KR"/>
                </a:rPr>
                <a:t>봇 실행</a:t>
              </a:r>
              <a:endParaRPr lang="en-US" sz="85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AFD9B405-D3EC-4DFC-9195-8983AD3AF075}"/>
                </a:ext>
              </a:extLst>
            </p:cNvPr>
            <p:cNvSpPr/>
            <p:nvPr/>
          </p:nvSpPr>
          <p:spPr>
            <a:xfrm>
              <a:off x="894841" y="718451"/>
              <a:ext cx="2622828" cy="56426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ko-KR" altLang="en-US" sz="1150" b="1" i="0" u="none" strike="noStrike" kern="1200" cap="none" spc="0" normalizeH="0" baseline="0" noProof="0" dirty="0">
                  <a:ln>
                    <a:noFill/>
                  </a:ln>
                  <a:solidFill>
                    <a:srgbClr val="102033"/>
                  </a:solidFill>
                  <a:effectLst/>
                  <a:uLnTx/>
                  <a:uFillTx/>
                  <a:latin typeface="Noto Sans CJK KR"/>
                  <a:ea typeface="+mn-ea"/>
                  <a:cs typeface="+mn-cs"/>
                </a:rPr>
                <a:t>프로그램 실행</a:t>
              </a:r>
              <a:endPara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008FF2D4-A6BC-4C81-9F30-913764E744BE}"/>
              </a:ext>
            </a:extLst>
          </p:cNvPr>
          <p:cNvGrpSpPr/>
          <p:nvPr/>
        </p:nvGrpSpPr>
        <p:grpSpPr>
          <a:xfrm>
            <a:off x="4612237" y="1137085"/>
            <a:ext cx="2625646" cy="1925540"/>
            <a:chOff x="892023" y="2274349"/>
            <a:chExt cx="2625646" cy="1925540"/>
          </a:xfrm>
        </p:grpSpPr>
        <p:sp>
          <p:nvSpPr>
            <p:cNvPr id="32" name="Text 8">
              <a:extLst>
                <a:ext uri="{FF2B5EF4-FFF2-40B4-BE49-F238E27FC236}">
                  <a16:creationId xmlns:a16="http://schemas.microsoft.com/office/drawing/2014/main" id="{C593E1BC-C065-4630-BAF3-1D23758CCCC0}"/>
                </a:ext>
              </a:extLst>
            </p:cNvPr>
            <p:cNvSpPr/>
            <p:nvPr/>
          </p:nvSpPr>
          <p:spPr>
            <a:xfrm>
              <a:off x="894841" y="2282992"/>
              <a:ext cx="2622828" cy="191689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FE0F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96" tIns="396" rIns="396" bIns="396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lang="en-US" altLang="ko-KR" sz="1150" b="1" u="none" strike="noStrike" dirty="0" err="1">
                  <a:solidFill>
                    <a:srgbClr val="102033"/>
                  </a:solidFill>
                  <a:effectLst/>
                  <a:uFillTx/>
                  <a:latin typeface="Noto Sans CJK KR"/>
                  <a:ea typeface="Noto Sans CJK KR"/>
                </a:rPr>
                <a:t>config.json</a:t>
              </a:r>
              <a:r>
                <a:rPr lang="ko-KR" altLang="en-US" sz="1150" b="1" u="none" strike="noStrike" dirty="0">
                  <a:solidFill>
                    <a:srgbClr val="102033"/>
                  </a:solidFill>
                  <a:effectLst/>
                  <a:uFillTx/>
                  <a:latin typeface="Noto Sans CJK KR"/>
                  <a:ea typeface="Noto Sans CJK KR"/>
                </a:rPr>
                <a:t>을 </a:t>
              </a:r>
              <a:r>
                <a:rPr lang="en-US" altLang="ko-KR" sz="1150" b="1" u="none" strike="noStrike" dirty="0">
                  <a:solidFill>
                    <a:srgbClr val="102033"/>
                  </a:solidFill>
                  <a:effectLst/>
                  <a:uFillTx/>
                  <a:latin typeface="Noto Sans CJK KR"/>
                  <a:ea typeface="Noto Sans CJK KR"/>
                </a:rPr>
                <a:t>60</a:t>
              </a:r>
              <a:r>
                <a:rPr lang="ko-KR" altLang="en-US" sz="1150" b="1" u="none" strike="noStrike" dirty="0">
                  <a:solidFill>
                    <a:srgbClr val="102033"/>
                  </a:solidFill>
                  <a:effectLst/>
                  <a:uFillTx/>
                  <a:latin typeface="Noto Sans CJK KR"/>
                  <a:ea typeface="Noto Sans CJK KR"/>
                </a:rPr>
                <a:t>초 주기로 확인</a:t>
              </a:r>
              <a:endParaRPr lang="en-US" altLang="ko-KR" sz="1150" b="1" dirty="0">
                <a:solidFill>
                  <a:srgbClr val="102033"/>
                </a:solidFill>
                <a:latin typeface="Noto Sans CJK KR"/>
                <a:ea typeface="Noto Sans CJK KR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lang="ko-KR" altLang="en-US" sz="1150" b="1" u="none" strike="noStrike" dirty="0">
                  <a:solidFill>
                    <a:srgbClr val="102033"/>
                  </a:solidFill>
                  <a:effectLst/>
                  <a:uFillTx/>
                  <a:latin typeface="Noto Sans CJK KR"/>
                  <a:ea typeface="Noto Sans CJK KR"/>
                </a:rPr>
                <a:t>변경된 브리핑 시간 반영</a:t>
              </a: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2034CDBE-872A-488C-B6C1-1C60B6732BC2}"/>
                </a:ext>
              </a:extLst>
            </p:cNvPr>
            <p:cNvSpPr/>
            <p:nvPr/>
          </p:nvSpPr>
          <p:spPr>
            <a:xfrm>
              <a:off x="892023" y="2274349"/>
              <a:ext cx="2622828" cy="56426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lang="ko-KR" altLang="en-US" sz="1200" dirty="0"/>
                <a:t>⚙️</a:t>
              </a:r>
              <a:r>
                <a:rPr lang="en-US" altLang="ko-KR" sz="1150" b="1" dirty="0">
                  <a:solidFill>
                    <a:srgbClr val="102033"/>
                  </a:solidFill>
                  <a:latin typeface="Noto Sans CJK KR"/>
                </a:rPr>
                <a:t> </a:t>
              </a:r>
              <a:r>
                <a:rPr lang="ko-KR" altLang="en-US" sz="1150" b="1" dirty="0">
                  <a:solidFill>
                    <a:srgbClr val="102033"/>
                  </a:solidFill>
                  <a:latin typeface="Noto Sans CJK KR"/>
                </a:rPr>
                <a:t>설정 감지</a:t>
              </a:r>
              <a:endPara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0FBAFFA0-A610-41E5-8BAF-7724E249417D}"/>
              </a:ext>
            </a:extLst>
          </p:cNvPr>
          <p:cNvGrpSpPr/>
          <p:nvPr/>
        </p:nvGrpSpPr>
        <p:grpSpPr>
          <a:xfrm>
            <a:off x="8339022" y="1107974"/>
            <a:ext cx="2625646" cy="1925540"/>
            <a:chOff x="892023" y="3830247"/>
            <a:chExt cx="2625646" cy="1925540"/>
          </a:xfrm>
        </p:grpSpPr>
        <p:sp>
          <p:nvSpPr>
            <p:cNvPr id="46" name="Text 8">
              <a:extLst>
                <a:ext uri="{FF2B5EF4-FFF2-40B4-BE49-F238E27FC236}">
                  <a16:creationId xmlns:a16="http://schemas.microsoft.com/office/drawing/2014/main" id="{299A4CEF-EA96-4D6B-9E14-FF70BD889302}"/>
                </a:ext>
              </a:extLst>
            </p:cNvPr>
            <p:cNvSpPr/>
            <p:nvPr/>
          </p:nvSpPr>
          <p:spPr>
            <a:xfrm>
              <a:off x="894841" y="3838890"/>
              <a:ext cx="2622828" cy="191689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FE0F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96" tIns="396" rIns="396" bIns="396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lang="en-US" altLang="ko-KR" sz="1150" b="1" u="none" strike="noStrike" dirty="0">
                  <a:solidFill>
                    <a:srgbClr val="102033"/>
                  </a:solidFill>
                  <a:effectLst/>
                  <a:uFillTx/>
                  <a:latin typeface="Noto Sans CJK KR"/>
                  <a:ea typeface="Noto Sans CJK KR"/>
                </a:rPr>
                <a:t>30</a:t>
              </a:r>
              <a:r>
                <a:rPr lang="ko-KR" altLang="en-US" sz="1150" b="1" u="none" strike="noStrike" dirty="0">
                  <a:solidFill>
                    <a:srgbClr val="102033"/>
                  </a:solidFill>
                  <a:effectLst/>
                  <a:uFillTx/>
                  <a:latin typeface="Noto Sans CJK KR"/>
                  <a:ea typeface="Noto Sans CJK KR"/>
                </a:rPr>
                <a:t>분 전 날씨 알림</a:t>
              </a:r>
              <a:endParaRPr lang="en-US" altLang="ko-KR" sz="115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lang="ko-KR" altLang="en-US" sz="1150" b="1" u="none" strike="noStrike" dirty="0">
                  <a:solidFill>
                    <a:srgbClr val="102033"/>
                  </a:solidFill>
                  <a:effectLst/>
                  <a:uFillTx/>
                  <a:latin typeface="Noto Sans CJK KR"/>
                  <a:ea typeface="Noto Sans CJK KR"/>
                </a:rPr>
                <a:t>지정 시간 데일리 리포트 실행</a:t>
              </a: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7C0F46E2-9CED-4A8D-BF05-48FD69B56DF9}"/>
                </a:ext>
              </a:extLst>
            </p:cNvPr>
            <p:cNvSpPr/>
            <p:nvPr/>
          </p:nvSpPr>
          <p:spPr>
            <a:xfrm>
              <a:off x="892023" y="3830247"/>
              <a:ext cx="2622828" cy="56426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lang="ko-KR" altLang="en-US" sz="1150" b="1" dirty="0">
                  <a:solidFill>
                    <a:srgbClr val="102033"/>
                  </a:solidFill>
                  <a:latin typeface="Noto Sans CJK KR"/>
                </a:rPr>
                <a:t>예약 실행</a:t>
              </a:r>
              <a:endPara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FE2545A8-BAF2-4520-8A6F-2B88CE1DD7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0371" y="1288313"/>
            <a:ext cx="213603" cy="21360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47AF5EF-CFE6-417E-A4CF-3D77C2E5707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470" y="1305549"/>
            <a:ext cx="348939" cy="235534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DE0BB6AA-9D95-4B9B-B1C6-9F9B8DE8287B}"/>
              </a:ext>
            </a:extLst>
          </p:cNvPr>
          <p:cNvGrpSpPr/>
          <p:nvPr/>
        </p:nvGrpSpPr>
        <p:grpSpPr>
          <a:xfrm>
            <a:off x="2335020" y="5755788"/>
            <a:ext cx="9856980" cy="383760"/>
            <a:chOff x="1435860" y="5826922"/>
            <a:chExt cx="9856980" cy="383760"/>
          </a:xfrm>
        </p:grpSpPr>
        <p:sp>
          <p:nvSpPr>
            <p:cNvPr id="54" name="Text 14">
              <a:extLst>
                <a:ext uri="{FF2B5EF4-FFF2-40B4-BE49-F238E27FC236}">
                  <a16:creationId xmlns:a16="http://schemas.microsoft.com/office/drawing/2014/main" id="{2B3F1BEA-5ED4-4782-8E0C-89673058BA03}"/>
                </a:ext>
              </a:extLst>
            </p:cNvPr>
            <p:cNvSpPr/>
            <p:nvPr/>
          </p:nvSpPr>
          <p:spPr>
            <a:xfrm>
              <a:off x="1435860" y="5945362"/>
              <a:ext cx="987480" cy="145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lang="zh-CN" b="1" u="none" strike="noStrike" dirty="0">
                  <a:solidFill>
                    <a:srgbClr val="2775EA"/>
                  </a:solidFill>
                  <a:effectLst/>
                  <a:uFillTx/>
                  <a:latin typeface="Noto Sans CJK KR"/>
                  <a:ea typeface="Noto Sans CJK KR"/>
                </a:rPr>
                <a:t>핵심 변화</a:t>
              </a:r>
              <a:endParaRPr lang="en-US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Text 15">
              <a:extLst>
                <a:ext uri="{FF2B5EF4-FFF2-40B4-BE49-F238E27FC236}">
                  <a16:creationId xmlns:a16="http://schemas.microsoft.com/office/drawing/2014/main" id="{F96AEA31-FDCF-4E46-AA78-CD2BC8B36CD0}"/>
                </a:ext>
              </a:extLst>
            </p:cNvPr>
            <p:cNvSpPr/>
            <p:nvPr/>
          </p:nvSpPr>
          <p:spPr>
            <a:xfrm>
              <a:off x="2514960" y="5826922"/>
              <a:ext cx="8777880" cy="383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  <a:defRPr/>
              </a:pPr>
              <a:r>
                <a:rPr lang="ko-KR" altLang="en-US" sz="1720" b="1" u="none" strike="noStrike" dirty="0">
                  <a:solidFill>
                    <a:srgbClr val="102033"/>
                  </a:solidFill>
                  <a:effectLst/>
                  <a:uFillTx/>
                  <a:latin typeface="Noto Sans CJK KR"/>
                  <a:ea typeface="Noto Sans CJK KR"/>
                </a:rPr>
                <a:t>사용자 설정에 따라 데이터 수집 범위와 리포트 구성 항목이 달라짐</a:t>
              </a:r>
              <a:endPara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11A9FD2-37F2-4861-A482-79C9D0E40878}"/>
              </a:ext>
            </a:extLst>
          </p:cNvPr>
          <p:cNvGrpSpPr/>
          <p:nvPr/>
        </p:nvGrpSpPr>
        <p:grpSpPr>
          <a:xfrm>
            <a:off x="4610416" y="3467838"/>
            <a:ext cx="2624649" cy="1916897"/>
            <a:chOff x="4610416" y="3467838"/>
            <a:chExt cx="2624649" cy="1916897"/>
          </a:xfrm>
        </p:grpSpPr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7F1B51E8-836F-4B26-A5CA-B0EB7F8D91A7}"/>
                </a:ext>
              </a:extLst>
            </p:cNvPr>
            <p:cNvGrpSpPr/>
            <p:nvPr/>
          </p:nvGrpSpPr>
          <p:grpSpPr>
            <a:xfrm>
              <a:off x="4610416" y="3467838"/>
              <a:ext cx="2624649" cy="1916897"/>
              <a:chOff x="1074034" y="1413130"/>
              <a:chExt cx="4061198" cy="868320"/>
            </a:xfrm>
          </p:grpSpPr>
          <p:sp>
            <p:nvSpPr>
              <p:cNvPr id="40" name="Text 8">
                <a:extLst>
                  <a:ext uri="{FF2B5EF4-FFF2-40B4-BE49-F238E27FC236}">
                    <a16:creationId xmlns:a16="http://schemas.microsoft.com/office/drawing/2014/main" id="{7BBE6700-7910-4167-842F-9F4FD57909DD}"/>
                  </a:ext>
                </a:extLst>
              </p:cNvPr>
              <p:cNvSpPr/>
              <p:nvPr/>
            </p:nvSpPr>
            <p:spPr>
              <a:xfrm>
                <a:off x="1076852" y="1413130"/>
                <a:ext cx="4058380" cy="86832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CFE0F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" tIns="396" rIns="396" bIns="396" anchor="ctr">
                <a:norm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r>
                  <a:rPr lang="en-US" altLang="ko-KR" sz="1150" b="1" u="none" strike="noStrike" dirty="0" err="1">
                    <a:solidFill>
                      <a:srgbClr val="102033"/>
                    </a:solidFill>
                    <a:effectLst/>
                    <a:uFillTx/>
                    <a:latin typeface="Noto Sans CJK KR"/>
                  </a:rPr>
                  <a:t>OpenWeather</a:t>
                </a:r>
                <a:r>
                  <a:rPr lang="en-US" altLang="ko-KR" sz="1150" b="1" u="none" strike="noStrike" dirty="0">
                    <a:solidFill>
                      <a:srgbClr val="102033"/>
                    </a:solidFill>
                    <a:effectLst/>
                    <a:uFillTx/>
                    <a:latin typeface="Noto Sans CJK KR"/>
                  </a:rPr>
                  <a:t> / RSS </a:t>
                </a:r>
                <a:r>
                  <a:rPr lang="ko-KR" altLang="en-US" sz="1150" b="1" u="none" strike="noStrike" dirty="0">
                    <a:solidFill>
                      <a:srgbClr val="102033"/>
                    </a:solidFill>
                    <a:effectLst/>
                    <a:uFillTx/>
                    <a:latin typeface="Noto Sans CJK KR"/>
                  </a:rPr>
                  <a:t>캐시 확인 → 필요한 데이터만 수집 → </a:t>
                </a:r>
                <a:r>
                  <a:rPr lang="en-US" altLang="ko-KR" sz="1150" b="1" u="none" strike="noStrike" dirty="0">
                    <a:solidFill>
                      <a:srgbClr val="102033"/>
                    </a:solidFill>
                    <a:effectLst/>
                    <a:uFillTx/>
                    <a:latin typeface="Noto Sans CJK KR"/>
                  </a:rPr>
                  <a:t>Gemini </a:t>
                </a:r>
                <a:r>
                  <a:rPr lang="ko-KR" altLang="en-US" sz="1150" b="1" u="none" strike="noStrike" dirty="0">
                    <a:solidFill>
                      <a:srgbClr val="102033"/>
                    </a:solidFill>
                    <a:effectLst/>
                    <a:uFillTx/>
                    <a:latin typeface="Noto Sans CJK KR"/>
                  </a:rPr>
                  <a:t>요약</a:t>
                </a:r>
                <a:endParaRPr lang="en-US" altLang="ko-KR" sz="85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51471107-5794-454E-ACDE-FFE48018CF1B}"/>
                  </a:ext>
                </a:extLst>
              </p:cNvPr>
              <p:cNvSpPr/>
              <p:nvPr/>
            </p:nvSpPr>
            <p:spPr>
              <a:xfrm>
                <a:off x="1074034" y="1413130"/>
                <a:ext cx="4058380" cy="255600"/>
              </a:xfrm>
              <a:prstGeom prst="rect">
                <a:avLst/>
              </a:prstGeom>
              <a:solidFill>
                <a:srgbClr val="CFE0F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0" algn="l"/>
                  </a:tabLst>
                  <a:defRPr/>
                </a:pPr>
                <a:r>
                  <a:rPr lang="ko-KR" altLang="en-US" sz="1200" dirty="0"/>
                  <a:t>    📰</a:t>
                </a:r>
                <a:r>
                  <a:rPr lang="ko-KR" altLang="en-US" sz="1150" b="1" dirty="0">
                    <a:solidFill>
                      <a:srgbClr val="102033"/>
                    </a:solidFill>
                    <a:latin typeface="Noto Sans CJK KR"/>
                  </a:rPr>
                  <a:t>조건부 데이터 수집 및 </a:t>
                </a:r>
                <a:r>
                  <a:rPr lang="en-US" altLang="ko-KR" sz="1150" b="1" dirty="0">
                    <a:solidFill>
                      <a:srgbClr val="102033"/>
                    </a:solidFill>
                    <a:latin typeface="Noto Sans CJK KR"/>
                  </a:rPr>
                  <a:t>AI </a:t>
                </a:r>
                <a:r>
                  <a:rPr lang="ko-KR" altLang="en-US" sz="1150" b="1" dirty="0">
                    <a:solidFill>
                      <a:srgbClr val="102033"/>
                    </a:solidFill>
                    <a:latin typeface="Noto Sans CJK KR"/>
                  </a:rPr>
                  <a:t>요약</a:t>
                </a:r>
              </a:p>
            </p:txBody>
          </p:sp>
        </p:grp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FD03EF4-CCBD-47CD-81B2-C4312638E963}"/>
                </a:ext>
              </a:extLst>
            </p:cNvPr>
            <p:cNvSpPr/>
            <p:nvPr/>
          </p:nvSpPr>
          <p:spPr>
            <a:xfrm>
              <a:off x="4610416" y="3467838"/>
              <a:ext cx="339271" cy="56426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5</a:t>
              </a:r>
              <a:endParaRPr lang="ko-KR" altLang="en-US" dirty="0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8394C3C-1BD4-4514-9A3F-E316B71F485D}"/>
              </a:ext>
            </a:extLst>
          </p:cNvPr>
          <p:cNvGrpSpPr/>
          <p:nvPr/>
        </p:nvGrpSpPr>
        <p:grpSpPr>
          <a:xfrm>
            <a:off x="8347051" y="3428358"/>
            <a:ext cx="2624649" cy="1922232"/>
            <a:chOff x="877171" y="3512452"/>
            <a:chExt cx="2624649" cy="1922232"/>
          </a:xfrm>
        </p:grpSpPr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1FD9C795-6737-4A8C-B431-9310DBF4129C}"/>
                </a:ext>
              </a:extLst>
            </p:cNvPr>
            <p:cNvGrpSpPr/>
            <p:nvPr/>
          </p:nvGrpSpPr>
          <p:grpSpPr>
            <a:xfrm>
              <a:off x="877171" y="3517787"/>
              <a:ext cx="2624649" cy="1916897"/>
              <a:chOff x="1074034" y="1413130"/>
              <a:chExt cx="4061198" cy="868320"/>
            </a:xfrm>
          </p:grpSpPr>
          <p:sp>
            <p:nvSpPr>
              <p:cNvPr id="37" name="Text 8">
                <a:extLst>
                  <a:ext uri="{FF2B5EF4-FFF2-40B4-BE49-F238E27FC236}">
                    <a16:creationId xmlns:a16="http://schemas.microsoft.com/office/drawing/2014/main" id="{F6BEF2B6-BB9B-4367-A810-40B79416E9C2}"/>
                  </a:ext>
                </a:extLst>
              </p:cNvPr>
              <p:cNvSpPr/>
              <p:nvPr/>
            </p:nvSpPr>
            <p:spPr>
              <a:xfrm>
                <a:off x="1076852" y="1413130"/>
                <a:ext cx="4058380" cy="86832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CFE0F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" tIns="396" rIns="396" bIns="396" anchor="ctr">
                <a:norm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r>
                  <a:rPr lang="ko-KR" altLang="en-US" sz="1150" b="1" u="none" strike="noStrike" dirty="0">
                    <a:solidFill>
                      <a:srgbClr val="102033"/>
                    </a:solidFill>
                    <a:effectLst/>
                    <a:uFillTx/>
                    <a:latin typeface="Noto Sans CJK KR"/>
                    <a:ea typeface="Noto Sans CJK KR"/>
                  </a:rPr>
                  <a:t>지역 </a:t>
                </a:r>
                <a:r>
                  <a:rPr lang="en-US" altLang="ko-KR" sz="1150" b="1" u="none" strike="noStrike" dirty="0">
                    <a:solidFill>
                      <a:srgbClr val="102033"/>
                    </a:solidFill>
                    <a:effectLst/>
                    <a:uFillTx/>
                    <a:latin typeface="Noto Sans CJK KR"/>
                    <a:ea typeface="Noto Sans CJK KR"/>
                  </a:rPr>
                  <a:t>· </a:t>
                </a:r>
                <a:r>
                  <a:rPr lang="ko-KR" altLang="en-US" sz="1150" b="1" u="none" strike="noStrike" dirty="0">
                    <a:solidFill>
                      <a:srgbClr val="102033"/>
                    </a:solidFill>
                    <a:effectLst/>
                    <a:uFillTx/>
                    <a:latin typeface="Noto Sans CJK KR"/>
                    <a:ea typeface="Noto Sans CJK KR"/>
                  </a:rPr>
                  <a:t>뉴스 카테고리 </a:t>
                </a:r>
                <a:r>
                  <a:rPr lang="en-US" altLang="ko-KR" sz="1150" b="1" u="none" strike="noStrike" dirty="0">
                    <a:solidFill>
                      <a:srgbClr val="102033"/>
                    </a:solidFill>
                    <a:effectLst/>
                    <a:uFillTx/>
                    <a:latin typeface="Noto Sans CJK KR"/>
                    <a:ea typeface="Noto Sans CJK KR"/>
                  </a:rPr>
                  <a:t>· </a:t>
                </a:r>
                <a:r>
                  <a:rPr lang="ko-KR" altLang="en-US" sz="1150" b="1" u="none" strike="noStrike" dirty="0">
                    <a:solidFill>
                      <a:srgbClr val="102033"/>
                    </a:solidFill>
                    <a:effectLst/>
                    <a:uFillTx/>
                    <a:latin typeface="Noto Sans CJK KR"/>
                    <a:ea typeface="Noto Sans CJK KR"/>
                  </a:rPr>
                  <a:t>항목 </a:t>
                </a:r>
                <a:r>
                  <a:rPr lang="en-US" altLang="ko-KR" sz="1150" b="1" u="none" strike="noStrike" dirty="0">
                    <a:solidFill>
                      <a:srgbClr val="102033"/>
                    </a:solidFill>
                    <a:effectLst/>
                    <a:uFillTx/>
                    <a:latin typeface="Noto Sans CJK KR"/>
                    <a:ea typeface="Noto Sans CJK KR"/>
                  </a:rPr>
                  <a:t>On/Off </a:t>
                </a:r>
                <a:r>
                  <a:rPr lang="ko-KR" altLang="en-US" sz="1150" b="1" u="none" strike="noStrike" dirty="0">
                    <a:solidFill>
                      <a:srgbClr val="102033"/>
                    </a:solidFill>
                    <a:effectLst/>
                    <a:uFillTx/>
                    <a:latin typeface="Noto Sans CJK KR"/>
                    <a:ea typeface="Noto Sans CJK KR"/>
                  </a:rPr>
                  <a:t>확인</a:t>
                </a:r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4DADBC14-797B-403B-AA77-89BF3271A998}"/>
                  </a:ext>
                </a:extLst>
              </p:cNvPr>
              <p:cNvSpPr/>
              <p:nvPr/>
            </p:nvSpPr>
            <p:spPr>
              <a:xfrm>
                <a:off x="1074034" y="1413130"/>
                <a:ext cx="4058380" cy="255600"/>
              </a:xfrm>
              <a:prstGeom prst="rect">
                <a:avLst/>
              </a:prstGeom>
              <a:solidFill>
                <a:srgbClr val="CFE0F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0" algn="l"/>
                  </a:tabLst>
                  <a:defRPr/>
                </a:pPr>
                <a:r>
                  <a:rPr lang="ko-KR" altLang="en-US" sz="1200" dirty="0"/>
                  <a:t>👤</a:t>
                </a:r>
                <a:r>
                  <a:rPr lang="ko-KR" altLang="en-US" sz="1150" b="1" dirty="0">
                    <a:solidFill>
                      <a:srgbClr val="102033"/>
                    </a:solidFill>
                    <a:latin typeface="Noto Sans CJK KR"/>
                  </a:rPr>
                  <a:t>사용자별 설정 반영</a:t>
                </a:r>
                <a:endParaRPr kumimoji="0" lang="en-US" altLang="ko-KR" sz="8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976D6911-AB62-40CC-8D93-FE64F1423599}"/>
                </a:ext>
              </a:extLst>
            </p:cNvPr>
            <p:cNvSpPr/>
            <p:nvPr/>
          </p:nvSpPr>
          <p:spPr>
            <a:xfrm>
              <a:off x="885243" y="3512452"/>
              <a:ext cx="339271" cy="56426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4</a:t>
              </a:r>
              <a:endParaRPr lang="ko-KR" altLang="en-US" dirty="0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EEE1E3FD-6470-4452-8460-B264DC79227A}"/>
              </a:ext>
            </a:extLst>
          </p:cNvPr>
          <p:cNvGrpSpPr/>
          <p:nvPr/>
        </p:nvGrpSpPr>
        <p:grpSpPr>
          <a:xfrm>
            <a:off x="895068" y="3468006"/>
            <a:ext cx="2625646" cy="1916897"/>
            <a:chOff x="8341840" y="3467839"/>
            <a:chExt cx="2625646" cy="1916897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99FD9B9A-898E-4D46-B0C6-299A423684D4}"/>
                </a:ext>
              </a:extLst>
            </p:cNvPr>
            <p:cNvGrpSpPr/>
            <p:nvPr/>
          </p:nvGrpSpPr>
          <p:grpSpPr>
            <a:xfrm>
              <a:off x="8341840" y="3467839"/>
              <a:ext cx="2625646" cy="1916897"/>
              <a:chOff x="6771273" y="3838890"/>
              <a:chExt cx="2625646" cy="1916897"/>
            </a:xfrm>
          </p:grpSpPr>
          <p:sp>
            <p:nvSpPr>
              <p:cNvPr id="43" name="Text 8">
                <a:extLst>
                  <a:ext uri="{FF2B5EF4-FFF2-40B4-BE49-F238E27FC236}">
                    <a16:creationId xmlns:a16="http://schemas.microsoft.com/office/drawing/2014/main" id="{E6C73147-6895-4F41-B133-B882C9A2AF1C}"/>
                  </a:ext>
                </a:extLst>
              </p:cNvPr>
              <p:cNvSpPr/>
              <p:nvPr/>
            </p:nvSpPr>
            <p:spPr>
              <a:xfrm>
                <a:off x="6774091" y="3838890"/>
                <a:ext cx="2622828" cy="191689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CFE0F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" tIns="396" rIns="396" bIns="396" anchor="ctr">
                <a:norm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r>
                  <a:rPr lang="ko-KR" altLang="en-US" sz="1150" b="1" u="none" strike="noStrike" dirty="0">
                    <a:solidFill>
                      <a:srgbClr val="102033"/>
                    </a:solidFill>
                    <a:effectLst/>
                    <a:uFillTx/>
                    <a:latin typeface="Noto Sans CJK KR"/>
                  </a:rPr>
                  <a:t>완성된 리포트</a:t>
                </a:r>
                <a:r>
                  <a:rPr lang="ko-KR" altLang="en-US" sz="1150" b="1" dirty="0">
                    <a:solidFill>
                      <a:srgbClr val="102033"/>
                    </a:solidFill>
                    <a:latin typeface="Noto Sans CJK KR"/>
                  </a:rPr>
                  <a:t>를 </a:t>
                </a:r>
                <a:r>
                  <a:rPr lang="ko-KR" altLang="en-US" sz="1150" b="1" u="none" strike="noStrike" dirty="0">
                    <a:solidFill>
                      <a:srgbClr val="102033"/>
                    </a:solidFill>
                    <a:effectLst/>
                    <a:uFillTx/>
                    <a:latin typeface="Noto Sans CJK KR"/>
                  </a:rPr>
                  <a:t>사용자에게 전달</a:t>
                </a:r>
                <a:endParaRPr lang="en-US" altLang="ko-KR" sz="1150" b="1" u="none" strike="noStrike" dirty="0">
                  <a:solidFill>
                    <a:srgbClr val="102033"/>
                  </a:solidFill>
                  <a:effectLst/>
                  <a:uFillTx/>
                  <a:latin typeface="Noto Sans CJK KR"/>
                </a:endParaRPr>
              </a:p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r>
                  <a:rPr lang="en-US" altLang="ko-KR" sz="1150" b="1" dirty="0">
                    <a:solidFill>
                      <a:srgbClr val="102033"/>
                    </a:solidFill>
                    <a:latin typeface="Noto Sans CJK KR"/>
                  </a:rPr>
                  <a:t>1900</a:t>
                </a:r>
                <a:r>
                  <a:rPr lang="ko-KR" altLang="en-US" sz="1150" b="1" dirty="0">
                    <a:solidFill>
                      <a:srgbClr val="102033"/>
                    </a:solidFill>
                    <a:latin typeface="Noto Sans CJK KR"/>
                  </a:rPr>
                  <a:t>자 이상일 시 분할전송</a:t>
                </a:r>
                <a:endParaRPr lang="en-US" altLang="ko-KR" sz="85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3DCD192A-36F7-4951-91FC-90AABABB99BC}"/>
                  </a:ext>
                </a:extLst>
              </p:cNvPr>
              <p:cNvSpPr/>
              <p:nvPr/>
            </p:nvSpPr>
            <p:spPr>
              <a:xfrm>
                <a:off x="6771273" y="3838890"/>
                <a:ext cx="2622828" cy="56426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r>
                  <a:rPr lang="en-US" altLang="ko-KR" sz="1150" b="1" u="none" strike="noStrike" dirty="0">
                    <a:solidFill>
                      <a:srgbClr val="102033"/>
                    </a:solidFill>
                    <a:effectLst/>
                    <a:uFillTx/>
                    <a:latin typeface="Noto Sans CJK KR"/>
                  </a:rPr>
                  <a:t>Discord DM </a:t>
                </a:r>
                <a:r>
                  <a:rPr lang="ko-KR" altLang="en-US" sz="1150" b="1" u="none" strike="noStrike" dirty="0">
                    <a:solidFill>
                      <a:srgbClr val="102033"/>
                    </a:solidFill>
                    <a:effectLst/>
                    <a:uFillTx/>
                    <a:latin typeface="Noto Sans CJK KR"/>
                  </a:rPr>
                  <a:t>전송</a:t>
                </a:r>
                <a:endParaRPr lang="en-US" altLang="ko-KR" sz="1150" b="1" u="none" strike="noStrike" dirty="0">
                  <a:solidFill>
                    <a:srgbClr val="102033"/>
                  </a:solidFill>
                  <a:effectLst/>
                  <a:uFillTx/>
                  <a:latin typeface="Noto Sans CJK KR"/>
                </a:endParaRPr>
              </a:p>
            </p:txBody>
          </p:sp>
        </p:grp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406A8E0-3FB4-4E54-82EC-9368537A0B2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77550" y="3616726"/>
              <a:ext cx="312821" cy="305602"/>
            </a:xfrm>
            <a:prstGeom prst="rect">
              <a:avLst/>
            </a:prstGeom>
          </p:spPr>
        </p:pic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CA20AC76-1FFB-44E4-A27A-23A5AF7267F6}"/>
                </a:ext>
              </a:extLst>
            </p:cNvPr>
            <p:cNvSpPr/>
            <p:nvPr/>
          </p:nvSpPr>
          <p:spPr>
            <a:xfrm>
              <a:off x="8342837" y="3467839"/>
              <a:ext cx="339271" cy="564261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6</a:t>
              </a:r>
              <a:endParaRPr lang="ko-KR" altLang="en-US" dirty="0"/>
            </a:p>
          </p:txBody>
        </p:sp>
      </p:grp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9024B0E-4E4C-4250-AD7D-7C939717B630}"/>
              </a:ext>
            </a:extLst>
          </p:cNvPr>
          <p:cNvSpPr/>
          <p:nvPr/>
        </p:nvSpPr>
        <p:spPr>
          <a:xfrm>
            <a:off x="895068" y="1137085"/>
            <a:ext cx="339271" cy="564261"/>
          </a:xfrm>
          <a:prstGeom prst="rect">
            <a:avLst/>
          </a:prstGeom>
          <a:solidFill>
            <a:srgbClr val="7C7C7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8AC86C2-8070-4AF2-AC11-2738FD1D0179}"/>
              </a:ext>
            </a:extLst>
          </p:cNvPr>
          <p:cNvSpPr/>
          <p:nvPr/>
        </p:nvSpPr>
        <p:spPr>
          <a:xfrm>
            <a:off x="4610416" y="1123638"/>
            <a:ext cx="339271" cy="564261"/>
          </a:xfrm>
          <a:prstGeom prst="rect">
            <a:avLst/>
          </a:prstGeom>
          <a:solidFill>
            <a:srgbClr val="7C7C7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272A26A-C6DB-4862-B6A4-07C56DE9849C}"/>
              </a:ext>
            </a:extLst>
          </p:cNvPr>
          <p:cNvSpPr/>
          <p:nvPr/>
        </p:nvSpPr>
        <p:spPr>
          <a:xfrm>
            <a:off x="8347051" y="1107973"/>
            <a:ext cx="339271" cy="564261"/>
          </a:xfrm>
          <a:prstGeom prst="rect">
            <a:avLst/>
          </a:prstGeom>
          <a:solidFill>
            <a:srgbClr val="7C7C7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56" name="화살표: 아래쪽 55">
            <a:extLst>
              <a:ext uri="{FF2B5EF4-FFF2-40B4-BE49-F238E27FC236}">
                <a16:creationId xmlns:a16="http://schemas.microsoft.com/office/drawing/2014/main" id="{C4E190A7-B062-4B59-8B36-FAB83FDB1E8B}"/>
              </a:ext>
            </a:extLst>
          </p:cNvPr>
          <p:cNvSpPr/>
          <p:nvPr/>
        </p:nvSpPr>
        <p:spPr>
          <a:xfrm rot="16200000">
            <a:off x="3878252" y="1957038"/>
            <a:ext cx="369651" cy="294274"/>
          </a:xfrm>
          <a:prstGeom prst="downArrow">
            <a:avLst/>
          </a:prstGeom>
          <a:solidFill>
            <a:srgbClr val="D0CECE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화살표: 아래쪽 56">
            <a:extLst>
              <a:ext uri="{FF2B5EF4-FFF2-40B4-BE49-F238E27FC236}">
                <a16:creationId xmlns:a16="http://schemas.microsoft.com/office/drawing/2014/main" id="{7320AA23-6974-4ABC-9B63-F883C51CBD75}"/>
              </a:ext>
            </a:extLst>
          </p:cNvPr>
          <p:cNvSpPr/>
          <p:nvPr/>
        </p:nvSpPr>
        <p:spPr>
          <a:xfrm rot="16200000">
            <a:off x="7632935" y="1957039"/>
            <a:ext cx="369651" cy="294274"/>
          </a:xfrm>
          <a:prstGeom prst="downArrow">
            <a:avLst/>
          </a:prstGeom>
          <a:solidFill>
            <a:srgbClr val="D0CECE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화살표: 아래쪽 57">
            <a:extLst>
              <a:ext uri="{FF2B5EF4-FFF2-40B4-BE49-F238E27FC236}">
                <a16:creationId xmlns:a16="http://schemas.microsoft.com/office/drawing/2014/main" id="{D0DBA934-AB95-44DC-AC2F-54159111699C}"/>
              </a:ext>
            </a:extLst>
          </p:cNvPr>
          <p:cNvSpPr/>
          <p:nvPr/>
        </p:nvSpPr>
        <p:spPr>
          <a:xfrm>
            <a:off x="9465610" y="3110125"/>
            <a:ext cx="369651" cy="294274"/>
          </a:xfrm>
          <a:prstGeom prst="downArrow">
            <a:avLst/>
          </a:prstGeom>
          <a:solidFill>
            <a:srgbClr val="D0CECE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화살표: 아래쪽 59">
            <a:extLst>
              <a:ext uri="{FF2B5EF4-FFF2-40B4-BE49-F238E27FC236}">
                <a16:creationId xmlns:a16="http://schemas.microsoft.com/office/drawing/2014/main" id="{19858232-8EDA-4AFD-83BD-B7156F051B0D}"/>
              </a:ext>
            </a:extLst>
          </p:cNvPr>
          <p:cNvSpPr/>
          <p:nvPr/>
        </p:nvSpPr>
        <p:spPr>
          <a:xfrm rot="5400000">
            <a:off x="7632935" y="4245004"/>
            <a:ext cx="369651" cy="294274"/>
          </a:xfrm>
          <a:prstGeom prst="downArrow">
            <a:avLst/>
          </a:prstGeom>
          <a:solidFill>
            <a:srgbClr val="CFE0F5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화살표: 아래쪽 61">
            <a:extLst>
              <a:ext uri="{FF2B5EF4-FFF2-40B4-BE49-F238E27FC236}">
                <a16:creationId xmlns:a16="http://schemas.microsoft.com/office/drawing/2014/main" id="{199EB7AA-F77A-490F-81F1-E95C9000A997}"/>
              </a:ext>
            </a:extLst>
          </p:cNvPr>
          <p:cNvSpPr/>
          <p:nvPr/>
        </p:nvSpPr>
        <p:spPr>
          <a:xfrm rot="5400000">
            <a:off x="3878251" y="4279148"/>
            <a:ext cx="369651" cy="294274"/>
          </a:xfrm>
          <a:prstGeom prst="downArrow">
            <a:avLst/>
          </a:prstGeom>
          <a:solidFill>
            <a:srgbClr val="CFE0F5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39907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/>
          <p:nvPr/>
        </p:nvSpPr>
        <p:spPr>
          <a:xfrm>
            <a:off x="530280" y="329040"/>
            <a:ext cx="2011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1" u="none" strike="noStrike" dirty="0">
                <a:solidFill>
                  <a:srgbClr val="2775EA"/>
                </a:solidFill>
                <a:effectLst/>
                <a:uFillTx/>
                <a:latin typeface="Noto Sans CJK KR"/>
                <a:ea typeface="Noto Sans CJK KR"/>
              </a:rPr>
              <a:t>09 </a:t>
            </a:r>
            <a:r>
              <a:rPr lang="zh-CN" sz="1400" b="1" u="none" strike="noStrike" dirty="0">
                <a:solidFill>
                  <a:srgbClr val="2775EA"/>
                </a:solidFill>
                <a:effectLst/>
                <a:uFillTx/>
                <a:latin typeface="Noto Sans CJK KR"/>
                <a:ea typeface="Noto Sans CJK KR"/>
              </a:rPr>
              <a:t>기대 효과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"/>
          <p:cNvSpPr/>
          <p:nvPr/>
        </p:nvSpPr>
        <p:spPr>
          <a:xfrm>
            <a:off x="530280" y="58536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28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기대 효과</a:t>
            </a:r>
            <a:endParaRPr lang="en-US" sz="2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"/>
          <p:cNvSpPr/>
          <p:nvPr/>
        </p:nvSpPr>
        <p:spPr>
          <a:xfrm>
            <a:off x="548640" y="1024200"/>
            <a:ext cx="10515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25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추가 기능</a:t>
            </a:r>
            <a:r>
              <a:rPr lang="ko-KR" altLang="en-US" sz="1250" dirty="0">
                <a:solidFill>
                  <a:srgbClr val="66768A"/>
                </a:solidFill>
                <a:latin typeface="Noto Sans CJK KR"/>
                <a:ea typeface="Noto Sans CJK KR"/>
              </a:rPr>
              <a:t>을 </a:t>
            </a:r>
            <a:r>
              <a:rPr lang="ko-KR" altLang="en-US" sz="125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통해 </a:t>
            </a:r>
            <a:r>
              <a:rPr lang="zh-CN" sz="125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프로젝트를 단순 알림 봇에서 맞춤형 서비스로 확장</a:t>
            </a:r>
            <a:endParaRPr lang="en-US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"/>
          <p:cNvSpPr/>
          <p:nvPr/>
        </p:nvSpPr>
        <p:spPr>
          <a:xfrm>
            <a:off x="1536683" y="1611891"/>
            <a:ext cx="4297320" cy="2067298"/>
          </a:xfrm>
          <a:prstGeom prst="rect">
            <a:avLst/>
          </a:prstGeom>
          <a:solidFill>
            <a:srgbClr val="FFFFFF"/>
          </a:solidFill>
          <a:ln w="0">
            <a:solidFill>
              <a:srgbClr val="D8E5F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500" tIns="24750" rIns="49500" bIns="24750" anchor="ctr">
            <a:normAutofit/>
          </a:bodyPr>
          <a:lstStyle/>
          <a:p>
            <a:pPr algn="ctr">
              <a:defRPr/>
            </a:pPr>
            <a:r>
              <a:rPr lang="zh-CN" sz="1820" b="1" u="none" strike="noStrike" dirty="0">
                <a:solidFill>
                  <a:srgbClr val="2775EA"/>
                </a:solidFill>
                <a:effectLst/>
                <a:uFillTx/>
                <a:latin typeface="Noto Sans CJK KR"/>
                <a:ea typeface="Noto Sans CJK KR"/>
              </a:rPr>
              <a:t>개인화</a:t>
            </a:r>
            <a:endParaRPr lang="en-US" altLang="zh-CN" sz="1820" b="1" u="none" strike="noStrike" dirty="0">
              <a:solidFill>
                <a:srgbClr val="2775EA"/>
              </a:solidFill>
              <a:effectLst/>
              <a:uFillTx/>
              <a:latin typeface="Noto Sans CJK KR"/>
              <a:ea typeface="Noto Sans CJK KR"/>
            </a:endParaRPr>
          </a:p>
          <a:p>
            <a:pPr algn="ctr">
              <a:defRPr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ko-KR" altLang="en-US" sz="1320" dirty="0">
                <a:solidFill>
                  <a:srgbClr val="66768A"/>
                </a:solidFill>
                <a:latin typeface="Noto Sans CJK KR"/>
                <a:ea typeface="Noto Sans CJK KR"/>
              </a:rPr>
              <a:t>관심 있는 뉴스 분야를 선택해 사용자 관심사에 맞는 요약 제공</a:t>
            </a:r>
            <a:endParaRPr lang="en-US" sz="10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4"/>
          <p:cNvSpPr/>
          <p:nvPr/>
        </p:nvSpPr>
        <p:spPr>
          <a:xfrm>
            <a:off x="6357998" y="1611891"/>
            <a:ext cx="4297320" cy="2067298"/>
          </a:xfrm>
          <a:prstGeom prst="rect">
            <a:avLst/>
          </a:prstGeom>
          <a:solidFill>
            <a:srgbClr val="FFFFFF"/>
          </a:solidFill>
          <a:ln w="0">
            <a:solidFill>
              <a:srgbClr val="D8E5F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500" tIns="24750" rIns="49500" bIns="24750" anchor="ctr">
            <a:normAutofit/>
          </a:bodyPr>
          <a:lstStyle/>
          <a:p>
            <a:pPr algn="ctr">
              <a:defRPr/>
            </a:pPr>
            <a:r>
              <a:rPr lang="ko-KR" altLang="en-US" sz="1820" b="1" dirty="0">
                <a:solidFill>
                  <a:srgbClr val="172B85"/>
                </a:solidFill>
                <a:latin typeface="Noto Sans CJK KR"/>
                <a:ea typeface="Noto Sans CJK KR"/>
              </a:rPr>
              <a:t>선택권</a:t>
            </a:r>
            <a:endParaRPr lang="en-US" altLang="zh-CN" sz="1820" b="1" u="none" strike="noStrike" dirty="0">
              <a:solidFill>
                <a:srgbClr val="172B85"/>
              </a:solidFill>
              <a:effectLst/>
              <a:uFillTx/>
              <a:latin typeface="Noto Sans CJK KR"/>
              <a:ea typeface="Noto Sans CJK KR"/>
            </a:endParaRPr>
          </a:p>
          <a:p>
            <a:pPr algn="ctr">
              <a:defRPr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32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필요 없는 </a:t>
            </a:r>
            <a:r>
              <a:rPr lang="ko-KR" altLang="en-US" sz="132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항목은 제외하고 필요한 정보만 수신 </a:t>
            </a:r>
            <a:endParaRPr lang="en-US" sz="10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9"/>
          <p:cNvSpPr/>
          <p:nvPr/>
        </p:nvSpPr>
        <p:spPr>
          <a:xfrm>
            <a:off x="502920" y="6546960"/>
            <a:ext cx="7314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Daily Report AI · </a:t>
            </a:r>
            <a:r>
              <a:rPr lang="zh-CN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컴퓨팅사고 </a:t>
            </a:r>
            <a:r>
              <a:rPr lang="en-US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27</a:t>
            </a:r>
            <a:r>
              <a:rPr lang="zh-CN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분반 팀 프로젝트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0"/>
          <p:cNvSpPr/>
          <p:nvPr/>
        </p:nvSpPr>
        <p:spPr>
          <a:xfrm>
            <a:off x="11292840" y="6510600"/>
            <a:ext cx="411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00" b="0" u="none" strike="noStrike" dirty="0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17</a:t>
            </a:r>
            <a:endParaRPr lang="en-US" sz="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906C2422-EB19-4641-8A8A-ECF8FD737B1D}"/>
              </a:ext>
            </a:extLst>
          </p:cNvPr>
          <p:cNvSpPr/>
          <p:nvPr/>
        </p:nvSpPr>
        <p:spPr>
          <a:xfrm>
            <a:off x="3947340" y="4079425"/>
            <a:ext cx="4297320" cy="2067298"/>
          </a:xfrm>
          <a:prstGeom prst="rect">
            <a:avLst/>
          </a:prstGeom>
          <a:solidFill>
            <a:srgbClr val="FFFFFF"/>
          </a:solidFill>
          <a:ln w="0">
            <a:solidFill>
              <a:srgbClr val="D8E5F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500" tIns="24750" rIns="49500" bIns="24750" anchor="ctr">
            <a:normAutofit/>
          </a:bodyPr>
          <a:lstStyle/>
          <a:p>
            <a:pPr algn="ctr">
              <a:defRPr/>
            </a:pPr>
            <a:r>
              <a:rPr lang="ko-KR" altLang="en-US" sz="1820" b="1" dirty="0">
                <a:latin typeface="Noto Sans CJK KR"/>
                <a:ea typeface="Noto Sans CJK KR"/>
              </a:rPr>
              <a:t>가독성</a:t>
            </a:r>
            <a:endParaRPr lang="en-US" altLang="zh-CN" sz="1820" b="1" u="none" strike="noStrike" dirty="0">
              <a:effectLst/>
              <a:uFillTx/>
              <a:latin typeface="Noto Sans CJK KR"/>
              <a:ea typeface="Noto Sans CJK KR"/>
            </a:endParaRPr>
          </a:p>
          <a:p>
            <a:pPr algn="ctr">
              <a:defRPr/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ko-KR" altLang="en-US" sz="132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불필요한 정보</a:t>
            </a:r>
            <a:r>
              <a:rPr lang="ko-KR" altLang="en-US" sz="1320" dirty="0">
                <a:solidFill>
                  <a:srgbClr val="66768A"/>
                </a:solidFill>
                <a:latin typeface="Noto Sans CJK KR"/>
                <a:ea typeface="Noto Sans CJK KR"/>
              </a:rPr>
              <a:t>가</a:t>
            </a:r>
            <a:r>
              <a:rPr lang="ko-KR" altLang="en-US" sz="1320" b="0" u="none" strike="noStrike" dirty="0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 줄어 </a:t>
            </a:r>
            <a:r>
              <a:rPr lang="ko-KR" altLang="en-US" sz="1320" dirty="0">
                <a:solidFill>
                  <a:srgbClr val="66768A"/>
                </a:solidFill>
                <a:latin typeface="Noto Sans CJK KR"/>
                <a:ea typeface="Noto Sans CJK KR"/>
              </a:rPr>
              <a:t>더 짧고 읽기 쉬운 리포트 제공</a:t>
            </a:r>
            <a:endParaRPr lang="en-US" sz="10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30352" y="1426464"/>
            <a:ext cx="73152" cy="404164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50392" y="1417320"/>
            <a:ext cx="47091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t"/>
          <a:lstStyle/>
          <a:p>
            <a:pPr algn="l"/>
            <a:r>
              <a:rPr sz="1700" b="1" dirty="0">
                <a:solidFill>
                  <a:srgbClr val="11243F"/>
                </a:solidFill>
                <a:latin typeface="Malgun Gothic"/>
              </a:rPr>
              <a:t>1. </a:t>
            </a:r>
            <a:r>
              <a:rPr sz="1700" b="1" dirty="0" err="1">
                <a:solidFill>
                  <a:srgbClr val="11243F"/>
                </a:solidFill>
                <a:latin typeface="Malgun Gothic"/>
              </a:rPr>
              <a:t>사용자</a:t>
            </a:r>
            <a:r>
              <a:rPr sz="1700" b="1" dirty="0">
                <a:solidFill>
                  <a:srgbClr val="11243F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11243F"/>
                </a:solidFill>
                <a:latin typeface="Malgun Gothic"/>
              </a:rPr>
              <a:t>설정</a:t>
            </a:r>
            <a:r>
              <a:rPr sz="1700" b="1" dirty="0">
                <a:solidFill>
                  <a:srgbClr val="11243F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11243F"/>
                </a:solidFill>
                <a:latin typeface="Malgun Gothic"/>
              </a:rPr>
              <a:t>저장</a:t>
            </a:r>
            <a:endParaRPr sz="1700" b="1" dirty="0">
              <a:solidFill>
                <a:srgbClr val="11243F"/>
              </a:solidFill>
              <a:latin typeface="Malgun Gothic"/>
            </a:endParaRPr>
          </a:p>
          <a:p>
            <a:pPr>
              <a:spcBef>
                <a:spcPts val="500"/>
              </a:spcBef>
            </a:pPr>
            <a:r>
              <a:rPr sz="1250" dirty="0" err="1">
                <a:solidFill>
                  <a:srgbClr val="334155"/>
                </a:solidFill>
                <a:latin typeface="Malgun Gothic"/>
              </a:rPr>
              <a:t>지역</a:t>
            </a:r>
            <a:r>
              <a:rPr sz="1250" dirty="0">
                <a:solidFill>
                  <a:srgbClr val="334155"/>
                </a:solidFill>
                <a:latin typeface="Malgun Gothic"/>
              </a:rPr>
              <a:t>, </a:t>
            </a:r>
            <a:r>
              <a:rPr sz="1250" dirty="0" err="1">
                <a:solidFill>
                  <a:srgbClr val="334155"/>
                </a:solidFill>
                <a:latin typeface="Malgun Gothic"/>
              </a:rPr>
              <a:t>뉴스</a:t>
            </a:r>
            <a:r>
              <a:rPr sz="125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250" dirty="0" err="1">
                <a:solidFill>
                  <a:srgbClr val="334155"/>
                </a:solidFill>
                <a:latin typeface="Malgun Gothic"/>
              </a:rPr>
              <a:t>카테고리</a:t>
            </a:r>
            <a:r>
              <a:rPr sz="1250" dirty="0">
                <a:solidFill>
                  <a:srgbClr val="334155"/>
                </a:solidFill>
                <a:latin typeface="Malgun Gothic"/>
              </a:rPr>
              <a:t>, </a:t>
            </a:r>
            <a:r>
              <a:rPr sz="1250" dirty="0" err="1">
                <a:solidFill>
                  <a:srgbClr val="334155"/>
                </a:solidFill>
                <a:latin typeface="Malgun Gothic"/>
              </a:rPr>
              <a:t>항목</a:t>
            </a:r>
            <a:r>
              <a:rPr sz="1250" dirty="0">
                <a:solidFill>
                  <a:srgbClr val="334155"/>
                </a:solidFill>
                <a:latin typeface="Malgun Gothic"/>
              </a:rPr>
              <a:t> On/Off </a:t>
            </a:r>
            <a:r>
              <a:rPr sz="1250" dirty="0" err="1">
                <a:solidFill>
                  <a:srgbClr val="334155"/>
                </a:solidFill>
                <a:latin typeface="Malgun Gothic"/>
              </a:rPr>
              <a:t>설정이</a:t>
            </a:r>
            <a:r>
              <a:rPr sz="125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250" dirty="0" err="1">
                <a:solidFill>
                  <a:srgbClr val="334155"/>
                </a:solidFill>
                <a:latin typeface="Malgun Gothic"/>
              </a:rPr>
              <a:t>config.json에</a:t>
            </a:r>
            <a:r>
              <a:rPr sz="125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250" dirty="0" err="1">
                <a:solidFill>
                  <a:srgbClr val="334155"/>
                </a:solidFill>
                <a:latin typeface="Malgun Gothic"/>
              </a:rPr>
              <a:t>저장되는지</a:t>
            </a:r>
            <a:r>
              <a:rPr sz="125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250" dirty="0" err="1">
                <a:solidFill>
                  <a:srgbClr val="334155"/>
                </a:solidFill>
                <a:latin typeface="Malgun Gothic"/>
              </a:rPr>
              <a:t>확인</a:t>
            </a:r>
            <a:endParaRPr sz="1250" dirty="0">
              <a:solidFill>
                <a:srgbClr val="334155"/>
              </a:solidFill>
              <a:latin typeface="Malgun Gothic"/>
            </a:endParaRPr>
          </a:p>
          <a:p>
            <a:pPr>
              <a:spcBef>
                <a:spcPts val="500"/>
              </a:spcBef>
            </a:pPr>
            <a:endParaRPr sz="1050" b="1" dirty="0">
              <a:solidFill>
                <a:srgbClr val="2563EB"/>
              </a:solidFill>
              <a:latin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870448" y="1417320"/>
            <a:ext cx="47091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t"/>
          <a:lstStyle/>
          <a:p>
            <a:pPr algn="l"/>
            <a:r>
              <a:rPr sz="1700" b="1" dirty="0">
                <a:solidFill>
                  <a:srgbClr val="11243F"/>
                </a:solidFill>
                <a:latin typeface="Malgun Gothic"/>
              </a:rPr>
              <a:t>2. </a:t>
            </a:r>
            <a:r>
              <a:rPr sz="1700" b="1" dirty="0" err="1">
                <a:solidFill>
                  <a:srgbClr val="11243F"/>
                </a:solidFill>
                <a:latin typeface="Malgun Gothic"/>
              </a:rPr>
              <a:t>맞춤형</a:t>
            </a:r>
            <a:r>
              <a:rPr sz="1700" b="1" dirty="0">
                <a:solidFill>
                  <a:srgbClr val="11243F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11243F"/>
                </a:solidFill>
                <a:latin typeface="Malgun Gothic"/>
              </a:rPr>
              <a:t>리포트</a:t>
            </a:r>
            <a:r>
              <a:rPr sz="1700" b="1" dirty="0">
                <a:solidFill>
                  <a:srgbClr val="11243F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11243F"/>
                </a:solidFill>
                <a:latin typeface="Malgun Gothic"/>
              </a:rPr>
              <a:t>생성</a:t>
            </a:r>
            <a:endParaRPr sz="1700" b="1" dirty="0">
              <a:solidFill>
                <a:srgbClr val="11243F"/>
              </a:solidFill>
              <a:latin typeface="Malgun Gothic"/>
            </a:endParaRPr>
          </a:p>
          <a:p>
            <a:pPr>
              <a:spcBef>
                <a:spcPts val="500"/>
              </a:spcBef>
            </a:pPr>
            <a:r>
              <a:rPr sz="1250" dirty="0" err="1">
                <a:solidFill>
                  <a:srgbClr val="334155"/>
                </a:solidFill>
                <a:latin typeface="Malgun Gothic"/>
              </a:rPr>
              <a:t>사용자</a:t>
            </a:r>
            <a:r>
              <a:rPr sz="125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250" dirty="0" err="1">
                <a:solidFill>
                  <a:srgbClr val="334155"/>
                </a:solidFill>
                <a:latin typeface="Malgun Gothic"/>
              </a:rPr>
              <a:t>설정에</a:t>
            </a:r>
            <a:r>
              <a:rPr sz="125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250" dirty="0" err="1">
                <a:solidFill>
                  <a:srgbClr val="334155"/>
                </a:solidFill>
                <a:latin typeface="Malgun Gothic"/>
              </a:rPr>
              <a:t>따라</a:t>
            </a:r>
            <a:r>
              <a:rPr sz="125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250" dirty="0" err="1">
                <a:solidFill>
                  <a:srgbClr val="334155"/>
                </a:solidFill>
                <a:latin typeface="Malgun Gothic"/>
              </a:rPr>
              <a:t>포함</a:t>
            </a:r>
            <a:r>
              <a:rPr sz="125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250" dirty="0" err="1">
                <a:solidFill>
                  <a:srgbClr val="334155"/>
                </a:solidFill>
                <a:latin typeface="Malgun Gothic"/>
              </a:rPr>
              <a:t>항목과</a:t>
            </a:r>
            <a:r>
              <a:rPr sz="125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250" dirty="0" err="1">
                <a:solidFill>
                  <a:srgbClr val="334155"/>
                </a:solidFill>
                <a:latin typeface="Malgun Gothic"/>
              </a:rPr>
              <a:t>뉴스</a:t>
            </a:r>
            <a:r>
              <a:rPr sz="125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250" dirty="0" err="1">
                <a:solidFill>
                  <a:srgbClr val="334155"/>
                </a:solidFill>
                <a:latin typeface="Malgun Gothic"/>
              </a:rPr>
              <a:t>분야가</a:t>
            </a:r>
            <a:r>
              <a:rPr sz="125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250" dirty="0" err="1">
                <a:solidFill>
                  <a:srgbClr val="334155"/>
                </a:solidFill>
                <a:latin typeface="Malgun Gothic"/>
              </a:rPr>
              <a:t>실제</a:t>
            </a:r>
            <a:r>
              <a:rPr sz="125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250" dirty="0" err="1">
                <a:solidFill>
                  <a:srgbClr val="334155"/>
                </a:solidFill>
                <a:latin typeface="Malgun Gothic"/>
              </a:rPr>
              <a:t>리포트</a:t>
            </a:r>
            <a:r>
              <a:rPr lang="en-US" sz="1250" dirty="0">
                <a:solidFill>
                  <a:srgbClr val="334155"/>
                </a:solidFill>
                <a:latin typeface="Malgun Gothic"/>
              </a:rPr>
              <a:t> </a:t>
            </a:r>
            <a:r>
              <a:rPr lang="ko-KR" altLang="en-US" sz="1250" dirty="0">
                <a:solidFill>
                  <a:srgbClr val="334155"/>
                </a:solidFill>
                <a:latin typeface="Malgun Gothic"/>
              </a:rPr>
              <a:t>반영되는지 확인</a:t>
            </a:r>
            <a:endParaRPr lang="en-US" altLang="ko-KR" sz="1250" dirty="0">
              <a:solidFill>
                <a:srgbClr val="334155"/>
              </a:solidFill>
              <a:latin typeface="Malgun Gothi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50392" y="2779776"/>
            <a:ext cx="47091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t"/>
          <a:lstStyle/>
          <a:p>
            <a:pPr algn="l"/>
            <a:r>
              <a:rPr sz="1700" b="1" dirty="0">
                <a:solidFill>
                  <a:srgbClr val="11243F"/>
                </a:solidFill>
                <a:latin typeface="Malgun Gothic"/>
              </a:rPr>
              <a:t>3. </a:t>
            </a:r>
            <a:r>
              <a:rPr sz="1700" b="1" dirty="0" err="1">
                <a:solidFill>
                  <a:srgbClr val="11243F"/>
                </a:solidFill>
                <a:latin typeface="Malgun Gothic"/>
              </a:rPr>
              <a:t>자동</a:t>
            </a:r>
            <a:r>
              <a:rPr sz="1700" b="1" dirty="0">
                <a:solidFill>
                  <a:srgbClr val="11243F"/>
                </a:solidFill>
                <a:latin typeface="Malgun Gothic"/>
              </a:rPr>
              <a:t> DM </a:t>
            </a:r>
            <a:r>
              <a:rPr sz="1700" b="1" dirty="0" err="1">
                <a:solidFill>
                  <a:srgbClr val="11243F"/>
                </a:solidFill>
                <a:latin typeface="Malgun Gothic"/>
              </a:rPr>
              <a:t>발송</a:t>
            </a:r>
            <a:endParaRPr sz="1700" b="1" dirty="0">
              <a:solidFill>
                <a:srgbClr val="11243F"/>
              </a:solidFill>
              <a:latin typeface="Malgun Gothic"/>
            </a:endParaRPr>
          </a:p>
          <a:p>
            <a:pPr>
              <a:spcBef>
                <a:spcPts val="500"/>
              </a:spcBef>
            </a:pPr>
            <a:r>
              <a:rPr sz="1250" dirty="0" err="1">
                <a:solidFill>
                  <a:srgbClr val="334155"/>
                </a:solidFill>
                <a:latin typeface="Malgun Gothic"/>
              </a:rPr>
              <a:t>전역</a:t>
            </a:r>
            <a:r>
              <a:rPr sz="125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250" dirty="0" err="1">
                <a:solidFill>
                  <a:srgbClr val="334155"/>
                </a:solidFill>
                <a:latin typeface="Malgun Gothic"/>
              </a:rPr>
              <a:t>브리핑</a:t>
            </a:r>
            <a:r>
              <a:rPr sz="125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250" dirty="0" err="1">
                <a:solidFill>
                  <a:srgbClr val="334155"/>
                </a:solidFill>
                <a:latin typeface="Malgun Gothic"/>
              </a:rPr>
              <a:t>시간에</a:t>
            </a:r>
            <a:r>
              <a:rPr sz="125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250" dirty="0" err="1">
                <a:solidFill>
                  <a:srgbClr val="334155"/>
                </a:solidFill>
                <a:latin typeface="Malgun Gothic"/>
              </a:rPr>
              <a:t>등록된</a:t>
            </a:r>
            <a:r>
              <a:rPr sz="125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250" dirty="0" err="1">
                <a:solidFill>
                  <a:srgbClr val="334155"/>
                </a:solidFill>
                <a:latin typeface="Malgun Gothic"/>
              </a:rPr>
              <a:t>사용자에게</a:t>
            </a:r>
            <a:r>
              <a:rPr sz="1250" dirty="0">
                <a:solidFill>
                  <a:srgbClr val="334155"/>
                </a:solidFill>
                <a:latin typeface="Malgun Gothic"/>
              </a:rPr>
              <a:t> Discord </a:t>
            </a:r>
            <a:r>
              <a:rPr sz="1250" dirty="0" err="1">
                <a:solidFill>
                  <a:srgbClr val="334155"/>
                </a:solidFill>
                <a:latin typeface="Malgun Gothic"/>
              </a:rPr>
              <a:t>DM이</a:t>
            </a:r>
            <a:r>
              <a:rPr sz="125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250" dirty="0" err="1">
                <a:solidFill>
                  <a:srgbClr val="334155"/>
                </a:solidFill>
                <a:latin typeface="Malgun Gothic"/>
              </a:rPr>
              <a:t>정상</a:t>
            </a:r>
            <a:r>
              <a:rPr sz="125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250" dirty="0" err="1">
                <a:solidFill>
                  <a:srgbClr val="334155"/>
                </a:solidFill>
                <a:latin typeface="Malgun Gothic"/>
              </a:rPr>
              <a:t>발송되는지</a:t>
            </a:r>
            <a:r>
              <a:rPr sz="125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250" dirty="0" err="1">
                <a:solidFill>
                  <a:srgbClr val="334155"/>
                </a:solidFill>
                <a:latin typeface="Malgun Gothic"/>
              </a:rPr>
              <a:t>확인</a:t>
            </a:r>
            <a:endParaRPr sz="1250" dirty="0">
              <a:solidFill>
                <a:srgbClr val="334155"/>
              </a:solidFill>
              <a:latin typeface="Malgun Gothi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870448" y="2779776"/>
            <a:ext cx="47091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t"/>
          <a:lstStyle/>
          <a:p>
            <a:pPr algn="l"/>
            <a:r>
              <a:rPr sz="1700" b="1" dirty="0">
                <a:solidFill>
                  <a:srgbClr val="11243F"/>
                </a:solidFill>
                <a:latin typeface="Malgun Gothic"/>
              </a:rPr>
              <a:t>4. </a:t>
            </a:r>
            <a:r>
              <a:rPr sz="1700" b="1" dirty="0" err="1">
                <a:solidFill>
                  <a:srgbClr val="11243F"/>
                </a:solidFill>
                <a:latin typeface="Malgun Gothic"/>
              </a:rPr>
              <a:t>예외</a:t>
            </a:r>
            <a:r>
              <a:rPr sz="1700" b="1" dirty="0">
                <a:solidFill>
                  <a:srgbClr val="11243F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11243F"/>
                </a:solidFill>
                <a:latin typeface="Malgun Gothic"/>
              </a:rPr>
              <a:t>상황</a:t>
            </a:r>
            <a:r>
              <a:rPr sz="1700" b="1" dirty="0">
                <a:solidFill>
                  <a:srgbClr val="11243F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11243F"/>
                </a:solidFill>
                <a:latin typeface="Malgun Gothic"/>
              </a:rPr>
              <a:t>대응</a:t>
            </a:r>
            <a:endParaRPr sz="1700" b="1" dirty="0">
              <a:solidFill>
                <a:srgbClr val="11243F"/>
              </a:solidFill>
              <a:latin typeface="Malgun Gothic"/>
            </a:endParaRPr>
          </a:p>
          <a:p>
            <a:pPr>
              <a:spcBef>
                <a:spcPts val="500"/>
              </a:spcBef>
            </a:pPr>
            <a:r>
              <a:rPr sz="1250" dirty="0" err="1">
                <a:solidFill>
                  <a:srgbClr val="334155"/>
                </a:solidFill>
                <a:latin typeface="Malgun Gothic"/>
              </a:rPr>
              <a:t>오입력</a:t>
            </a:r>
            <a:r>
              <a:rPr sz="1250" dirty="0">
                <a:solidFill>
                  <a:srgbClr val="334155"/>
                </a:solidFill>
                <a:latin typeface="Malgun Gothic"/>
              </a:rPr>
              <a:t>, API </a:t>
            </a:r>
            <a:r>
              <a:rPr sz="1250" dirty="0" err="1">
                <a:solidFill>
                  <a:srgbClr val="334155"/>
                </a:solidFill>
                <a:latin typeface="Malgun Gothic"/>
              </a:rPr>
              <a:t>오류</a:t>
            </a:r>
            <a:r>
              <a:rPr sz="1250" dirty="0">
                <a:solidFill>
                  <a:srgbClr val="334155"/>
                </a:solidFill>
                <a:latin typeface="Malgun Gothic"/>
              </a:rPr>
              <a:t>, RSS </a:t>
            </a:r>
            <a:r>
              <a:rPr sz="1250" dirty="0" err="1">
                <a:solidFill>
                  <a:srgbClr val="334155"/>
                </a:solidFill>
                <a:latin typeface="Malgun Gothic"/>
              </a:rPr>
              <a:t>실패</a:t>
            </a:r>
            <a:r>
              <a:rPr sz="1250" dirty="0">
                <a:solidFill>
                  <a:srgbClr val="334155"/>
                </a:solidFill>
                <a:latin typeface="Malgun Gothic"/>
              </a:rPr>
              <a:t>, DM </a:t>
            </a:r>
            <a:r>
              <a:rPr sz="1250" dirty="0" err="1">
                <a:solidFill>
                  <a:srgbClr val="334155"/>
                </a:solidFill>
                <a:latin typeface="Malgun Gothic"/>
              </a:rPr>
              <a:t>차단</a:t>
            </a:r>
            <a:r>
              <a:rPr sz="125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250" dirty="0" err="1">
                <a:solidFill>
                  <a:srgbClr val="334155"/>
                </a:solidFill>
                <a:latin typeface="Malgun Gothic"/>
              </a:rPr>
              <a:t>상황에서도</a:t>
            </a:r>
            <a:r>
              <a:rPr sz="125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250" dirty="0" err="1">
                <a:solidFill>
                  <a:srgbClr val="334155"/>
                </a:solidFill>
                <a:latin typeface="Malgun Gothic"/>
              </a:rPr>
              <a:t>봇이</a:t>
            </a:r>
            <a:r>
              <a:rPr sz="125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250" dirty="0" err="1">
                <a:solidFill>
                  <a:srgbClr val="334155"/>
                </a:solidFill>
                <a:latin typeface="Malgun Gothic"/>
              </a:rPr>
              <a:t>중단되지</a:t>
            </a:r>
            <a:r>
              <a:rPr sz="125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250" dirty="0" err="1">
                <a:solidFill>
                  <a:srgbClr val="334155"/>
                </a:solidFill>
                <a:latin typeface="Malgun Gothic"/>
              </a:rPr>
              <a:t>않는지</a:t>
            </a:r>
            <a:r>
              <a:rPr sz="125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250" dirty="0" err="1">
                <a:solidFill>
                  <a:srgbClr val="334155"/>
                </a:solidFill>
                <a:latin typeface="Malgun Gothic"/>
              </a:rPr>
              <a:t>확인</a:t>
            </a:r>
            <a:endParaRPr sz="1250" dirty="0">
              <a:solidFill>
                <a:srgbClr val="334155"/>
              </a:solidFill>
              <a:latin typeface="Malgun Gothic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50392" y="4224528"/>
            <a:ext cx="9729216" cy="713232"/>
          </a:xfrm>
          <a:prstGeom prst="roundRect">
            <a:avLst/>
          </a:prstGeom>
          <a:solidFill>
            <a:srgbClr val="F7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1600" b="1" dirty="0" err="1">
                <a:solidFill>
                  <a:srgbClr val="11243F"/>
                </a:solidFill>
                <a:latin typeface="Malgun Gothic"/>
              </a:rPr>
              <a:t>핵심</a:t>
            </a:r>
            <a:r>
              <a:rPr sz="1600" b="1" dirty="0">
                <a:solidFill>
                  <a:srgbClr val="11243F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11243F"/>
                </a:solidFill>
                <a:latin typeface="Malgun Gothic"/>
              </a:rPr>
              <a:t>목표</a:t>
            </a:r>
            <a:r>
              <a:rPr sz="1600" b="1" dirty="0">
                <a:solidFill>
                  <a:srgbClr val="11243F"/>
                </a:solidFill>
                <a:latin typeface="Malgun Gothic"/>
              </a:rPr>
              <a:t>: </a:t>
            </a:r>
            <a:r>
              <a:rPr sz="1600" b="1" dirty="0" err="1">
                <a:solidFill>
                  <a:srgbClr val="11243F"/>
                </a:solidFill>
                <a:latin typeface="Malgun Gothic"/>
              </a:rPr>
              <a:t>사용자</a:t>
            </a:r>
            <a:r>
              <a:rPr sz="1600" b="1" dirty="0">
                <a:solidFill>
                  <a:srgbClr val="11243F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11243F"/>
                </a:solidFill>
                <a:latin typeface="Malgun Gothic"/>
              </a:rPr>
              <a:t>설정</a:t>
            </a:r>
            <a:r>
              <a:rPr sz="1600" b="1" dirty="0">
                <a:solidFill>
                  <a:srgbClr val="11243F"/>
                </a:solidFill>
                <a:latin typeface="Malgun Gothic"/>
              </a:rPr>
              <a:t> → </a:t>
            </a:r>
            <a:r>
              <a:rPr sz="1600" b="1" dirty="0" err="1">
                <a:solidFill>
                  <a:srgbClr val="11243F"/>
                </a:solidFill>
                <a:latin typeface="Malgun Gothic"/>
              </a:rPr>
              <a:t>데이터</a:t>
            </a:r>
            <a:r>
              <a:rPr sz="1600" b="1" dirty="0">
                <a:solidFill>
                  <a:srgbClr val="11243F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11243F"/>
                </a:solidFill>
                <a:latin typeface="Malgun Gothic"/>
              </a:rPr>
              <a:t>수집</a:t>
            </a:r>
            <a:r>
              <a:rPr sz="1600" b="1" dirty="0">
                <a:solidFill>
                  <a:srgbClr val="11243F"/>
                </a:solidFill>
                <a:latin typeface="Malgun Gothic"/>
              </a:rPr>
              <a:t> → AI </a:t>
            </a:r>
            <a:r>
              <a:rPr sz="1600" b="1" dirty="0" err="1">
                <a:solidFill>
                  <a:srgbClr val="11243F"/>
                </a:solidFill>
                <a:latin typeface="Malgun Gothic"/>
              </a:rPr>
              <a:t>요약</a:t>
            </a:r>
            <a:r>
              <a:rPr sz="1600" b="1" dirty="0">
                <a:solidFill>
                  <a:srgbClr val="11243F"/>
                </a:solidFill>
                <a:latin typeface="Malgun Gothic"/>
              </a:rPr>
              <a:t> → Discord DM </a:t>
            </a:r>
            <a:r>
              <a:rPr sz="1600" b="1" dirty="0" err="1">
                <a:solidFill>
                  <a:srgbClr val="11243F"/>
                </a:solidFill>
                <a:latin typeface="Malgun Gothic"/>
              </a:rPr>
              <a:t>발송까지</a:t>
            </a:r>
            <a:r>
              <a:rPr lang="ko-KR" altLang="en-US" sz="1600" b="1" dirty="0">
                <a:solidFill>
                  <a:srgbClr val="11243F"/>
                </a:solidFill>
                <a:latin typeface="Malgun Gothic"/>
              </a:rPr>
              <a:t>의</a:t>
            </a:r>
            <a:r>
              <a:rPr sz="1600" b="1" dirty="0">
                <a:solidFill>
                  <a:srgbClr val="11243F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11243F"/>
                </a:solidFill>
                <a:latin typeface="Malgun Gothic"/>
              </a:rPr>
              <a:t>전체</a:t>
            </a:r>
            <a:r>
              <a:rPr sz="1600" b="1" dirty="0">
                <a:solidFill>
                  <a:srgbClr val="11243F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11243F"/>
                </a:solidFill>
                <a:latin typeface="Malgun Gothic"/>
              </a:rPr>
              <a:t>흐름</a:t>
            </a:r>
            <a:r>
              <a:rPr sz="1600" b="1" dirty="0">
                <a:solidFill>
                  <a:srgbClr val="11243F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11243F"/>
                </a:solidFill>
                <a:latin typeface="Malgun Gothic"/>
              </a:rPr>
              <a:t>검증</a:t>
            </a:r>
            <a:endParaRPr sz="1600" b="1" dirty="0">
              <a:solidFill>
                <a:srgbClr val="11243F"/>
              </a:solidFill>
              <a:latin typeface="Malgun Gothi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32688" y="5376672"/>
            <a:ext cx="1600200" cy="384048"/>
          </a:xfrm>
          <a:prstGeom prst="roundRect">
            <a:avLst/>
          </a:prstGeom>
          <a:solidFill>
            <a:srgbClr val="E8F2FF"/>
          </a:solidFill>
          <a:ln>
            <a:solidFill>
              <a:srgbClr val="E8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Malgun Gothic"/>
              </a:rPr>
              <a:t>사용자 설정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75887" y="5376672"/>
            <a:ext cx="1600200" cy="384048"/>
          </a:xfrm>
          <a:prstGeom prst="roundRect">
            <a:avLst/>
          </a:prstGeom>
          <a:solidFill>
            <a:srgbClr val="E8F2FF"/>
          </a:solidFill>
          <a:ln>
            <a:solidFill>
              <a:srgbClr val="E8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Malgun Gothic"/>
              </a:rPr>
              <a:t>데이터 수집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5376672"/>
            <a:ext cx="1600200" cy="384048"/>
          </a:xfrm>
          <a:prstGeom prst="roundRect">
            <a:avLst/>
          </a:prstGeom>
          <a:solidFill>
            <a:srgbClr val="E8F2FF"/>
          </a:solidFill>
          <a:ln>
            <a:solidFill>
              <a:srgbClr val="E8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Malgun Gothic"/>
              </a:rPr>
              <a:t>AI 요약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5376672"/>
            <a:ext cx="1600200" cy="384048"/>
          </a:xfrm>
          <a:prstGeom prst="roundRect">
            <a:avLst/>
          </a:prstGeom>
          <a:solidFill>
            <a:srgbClr val="E8F2FF"/>
          </a:solidFill>
          <a:ln>
            <a:solidFill>
              <a:srgbClr val="E8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Malgun Gothic"/>
              </a:rPr>
              <a:t>Discord DM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78608" y="5568696"/>
            <a:ext cx="96012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21808" y="5568696"/>
            <a:ext cx="96012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092440" y="5568696"/>
            <a:ext cx="96012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651967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5748B"/>
                </a:solidFill>
                <a:latin typeface="Malgun Gothic"/>
              </a:rPr>
              <a:t>Daily Report AI · 컴퓨팅사고 27분반 팀 프로젝트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73952"/>
            <a:ext cx="41148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850" dirty="0">
                <a:solidFill>
                  <a:srgbClr val="65748B"/>
                </a:solidFill>
                <a:latin typeface="Malgun Gothic"/>
              </a:rPr>
              <a:t>18</a:t>
            </a:r>
            <a:endParaRPr sz="850" b="0" dirty="0">
              <a:solidFill>
                <a:srgbClr val="65748B"/>
              </a:solidFill>
              <a:latin typeface="Malgun Gothic"/>
            </a:endParaRPr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F2B25493-06E1-4EC0-95DA-3D2C5449EEB8}"/>
              </a:ext>
            </a:extLst>
          </p:cNvPr>
          <p:cNvSpPr/>
          <p:nvPr/>
        </p:nvSpPr>
        <p:spPr>
          <a:xfrm>
            <a:off x="530280" y="329040"/>
            <a:ext cx="2011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1" u="none" strike="noStrike" dirty="0">
                <a:solidFill>
                  <a:srgbClr val="2775EA"/>
                </a:solidFill>
                <a:effectLst/>
                <a:uFillTx/>
                <a:latin typeface="Noto Sans CJK KR"/>
                <a:ea typeface="Noto Sans CJK KR"/>
              </a:rPr>
              <a:t>10 </a:t>
            </a:r>
            <a:r>
              <a:rPr lang="ko-KR" altLang="en-US" sz="1400" b="1" u="none" strike="noStrike" dirty="0">
                <a:solidFill>
                  <a:srgbClr val="2775EA"/>
                </a:solidFill>
                <a:effectLst/>
                <a:uFillTx/>
                <a:latin typeface="Noto Sans CJK KR"/>
                <a:ea typeface="Noto Sans CJK KR"/>
              </a:rPr>
              <a:t>테스트 계획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CF6A98F8-4A64-4F5C-A83E-E607C6093A61}"/>
              </a:ext>
            </a:extLst>
          </p:cNvPr>
          <p:cNvSpPr/>
          <p:nvPr/>
        </p:nvSpPr>
        <p:spPr>
          <a:xfrm>
            <a:off x="530280" y="58536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ko-KR" altLang="en-US" sz="28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테스트 계획</a:t>
            </a:r>
            <a:r>
              <a:rPr lang="en-US" altLang="ko-KR" sz="28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: </a:t>
            </a:r>
            <a:r>
              <a:rPr lang="ko-KR" altLang="en-US" sz="2800" b="1" dirty="0">
                <a:solidFill>
                  <a:srgbClr val="102033"/>
                </a:solidFill>
                <a:latin typeface="Noto Sans CJK KR"/>
                <a:ea typeface="Noto Sans CJK KR"/>
              </a:rPr>
              <a:t>검증 영역</a:t>
            </a:r>
            <a:endParaRPr lang="en-US" sz="2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73831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0352" y="658368"/>
            <a:ext cx="1051560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 err="1">
                <a:solidFill>
                  <a:srgbClr val="11243F"/>
                </a:solidFill>
                <a:latin typeface="Malgun Gothic"/>
              </a:rPr>
              <a:t>대표</a:t>
            </a:r>
            <a:r>
              <a:rPr sz="2500" b="1" dirty="0">
                <a:solidFill>
                  <a:srgbClr val="11243F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11243F"/>
                </a:solidFill>
                <a:latin typeface="Malgun Gothic"/>
              </a:rPr>
              <a:t>테스트</a:t>
            </a:r>
            <a:r>
              <a:rPr sz="2500" b="1" dirty="0">
                <a:solidFill>
                  <a:srgbClr val="11243F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11243F"/>
                </a:solidFill>
                <a:latin typeface="Malgun Gothic"/>
              </a:rPr>
              <a:t>케이스</a:t>
            </a:r>
            <a:r>
              <a:rPr lang="en-US" sz="2500" b="1" dirty="0">
                <a:solidFill>
                  <a:srgbClr val="11243F"/>
                </a:solidFill>
                <a:latin typeface="Malgun Gothic"/>
              </a:rPr>
              <a:t> 5</a:t>
            </a:r>
            <a:r>
              <a:rPr lang="ko-KR" altLang="en-US" sz="2500" b="1" dirty="0">
                <a:solidFill>
                  <a:srgbClr val="11243F"/>
                </a:solidFill>
                <a:latin typeface="Malgun Gothic"/>
              </a:rPr>
              <a:t>개</a:t>
            </a:r>
            <a:endParaRPr sz="2500" b="1" dirty="0">
              <a:solidFill>
                <a:srgbClr val="11243F"/>
              </a:solidFill>
              <a:latin typeface="Malgun Gothic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828800" cy="43891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구분</a:t>
            </a:r>
          </a:p>
        </p:txBody>
      </p:sp>
      <p:sp>
        <p:nvSpPr>
          <p:cNvPr id="6" name="Rectangle 5"/>
          <p:cNvSpPr/>
          <p:nvPr/>
        </p:nvSpPr>
        <p:spPr>
          <a:xfrm>
            <a:off x="2487168" y="1444752"/>
            <a:ext cx="3886200" cy="43891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대표 테스트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6373368" y="1444752"/>
            <a:ext cx="5166360" cy="43891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기대 결과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83664"/>
            <a:ext cx="18288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20" b="1">
                <a:solidFill>
                  <a:srgbClr val="11243F"/>
                </a:solidFill>
                <a:latin typeface="Malgun Gothic"/>
              </a:rPr>
              <a:t>설정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68" y="1883664"/>
            <a:ext cx="38862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l"/>
            <a:r>
              <a:rPr sz="1320" b="0">
                <a:solidFill>
                  <a:srgbClr val="334155"/>
                </a:solidFill>
                <a:latin typeface="Malgun Gothic"/>
              </a:rPr>
              <a:t>/설정 뉴스카테고리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3368" y="1883664"/>
            <a:ext cx="51663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l"/>
            <a:r>
              <a:rPr lang="en-US" sz="1320" dirty="0">
                <a:solidFill>
                  <a:srgbClr val="334155"/>
                </a:solidFill>
                <a:latin typeface="Malgun Gothic"/>
              </a:rPr>
              <a:t>- </a:t>
            </a:r>
            <a:r>
              <a:rPr lang="en-US" sz="1320" dirty="0" err="1">
                <a:solidFill>
                  <a:srgbClr val="334155"/>
                </a:solidFill>
                <a:latin typeface="Malgun Gothic"/>
              </a:rPr>
              <a:t>c</a:t>
            </a:r>
            <a:r>
              <a:rPr sz="1320" b="0" dirty="0" err="1">
                <a:solidFill>
                  <a:srgbClr val="334155"/>
                </a:solidFill>
                <a:latin typeface="Malgun Gothic"/>
              </a:rPr>
              <a:t>onfig</a:t>
            </a:r>
            <a:r>
              <a:rPr lang="en-US" sz="1320" b="0" dirty="0" err="1">
                <a:solidFill>
                  <a:srgbClr val="334155"/>
                </a:solidFill>
                <a:latin typeface="Malgun Gothic"/>
              </a:rPr>
              <a:t>.json</a:t>
            </a:r>
            <a:r>
              <a:rPr sz="1320" b="0" dirty="0" err="1">
                <a:solidFill>
                  <a:srgbClr val="334155"/>
                </a:solidFill>
                <a:latin typeface="Malgun Gothic"/>
              </a:rPr>
              <a:t>에</a:t>
            </a:r>
            <a:r>
              <a:rPr sz="1320" b="0" dirty="0">
                <a:solidFill>
                  <a:srgbClr val="334155"/>
                </a:solidFill>
                <a:latin typeface="Malgun Gothic"/>
              </a:rPr>
              <a:t> IT </a:t>
            </a:r>
            <a:r>
              <a:rPr sz="1320" b="0" dirty="0" err="1">
                <a:solidFill>
                  <a:srgbClr val="334155"/>
                </a:solidFill>
                <a:latin typeface="Malgun Gothic"/>
              </a:rPr>
              <a:t>카테고리</a:t>
            </a:r>
            <a:r>
              <a:rPr sz="132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320" b="0" dirty="0" err="1">
                <a:solidFill>
                  <a:srgbClr val="334155"/>
                </a:solidFill>
                <a:latin typeface="Malgun Gothic"/>
              </a:rPr>
              <a:t>저장</a:t>
            </a:r>
            <a:endParaRPr lang="en-US" sz="1320" dirty="0">
              <a:solidFill>
                <a:srgbClr val="334155"/>
              </a:solidFill>
              <a:latin typeface="Malgun Gothic"/>
            </a:endParaRPr>
          </a:p>
          <a:p>
            <a:pPr algn="l"/>
            <a:r>
              <a:rPr lang="en-US" altLang="ko-KR" sz="1320" b="0" dirty="0">
                <a:solidFill>
                  <a:srgbClr val="334155"/>
                </a:solidFill>
                <a:latin typeface="Malgun Gothic"/>
              </a:rPr>
              <a:t>- </a:t>
            </a:r>
            <a:r>
              <a:rPr lang="ko-KR" altLang="en-US" sz="1320" b="0" dirty="0">
                <a:solidFill>
                  <a:srgbClr val="334155"/>
                </a:solidFill>
                <a:latin typeface="Malgun Gothic"/>
              </a:rPr>
              <a:t>리포트 출력 시 관심분야 뉴스가 요약</a:t>
            </a:r>
            <a:endParaRPr sz="1320" b="0" dirty="0">
              <a:solidFill>
                <a:srgbClr val="334155"/>
              </a:solidFill>
              <a:latin typeface="Malgun Gothic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58368" y="2505456"/>
            <a:ext cx="1828800" cy="621792"/>
          </a:xfrm>
          <a:prstGeom prst="rect">
            <a:avLst/>
          </a:prstGeom>
          <a:solidFill>
            <a:srgbClr val="F7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20" b="1">
                <a:solidFill>
                  <a:srgbClr val="11243F"/>
                </a:solidFill>
                <a:latin typeface="Malgun Gothic"/>
              </a:rPr>
              <a:t>항목 On/Off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87168" y="2505456"/>
            <a:ext cx="3886200" cy="621792"/>
          </a:xfrm>
          <a:prstGeom prst="rect">
            <a:avLst/>
          </a:prstGeom>
          <a:solidFill>
            <a:srgbClr val="F7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l"/>
            <a:r>
              <a:rPr sz="1320" b="0">
                <a:solidFill>
                  <a:srgbClr val="334155"/>
                </a:solidFill>
                <a:latin typeface="Malgun Gothic"/>
              </a:rPr>
              <a:t>/설정 항목 뉴스 off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3368" y="2505456"/>
            <a:ext cx="5166360" cy="621792"/>
          </a:xfrm>
          <a:prstGeom prst="rect">
            <a:avLst/>
          </a:prstGeom>
          <a:solidFill>
            <a:srgbClr val="F7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l"/>
            <a:r>
              <a:rPr lang="en-US" sz="1320" b="0" dirty="0">
                <a:solidFill>
                  <a:srgbClr val="334155"/>
                </a:solidFill>
                <a:latin typeface="Malgun Gothic"/>
              </a:rPr>
              <a:t>- </a:t>
            </a:r>
            <a:r>
              <a:rPr lang="en-US" sz="1320" b="0" dirty="0" err="1">
                <a:solidFill>
                  <a:srgbClr val="334155"/>
                </a:solidFill>
                <a:latin typeface="Malgun Gothic"/>
              </a:rPr>
              <a:t>config.json</a:t>
            </a:r>
            <a:r>
              <a:rPr lang="ko-KR" altLang="en-US" sz="1320" b="0" dirty="0">
                <a:solidFill>
                  <a:srgbClr val="334155"/>
                </a:solidFill>
                <a:latin typeface="Malgun Gothic"/>
              </a:rPr>
              <a:t>에서 해당 항목 </a:t>
            </a:r>
            <a:r>
              <a:rPr lang="en-US" altLang="ko-KR" sz="1320" b="0" dirty="0">
                <a:solidFill>
                  <a:srgbClr val="334155"/>
                </a:solidFill>
                <a:latin typeface="Malgun Gothic"/>
              </a:rPr>
              <a:t>false</a:t>
            </a:r>
            <a:r>
              <a:rPr lang="ko-KR" altLang="en-US" sz="1320" b="0" dirty="0">
                <a:solidFill>
                  <a:srgbClr val="334155"/>
                </a:solidFill>
                <a:latin typeface="Malgun Gothic"/>
              </a:rPr>
              <a:t>로 변경</a:t>
            </a:r>
            <a:endParaRPr lang="en-US" altLang="ko-KR" sz="1320" dirty="0">
              <a:solidFill>
                <a:srgbClr val="334155"/>
              </a:solidFill>
              <a:latin typeface="Malgun Gothic"/>
            </a:endParaRPr>
          </a:p>
          <a:p>
            <a:pPr algn="l"/>
            <a:r>
              <a:rPr lang="en-US" altLang="ko-KR" sz="1320" b="0" dirty="0">
                <a:solidFill>
                  <a:srgbClr val="334155"/>
                </a:solidFill>
                <a:latin typeface="Malgun Gothic"/>
              </a:rPr>
              <a:t>- </a:t>
            </a:r>
            <a:r>
              <a:rPr lang="ko-KR" altLang="en-US" sz="1320" b="0" dirty="0">
                <a:solidFill>
                  <a:srgbClr val="334155"/>
                </a:solidFill>
                <a:latin typeface="Malgun Gothic"/>
              </a:rPr>
              <a:t>리포트 출력 시 해당 항목 제외</a:t>
            </a:r>
            <a:endParaRPr sz="1320" b="0" dirty="0">
              <a:solidFill>
                <a:srgbClr val="334155"/>
              </a:solidFill>
              <a:latin typeface="Malgun Gothic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58368" y="3127248"/>
            <a:ext cx="18288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20" b="1">
                <a:solidFill>
                  <a:srgbClr val="11243F"/>
                </a:solidFill>
                <a:latin typeface="Malgun Gothic"/>
              </a:rPr>
              <a:t>개인화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87168" y="3127248"/>
            <a:ext cx="38862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l"/>
            <a:r>
              <a:rPr sz="1320" b="0" dirty="0">
                <a:solidFill>
                  <a:srgbClr val="334155"/>
                </a:solidFill>
                <a:latin typeface="Malgun Gothic"/>
              </a:rPr>
              <a:t>A: </a:t>
            </a:r>
            <a:r>
              <a:rPr sz="1320" b="0" dirty="0" err="1">
                <a:solidFill>
                  <a:srgbClr val="334155"/>
                </a:solidFill>
                <a:latin typeface="Malgun Gothic"/>
              </a:rPr>
              <a:t>뉴스</a:t>
            </a:r>
            <a:r>
              <a:rPr sz="1320" b="0" dirty="0">
                <a:solidFill>
                  <a:srgbClr val="334155"/>
                </a:solidFill>
                <a:latin typeface="Malgun Gothic"/>
              </a:rPr>
              <a:t> off / B: </a:t>
            </a:r>
            <a:r>
              <a:rPr lang="en-US" sz="1320" dirty="0">
                <a:solidFill>
                  <a:srgbClr val="334155"/>
                </a:solidFill>
                <a:latin typeface="Malgun Gothic"/>
              </a:rPr>
              <a:t>IT</a:t>
            </a:r>
            <a:r>
              <a:rPr lang="ko-KR" altLang="en-US" sz="1320" b="0" dirty="0">
                <a:solidFill>
                  <a:srgbClr val="334155"/>
                </a:solidFill>
                <a:latin typeface="Malgun Gothic"/>
              </a:rPr>
              <a:t>뉴스 </a:t>
            </a:r>
            <a:r>
              <a:rPr lang="en-US" altLang="ko-KR" sz="1320" b="0" dirty="0">
                <a:solidFill>
                  <a:srgbClr val="334155"/>
                </a:solidFill>
                <a:latin typeface="Malgun Gothic"/>
              </a:rPr>
              <a:t>+ </a:t>
            </a:r>
            <a:r>
              <a:rPr lang="ko-KR" altLang="en-US" sz="1320" b="0" dirty="0">
                <a:solidFill>
                  <a:srgbClr val="334155"/>
                </a:solidFill>
                <a:latin typeface="Malgun Gothic"/>
              </a:rPr>
              <a:t>뉴스 </a:t>
            </a:r>
            <a:r>
              <a:rPr lang="en-US" altLang="ko-KR" sz="1320" b="0" dirty="0">
                <a:solidFill>
                  <a:srgbClr val="334155"/>
                </a:solidFill>
                <a:latin typeface="Malgun Gothic"/>
              </a:rPr>
              <a:t>on</a:t>
            </a:r>
            <a:endParaRPr sz="1320" b="0" dirty="0">
              <a:solidFill>
                <a:srgbClr val="334155"/>
              </a:solidFill>
              <a:latin typeface="Malgun Gothic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373368" y="3127248"/>
            <a:ext cx="51663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l"/>
            <a:r>
              <a:rPr lang="en-US" sz="1320" b="0" dirty="0">
                <a:solidFill>
                  <a:srgbClr val="334155"/>
                </a:solidFill>
                <a:latin typeface="Malgun Gothic"/>
              </a:rPr>
              <a:t>- </a:t>
            </a:r>
            <a:r>
              <a:rPr sz="1320" b="0" dirty="0" err="1">
                <a:solidFill>
                  <a:srgbClr val="334155"/>
                </a:solidFill>
                <a:latin typeface="Malgun Gothic"/>
              </a:rPr>
              <a:t>사용자별</a:t>
            </a:r>
            <a:r>
              <a:rPr sz="132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lang="ko-KR" altLang="en-US" sz="1320" dirty="0">
                <a:solidFill>
                  <a:srgbClr val="334155"/>
                </a:solidFill>
                <a:latin typeface="Malgun Gothic"/>
              </a:rPr>
              <a:t>설정이 적용된</a:t>
            </a:r>
            <a:r>
              <a:rPr sz="132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lang="ko-KR" altLang="en-US" sz="1320" b="0" dirty="0">
                <a:solidFill>
                  <a:srgbClr val="334155"/>
                </a:solidFill>
                <a:latin typeface="Malgun Gothic"/>
              </a:rPr>
              <a:t>리포트</a:t>
            </a:r>
            <a:r>
              <a:rPr sz="132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320" b="0" dirty="0" err="1">
                <a:solidFill>
                  <a:srgbClr val="334155"/>
                </a:solidFill>
                <a:latin typeface="Malgun Gothic"/>
              </a:rPr>
              <a:t>수신</a:t>
            </a:r>
            <a:endParaRPr sz="1320" b="0" dirty="0">
              <a:solidFill>
                <a:srgbClr val="334155"/>
              </a:solidFill>
              <a:latin typeface="Malgun Gothic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58368" y="3749040"/>
            <a:ext cx="1828800" cy="621792"/>
          </a:xfrm>
          <a:prstGeom prst="rect">
            <a:avLst/>
          </a:prstGeom>
          <a:solidFill>
            <a:srgbClr val="F7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20" b="1">
                <a:solidFill>
                  <a:srgbClr val="11243F"/>
                </a:solidFill>
                <a:latin typeface="Malgun Gothic"/>
              </a:rPr>
              <a:t>예외 처리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87168" y="3749040"/>
            <a:ext cx="3886200" cy="621792"/>
          </a:xfrm>
          <a:prstGeom prst="rect">
            <a:avLst/>
          </a:prstGeom>
          <a:solidFill>
            <a:srgbClr val="F7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l"/>
            <a:r>
              <a:rPr sz="1320" b="0">
                <a:solidFill>
                  <a:srgbClr val="334155"/>
                </a:solidFill>
                <a:latin typeface="Malgun Gothic"/>
              </a:rPr>
              <a:t>/설정 시간 25:99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73368" y="3749040"/>
            <a:ext cx="5166360" cy="621792"/>
          </a:xfrm>
          <a:prstGeom prst="rect">
            <a:avLst/>
          </a:prstGeom>
          <a:solidFill>
            <a:srgbClr val="F7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l"/>
            <a:r>
              <a:rPr lang="en-US" sz="1320" b="0" dirty="0">
                <a:solidFill>
                  <a:srgbClr val="334155"/>
                </a:solidFill>
                <a:latin typeface="Malgun Gothic"/>
              </a:rPr>
              <a:t>- </a:t>
            </a:r>
            <a:r>
              <a:rPr sz="1320" b="0" dirty="0" err="1">
                <a:solidFill>
                  <a:srgbClr val="334155"/>
                </a:solidFill>
                <a:latin typeface="Malgun Gothic"/>
              </a:rPr>
              <a:t>오류</a:t>
            </a:r>
            <a:r>
              <a:rPr sz="132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320" b="0" dirty="0" err="1">
                <a:solidFill>
                  <a:srgbClr val="334155"/>
                </a:solidFill>
                <a:latin typeface="Malgun Gothic"/>
              </a:rPr>
              <a:t>안내</a:t>
            </a:r>
            <a:r>
              <a:rPr sz="1320" b="0" dirty="0">
                <a:solidFill>
                  <a:srgbClr val="334155"/>
                </a:solidFill>
                <a:latin typeface="Malgun Gothic"/>
              </a:rPr>
              <a:t> 후 </a:t>
            </a:r>
            <a:r>
              <a:rPr sz="1320" b="0" dirty="0" err="1">
                <a:solidFill>
                  <a:srgbClr val="334155"/>
                </a:solidFill>
                <a:latin typeface="Malgun Gothic"/>
              </a:rPr>
              <a:t>기존</a:t>
            </a:r>
            <a:r>
              <a:rPr sz="132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320" b="0" dirty="0" err="1">
                <a:solidFill>
                  <a:srgbClr val="334155"/>
                </a:solidFill>
                <a:latin typeface="Malgun Gothic"/>
              </a:rPr>
              <a:t>설정</a:t>
            </a:r>
            <a:r>
              <a:rPr sz="132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320" b="0" dirty="0" err="1">
                <a:solidFill>
                  <a:srgbClr val="334155"/>
                </a:solidFill>
                <a:latin typeface="Malgun Gothic"/>
              </a:rPr>
              <a:t>유지</a:t>
            </a:r>
            <a:endParaRPr sz="1320" b="0" dirty="0">
              <a:solidFill>
                <a:srgbClr val="334155"/>
              </a:solidFill>
              <a:latin typeface="Malgun Gothic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58368" y="4370832"/>
            <a:ext cx="18288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20" b="1">
                <a:solidFill>
                  <a:srgbClr val="11243F"/>
                </a:solidFill>
                <a:latin typeface="Malgun Gothic"/>
              </a:rPr>
              <a:t>API 오류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7168" y="4370832"/>
            <a:ext cx="38862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l"/>
            <a:r>
              <a:rPr lang="ko-KR" altLang="en-US" sz="1320" dirty="0">
                <a:solidFill>
                  <a:srgbClr val="334155"/>
                </a:solidFill>
                <a:latin typeface="Malgun Gothic"/>
              </a:rPr>
              <a:t>잘못된 </a:t>
            </a:r>
            <a:r>
              <a:rPr lang="en-US" altLang="ko-KR" sz="1320" dirty="0">
                <a:solidFill>
                  <a:srgbClr val="334155"/>
                </a:solidFill>
                <a:latin typeface="Malgun Gothic"/>
              </a:rPr>
              <a:t>API key </a:t>
            </a:r>
            <a:r>
              <a:rPr lang="ko-KR" altLang="en-US" sz="1320" dirty="0">
                <a:solidFill>
                  <a:srgbClr val="334155"/>
                </a:solidFill>
                <a:latin typeface="Malgun Gothic"/>
              </a:rPr>
              <a:t>또는 </a:t>
            </a:r>
            <a:r>
              <a:rPr lang="en-US" altLang="ko-KR" sz="1320" dirty="0">
                <a:solidFill>
                  <a:srgbClr val="334155"/>
                </a:solidFill>
                <a:latin typeface="Malgun Gothic"/>
              </a:rPr>
              <a:t>Timeout </a:t>
            </a:r>
            <a:r>
              <a:rPr lang="ko-KR" altLang="en-US" sz="1320" dirty="0">
                <a:solidFill>
                  <a:srgbClr val="334155"/>
                </a:solidFill>
                <a:latin typeface="Malgun Gothic"/>
              </a:rPr>
              <a:t>유도</a:t>
            </a:r>
            <a:endParaRPr sz="1320" b="0" dirty="0">
              <a:solidFill>
                <a:srgbClr val="334155"/>
              </a:solidFill>
              <a:latin typeface="Malgun Gothic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373368" y="4370832"/>
            <a:ext cx="51663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l"/>
            <a:r>
              <a:rPr lang="en-US" sz="1320" b="0" dirty="0">
                <a:solidFill>
                  <a:srgbClr val="334155"/>
                </a:solidFill>
                <a:latin typeface="Malgun Gothic"/>
              </a:rPr>
              <a:t>- </a:t>
            </a:r>
            <a:r>
              <a:rPr sz="1320" b="0" dirty="0">
                <a:solidFill>
                  <a:srgbClr val="334155"/>
                </a:solidFill>
                <a:latin typeface="Malgun Gothic"/>
              </a:rPr>
              <a:t>봇 </a:t>
            </a:r>
            <a:r>
              <a:rPr sz="1320" b="0" dirty="0" err="1">
                <a:solidFill>
                  <a:srgbClr val="334155"/>
                </a:solidFill>
                <a:latin typeface="Malgun Gothic"/>
              </a:rPr>
              <a:t>중단</a:t>
            </a:r>
            <a:r>
              <a:rPr sz="132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sz="1320" b="0" dirty="0" err="1">
                <a:solidFill>
                  <a:srgbClr val="334155"/>
                </a:solidFill>
                <a:latin typeface="Malgun Gothic"/>
              </a:rPr>
              <a:t>없이</a:t>
            </a:r>
            <a:r>
              <a:rPr sz="1320" b="0" dirty="0">
                <a:solidFill>
                  <a:srgbClr val="334155"/>
                </a:solidFill>
                <a:latin typeface="Malgun Gothic"/>
              </a:rPr>
              <a:t> </a:t>
            </a:r>
            <a:r>
              <a:rPr lang="ko-KR" altLang="en-US" sz="1320" b="0" dirty="0">
                <a:solidFill>
                  <a:srgbClr val="334155"/>
                </a:solidFill>
                <a:latin typeface="Malgun Gothic"/>
              </a:rPr>
              <a:t>대체 문구 출력</a:t>
            </a:r>
            <a:endParaRPr sz="1320" b="0" dirty="0">
              <a:solidFill>
                <a:srgbClr val="334155"/>
              </a:solidFill>
              <a:latin typeface="Malgun Gothi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2920" y="651967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5748B"/>
                </a:solidFill>
                <a:latin typeface="Malgun Gothic"/>
              </a:rPr>
              <a:t>Daily Report AI · 컴퓨팅사고 27분반 팀 프로젝트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73952"/>
            <a:ext cx="41148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dirty="0">
                <a:solidFill>
                  <a:srgbClr val="65748B"/>
                </a:solidFill>
                <a:latin typeface="Malgun Gothic"/>
              </a:rPr>
              <a:t>1</a:t>
            </a:r>
            <a:r>
              <a:rPr lang="en-US" sz="850" b="0" dirty="0">
                <a:solidFill>
                  <a:srgbClr val="65748B"/>
                </a:solidFill>
                <a:latin typeface="Malgun Gothic"/>
              </a:rPr>
              <a:t>9</a:t>
            </a:r>
            <a:endParaRPr sz="850" b="0" dirty="0">
              <a:solidFill>
                <a:srgbClr val="65748B"/>
              </a:solidFill>
              <a:latin typeface="Malgun Gothic"/>
            </a:endParaRPr>
          </a:p>
        </p:txBody>
      </p:sp>
      <p:sp>
        <p:nvSpPr>
          <p:cNvPr id="26" name="Text 0">
            <a:extLst>
              <a:ext uri="{FF2B5EF4-FFF2-40B4-BE49-F238E27FC236}">
                <a16:creationId xmlns:a16="http://schemas.microsoft.com/office/drawing/2014/main" id="{8E685598-FC1A-4AB7-BC05-E716DFCF2862}"/>
              </a:ext>
            </a:extLst>
          </p:cNvPr>
          <p:cNvSpPr/>
          <p:nvPr/>
        </p:nvSpPr>
        <p:spPr>
          <a:xfrm>
            <a:off x="530280" y="329040"/>
            <a:ext cx="2011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1" u="none" strike="noStrike" dirty="0">
                <a:solidFill>
                  <a:srgbClr val="2775EA"/>
                </a:solidFill>
                <a:effectLst/>
                <a:uFillTx/>
                <a:latin typeface="Noto Sans CJK KR"/>
                <a:ea typeface="Noto Sans CJK KR"/>
              </a:rPr>
              <a:t>10-1 </a:t>
            </a:r>
            <a:r>
              <a:rPr lang="ko-KR" altLang="en-US" sz="1400" b="1" u="none" strike="noStrike" dirty="0">
                <a:solidFill>
                  <a:srgbClr val="2775EA"/>
                </a:solidFill>
                <a:effectLst/>
                <a:uFillTx/>
                <a:latin typeface="Noto Sans CJK KR"/>
                <a:ea typeface="Noto Sans CJK KR"/>
              </a:rPr>
              <a:t>대표</a:t>
            </a:r>
            <a:r>
              <a:rPr lang="en-US" sz="1400" b="1" u="none" strike="noStrike" dirty="0">
                <a:solidFill>
                  <a:srgbClr val="2775EA"/>
                </a:solidFill>
                <a:effectLst/>
                <a:uFillTx/>
                <a:latin typeface="Noto Sans CJK KR"/>
                <a:ea typeface="Noto Sans CJK KR"/>
              </a:rPr>
              <a:t> </a:t>
            </a:r>
            <a:r>
              <a:rPr lang="ko-KR" altLang="en-US" sz="1400" b="1" u="none" strike="noStrike" dirty="0">
                <a:solidFill>
                  <a:srgbClr val="2775EA"/>
                </a:solidFill>
                <a:effectLst/>
                <a:uFillTx/>
                <a:latin typeface="Noto Sans CJK KR"/>
                <a:ea typeface="Noto Sans CJK KR"/>
              </a:rPr>
              <a:t>테스트 케이스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30352" y="1426464"/>
            <a:ext cx="73152" cy="404164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33F6AC3-A191-40C8-A3A4-8408492C51C4}"/>
              </a:ext>
            </a:extLst>
          </p:cNvPr>
          <p:cNvGrpSpPr/>
          <p:nvPr/>
        </p:nvGrpSpPr>
        <p:grpSpPr>
          <a:xfrm>
            <a:off x="850392" y="1417320"/>
            <a:ext cx="10789560" cy="4191628"/>
            <a:chOff x="850392" y="1417320"/>
            <a:chExt cx="9729216" cy="2441448"/>
          </a:xfrm>
        </p:grpSpPr>
        <p:sp>
          <p:nvSpPr>
            <p:cNvPr id="6" name="Rounded Rectangle 5"/>
            <p:cNvSpPr/>
            <p:nvPr/>
          </p:nvSpPr>
          <p:spPr>
            <a:xfrm>
              <a:off x="850392" y="1417320"/>
              <a:ext cx="4709160" cy="1078992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64592" tIns="109728" rIns="164592" bIns="73152" rtlCol="0" anchor="t"/>
            <a:lstStyle/>
            <a:p>
              <a:pPr algn="l"/>
              <a:r>
                <a:rPr lang="ko-KR" altLang="en-US" sz="2000" b="1" dirty="0">
                  <a:solidFill>
                    <a:srgbClr val="11243F"/>
                  </a:solidFill>
                  <a:latin typeface="Malgun Gothic"/>
                </a:rPr>
                <a:t>이건영</a:t>
              </a:r>
              <a:r>
                <a:rPr lang="en-US" altLang="ko-KR" sz="2000" b="1" dirty="0">
                  <a:solidFill>
                    <a:srgbClr val="11243F"/>
                  </a:solidFill>
                  <a:latin typeface="Malgun Gothic"/>
                </a:rPr>
                <a:t>(</a:t>
              </a:r>
              <a:r>
                <a:rPr lang="ko-KR" altLang="en-US" sz="2000" b="1" dirty="0">
                  <a:solidFill>
                    <a:srgbClr val="11243F"/>
                  </a:solidFill>
                  <a:latin typeface="Malgun Gothic"/>
                </a:rPr>
                <a:t>팀장</a:t>
              </a:r>
              <a:r>
                <a:rPr lang="en-US" altLang="ko-KR" sz="2000" b="1" dirty="0">
                  <a:solidFill>
                    <a:srgbClr val="11243F"/>
                  </a:solidFill>
                  <a:latin typeface="Malgun Gothic"/>
                </a:rPr>
                <a:t>)</a:t>
              </a:r>
            </a:p>
            <a:p>
              <a:pPr algn="l"/>
              <a:r>
                <a:rPr lang="en-US" altLang="ko-KR" sz="2000" dirty="0">
                  <a:solidFill>
                    <a:srgbClr val="334155"/>
                  </a:solidFill>
                  <a:latin typeface="Malgun Gothic"/>
                </a:rPr>
                <a:t>- API </a:t>
              </a:r>
              <a:r>
                <a:rPr lang="ko-KR" altLang="en-US" sz="2000" dirty="0">
                  <a:solidFill>
                    <a:srgbClr val="334155"/>
                  </a:solidFill>
                  <a:latin typeface="Malgun Gothic"/>
                </a:rPr>
                <a:t>통신            </a:t>
              </a:r>
              <a:r>
                <a:rPr lang="en-US" altLang="ko-KR" sz="2000" dirty="0">
                  <a:solidFill>
                    <a:srgbClr val="334155"/>
                  </a:solidFill>
                  <a:latin typeface="Malgun Gothic"/>
                </a:rPr>
                <a:t>- </a:t>
              </a:r>
              <a:r>
                <a:rPr lang="ko-KR" altLang="en-US" sz="2000" dirty="0">
                  <a:solidFill>
                    <a:srgbClr val="334155"/>
                  </a:solidFill>
                  <a:latin typeface="Malgun Gothic"/>
                </a:rPr>
                <a:t>발표</a:t>
              </a:r>
            </a:p>
            <a:p>
              <a:pPr algn="l"/>
              <a:r>
                <a:rPr lang="en-US" altLang="ko-KR" sz="2000" dirty="0">
                  <a:solidFill>
                    <a:srgbClr val="334155"/>
                  </a:solidFill>
                  <a:latin typeface="Malgun Gothic"/>
                </a:rPr>
                <a:t>- QA                   - </a:t>
              </a:r>
              <a:r>
                <a:rPr lang="ko-KR" altLang="en-US" sz="2000" dirty="0">
                  <a:solidFill>
                    <a:srgbClr val="334155"/>
                  </a:solidFill>
                  <a:latin typeface="Malgun Gothic"/>
                </a:rPr>
                <a:t>버전 관리</a:t>
              </a:r>
            </a:p>
            <a:p>
              <a:pPr algn="l"/>
              <a:r>
                <a:rPr lang="en-US" altLang="ko-KR" sz="2000" dirty="0">
                  <a:solidFill>
                    <a:srgbClr val="334155"/>
                  </a:solidFill>
                  <a:latin typeface="Malgun Gothic"/>
                </a:rPr>
                <a:t>- </a:t>
              </a:r>
              <a:r>
                <a:rPr lang="ko-KR" altLang="en-US" sz="2000" dirty="0">
                  <a:solidFill>
                    <a:srgbClr val="334155"/>
                  </a:solidFill>
                  <a:latin typeface="Malgun Gothic"/>
                </a:rPr>
                <a:t>디버깅</a:t>
              </a:r>
            </a:p>
            <a:p>
              <a:pPr algn="l"/>
              <a:r>
                <a:rPr lang="en-US" altLang="ko-KR" sz="2000" dirty="0">
                  <a:solidFill>
                    <a:srgbClr val="334155"/>
                  </a:solidFill>
                  <a:latin typeface="Malgun Gothic"/>
                </a:rPr>
                <a:t>- </a:t>
              </a:r>
              <a:r>
                <a:rPr lang="ko-KR" altLang="en-US" sz="2000" dirty="0">
                  <a:solidFill>
                    <a:srgbClr val="334155"/>
                  </a:solidFill>
                  <a:latin typeface="Malgun Gothic"/>
                </a:rPr>
                <a:t>기획</a:t>
              </a:r>
            </a:p>
            <a:p>
              <a:pPr>
                <a:spcBef>
                  <a:spcPts val="500"/>
                </a:spcBef>
              </a:pPr>
              <a:endParaRPr sz="2000" b="1" dirty="0">
                <a:solidFill>
                  <a:srgbClr val="2563EB"/>
                </a:solidFill>
                <a:latin typeface="Malgun Gothic"/>
              </a:endParaRP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870448" y="1417320"/>
              <a:ext cx="4709160" cy="1078992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64592" tIns="109728" rIns="164592" bIns="73152" rtlCol="0" anchor="t"/>
            <a:lstStyle/>
            <a:p>
              <a:pPr algn="l"/>
              <a:r>
                <a:rPr lang="ko-KR" altLang="en-US" sz="2000" b="1" dirty="0">
                  <a:solidFill>
                    <a:srgbClr val="11243F"/>
                  </a:solidFill>
                  <a:latin typeface="Malgun Gothic"/>
                </a:rPr>
                <a:t>박준수</a:t>
              </a:r>
              <a:endParaRPr sz="2000" b="1" dirty="0">
                <a:solidFill>
                  <a:srgbClr val="11243F"/>
                </a:solidFill>
                <a:latin typeface="Malgun Gothic"/>
              </a:endParaRPr>
            </a:p>
            <a:p>
              <a:pPr>
                <a:spcBef>
                  <a:spcPts val="500"/>
                </a:spcBef>
              </a:pPr>
              <a:r>
                <a:rPr lang="ko-KR" altLang="en-US" sz="2000" dirty="0">
                  <a:solidFill>
                    <a:srgbClr val="334155"/>
                  </a:solidFill>
                  <a:latin typeface="Malgun Gothic"/>
                </a:rPr>
                <a:t>역할 입력</a:t>
              </a:r>
              <a:endParaRPr lang="en-US" altLang="ko-KR" sz="2000" dirty="0">
                <a:solidFill>
                  <a:srgbClr val="334155"/>
                </a:solidFill>
                <a:latin typeface="Malgun Gothic"/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50392" y="2779776"/>
              <a:ext cx="4709160" cy="1078992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64592" tIns="109728" rIns="164592" bIns="73152" rtlCol="0" anchor="t"/>
            <a:lstStyle/>
            <a:p>
              <a:pPr algn="l"/>
              <a:r>
                <a:rPr lang="ko-KR" altLang="en-US" sz="2000" b="1" dirty="0">
                  <a:solidFill>
                    <a:srgbClr val="11243F"/>
                  </a:solidFill>
                  <a:latin typeface="Malgun Gothic"/>
                </a:rPr>
                <a:t>김하은</a:t>
              </a:r>
              <a:endParaRPr lang="en-US" altLang="ko-KR" sz="2000" b="1" dirty="0">
                <a:solidFill>
                  <a:srgbClr val="11243F"/>
                </a:solidFill>
                <a:latin typeface="Malgun Gothic"/>
              </a:endParaRPr>
            </a:p>
            <a:p>
              <a:pPr algn="l"/>
              <a:r>
                <a:rPr lang="en-US" altLang="ko-KR" sz="2000" dirty="0">
                  <a:solidFill>
                    <a:srgbClr val="334155"/>
                  </a:solidFill>
                  <a:latin typeface="Malgun Gothic"/>
                </a:rPr>
                <a:t>- </a:t>
              </a:r>
              <a:r>
                <a:rPr lang="ko-KR" altLang="en-US" sz="2000" dirty="0">
                  <a:solidFill>
                    <a:srgbClr val="334155"/>
                  </a:solidFill>
                  <a:latin typeface="Malgun Gothic"/>
                </a:rPr>
                <a:t>추가 기능 기획</a:t>
              </a:r>
            </a:p>
            <a:p>
              <a:pPr algn="l"/>
              <a:r>
                <a:rPr lang="en-US" altLang="ko-KR" sz="2000" dirty="0">
                  <a:solidFill>
                    <a:srgbClr val="334155"/>
                  </a:solidFill>
                  <a:latin typeface="Malgun Gothic"/>
                </a:rPr>
                <a:t>- </a:t>
              </a:r>
              <a:r>
                <a:rPr lang="ko-KR" altLang="en-US" sz="2000" dirty="0">
                  <a:solidFill>
                    <a:srgbClr val="334155"/>
                  </a:solidFill>
                  <a:latin typeface="Malgun Gothic"/>
                </a:rPr>
                <a:t>발표</a:t>
              </a:r>
            </a:p>
            <a:p>
              <a:pPr algn="l"/>
              <a:r>
                <a:rPr lang="en-US" altLang="ko-KR" sz="2000" dirty="0">
                  <a:solidFill>
                    <a:srgbClr val="334155"/>
                  </a:solidFill>
                  <a:latin typeface="Malgun Gothic"/>
                </a:rPr>
                <a:t>- </a:t>
              </a:r>
              <a:r>
                <a:rPr lang="ko-KR" altLang="en-US" sz="2000" dirty="0">
                  <a:solidFill>
                    <a:srgbClr val="334155"/>
                  </a:solidFill>
                  <a:latin typeface="Malgun Gothic"/>
                </a:rPr>
                <a:t>디자인</a:t>
              </a:r>
            </a:p>
            <a:p>
              <a:pPr algn="l"/>
              <a:r>
                <a:rPr lang="en-US" altLang="ko-KR" sz="2000" dirty="0">
                  <a:solidFill>
                    <a:srgbClr val="334155"/>
                  </a:solidFill>
                  <a:latin typeface="Malgun Gothic"/>
                </a:rPr>
                <a:t>(</a:t>
              </a:r>
              <a:r>
                <a:rPr lang="ko-KR" altLang="en-US" sz="2000" dirty="0">
                  <a:solidFill>
                    <a:srgbClr val="334155"/>
                  </a:solidFill>
                  <a:latin typeface="Malgun Gothic"/>
                </a:rPr>
                <a:t>로고 제작</a:t>
              </a:r>
              <a:r>
                <a:rPr lang="en-US" altLang="ko-KR" sz="2000" dirty="0">
                  <a:solidFill>
                    <a:srgbClr val="334155"/>
                  </a:solidFill>
                  <a:latin typeface="Malgun Gothic"/>
                </a:rPr>
                <a:t>, </a:t>
              </a:r>
              <a:r>
                <a:rPr lang="ko-KR" altLang="en-US" sz="2000" dirty="0">
                  <a:solidFill>
                    <a:srgbClr val="334155"/>
                  </a:solidFill>
                  <a:latin typeface="Malgun Gothic"/>
                </a:rPr>
                <a:t>봇 프로필 제작</a:t>
              </a:r>
              <a:r>
                <a:rPr lang="en-US" altLang="ko-KR" sz="2000" dirty="0">
                  <a:solidFill>
                    <a:srgbClr val="334155"/>
                  </a:solidFill>
                  <a:latin typeface="Malgun Gothic"/>
                </a:rPr>
                <a:t>, </a:t>
              </a:r>
              <a:r>
                <a:rPr lang="ko-KR" altLang="en-US" sz="2000" dirty="0">
                  <a:solidFill>
                    <a:srgbClr val="334155"/>
                  </a:solidFill>
                  <a:latin typeface="Malgun Gothic"/>
                </a:rPr>
                <a:t>아이콘 제작</a:t>
              </a:r>
              <a:r>
                <a:rPr lang="en-US" altLang="ko-KR" sz="2000" dirty="0">
                  <a:solidFill>
                    <a:srgbClr val="334155"/>
                  </a:solidFill>
                  <a:latin typeface="Malgun Gothic"/>
                </a:rPr>
                <a:t>)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870448" y="2779776"/>
              <a:ext cx="4709160" cy="1078992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64592" tIns="109728" rIns="164592" bIns="73152" rtlCol="0" anchor="t"/>
            <a:lstStyle/>
            <a:p>
              <a:pPr algn="l"/>
              <a:r>
                <a:rPr lang="ko-KR" altLang="en-US" sz="2000" b="1" dirty="0">
                  <a:solidFill>
                    <a:srgbClr val="11243F"/>
                  </a:solidFill>
                  <a:latin typeface="Malgun Gothic"/>
                </a:rPr>
                <a:t>권우민</a:t>
              </a:r>
              <a:endParaRPr lang="en-US" altLang="ko-KR" sz="2000" b="1" dirty="0">
                <a:solidFill>
                  <a:srgbClr val="11243F"/>
                </a:solidFill>
                <a:latin typeface="Malgun Gothic"/>
              </a:endParaRPr>
            </a:p>
            <a:p>
              <a:pPr algn="l"/>
              <a:r>
                <a:rPr lang="en-US" altLang="ko-KR" sz="2000" dirty="0">
                  <a:solidFill>
                    <a:srgbClr val="334155"/>
                  </a:solidFill>
                  <a:latin typeface="Malgun Gothic"/>
                </a:rPr>
                <a:t>- PPT </a:t>
              </a:r>
              <a:r>
                <a:rPr lang="ko-KR" altLang="en-US" sz="2000" dirty="0">
                  <a:solidFill>
                    <a:srgbClr val="334155"/>
                  </a:solidFill>
                  <a:latin typeface="Malgun Gothic"/>
                </a:rPr>
                <a:t>제작</a:t>
              </a:r>
            </a:p>
            <a:p>
              <a:pPr algn="l"/>
              <a:r>
                <a:rPr lang="en-US" altLang="ko-KR" sz="2000" dirty="0">
                  <a:solidFill>
                    <a:srgbClr val="334155"/>
                  </a:solidFill>
                  <a:latin typeface="Malgun Gothic"/>
                </a:rPr>
                <a:t>- UI/UX</a:t>
              </a:r>
            </a:p>
            <a:p>
              <a:pPr algn="l"/>
              <a:r>
                <a:rPr lang="en-US" altLang="ko-KR" sz="2000" dirty="0">
                  <a:solidFill>
                    <a:srgbClr val="334155"/>
                  </a:solidFill>
                  <a:latin typeface="Malgun Gothic"/>
                </a:rPr>
                <a:t>(</a:t>
              </a:r>
              <a:r>
                <a:rPr lang="ko-KR" altLang="en-US" sz="2000" dirty="0">
                  <a:solidFill>
                    <a:srgbClr val="334155"/>
                  </a:solidFill>
                  <a:latin typeface="Malgun Gothic"/>
                </a:rPr>
                <a:t>명령어 구조 설계</a:t>
              </a:r>
              <a:r>
                <a:rPr lang="en-US" altLang="ko-KR" sz="2000" dirty="0">
                  <a:solidFill>
                    <a:srgbClr val="334155"/>
                  </a:solidFill>
                  <a:latin typeface="Malgun Gothic"/>
                </a:rPr>
                <a:t>, </a:t>
              </a:r>
              <a:r>
                <a:rPr lang="ko-KR" altLang="en-US" sz="2000" dirty="0">
                  <a:solidFill>
                    <a:srgbClr val="334155"/>
                  </a:solidFill>
                  <a:latin typeface="Malgun Gothic"/>
                </a:rPr>
                <a:t>버튼 </a:t>
              </a:r>
              <a:r>
                <a:rPr lang="en-US" altLang="ko-KR" sz="2000" dirty="0">
                  <a:solidFill>
                    <a:srgbClr val="334155"/>
                  </a:solidFill>
                  <a:latin typeface="Malgun Gothic"/>
                </a:rPr>
                <a:t>UI </a:t>
              </a:r>
              <a:r>
                <a:rPr lang="ko-KR" altLang="en-US" sz="2000" dirty="0">
                  <a:solidFill>
                    <a:srgbClr val="334155"/>
                  </a:solidFill>
                  <a:latin typeface="Malgun Gothic"/>
                </a:rPr>
                <a:t>설계</a:t>
              </a:r>
              <a:r>
                <a:rPr lang="en-US" altLang="ko-KR" sz="2000" dirty="0">
                  <a:solidFill>
                    <a:srgbClr val="334155"/>
                  </a:solidFill>
                  <a:latin typeface="Malgun Gothic"/>
                </a:rPr>
                <a:t>, </a:t>
              </a:r>
              <a:r>
                <a:rPr lang="ko-KR" altLang="en-US" sz="2000" dirty="0">
                  <a:solidFill>
                    <a:srgbClr val="334155"/>
                  </a:solidFill>
                  <a:latin typeface="Malgun Gothic"/>
                </a:rPr>
                <a:t>사용자 경험 개선</a:t>
              </a:r>
              <a:r>
                <a:rPr lang="en-US" altLang="ko-KR" sz="2000" dirty="0">
                  <a:solidFill>
                    <a:srgbClr val="334155"/>
                  </a:solidFill>
                  <a:latin typeface="Malgun Gothic"/>
                </a:rPr>
                <a:t>)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502920" y="651967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5748B"/>
                </a:solidFill>
                <a:latin typeface="Malgun Gothic"/>
              </a:rPr>
              <a:t>Daily Report AI · 컴퓨팅사고 27분반 팀 프로젝트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73952"/>
            <a:ext cx="41148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dirty="0">
                <a:solidFill>
                  <a:srgbClr val="65748B"/>
                </a:solidFill>
                <a:latin typeface="Malgun Gothic"/>
              </a:rPr>
              <a:t>2</a:t>
            </a:r>
            <a:r>
              <a:rPr lang="en-US" sz="850" b="0" dirty="0">
                <a:solidFill>
                  <a:srgbClr val="65748B"/>
                </a:solidFill>
                <a:latin typeface="Malgun Gothic"/>
              </a:rPr>
              <a:t>0</a:t>
            </a:r>
            <a:endParaRPr sz="850" b="0" dirty="0">
              <a:solidFill>
                <a:srgbClr val="65748B"/>
              </a:solidFill>
              <a:latin typeface="Malgun Gothic"/>
            </a:endParaRPr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F2B25493-06E1-4EC0-95DA-3D2C5449EEB8}"/>
              </a:ext>
            </a:extLst>
          </p:cNvPr>
          <p:cNvSpPr/>
          <p:nvPr/>
        </p:nvSpPr>
        <p:spPr>
          <a:xfrm>
            <a:off x="530280" y="329040"/>
            <a:ext cx="2011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1" u="none" strike="noStrike" dirty="0">
                <a:solidFill>
                  <a:srgbClr val="2775EA"/>
                </a:solidFill>
                <a:effectLst/>
                <a:uFillTx/>
                <a:latin typeface="Noto Sans CJK KR"/>
                <a:ea typeface="Noto Sans CJK KR"/>
              </a:rPr>
              <a:t>11 </a:t>
            </a:r>
            <a:r>
              <a:rPr lang="ko-KR" altLang="en-US" sz="1400" b="1" dirty="0">
                <a:solidFill>
                  <a:srgbClr val="2775EA"/>
                </a:solidFill>
                <a:latin typeface="Noto Sans CJK KR"/>
                <a:ea typeface="Noto Sans CJK KR"/>
              </a:rPr>
              <a:t>역할분배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CF6A98F8-4A64-4F5C-A83E-E607C6093A61}"/>
              </a:ext>
            </a:extLst>
          </p:cNvPr>
          <p:cNvSpPr/>
          <p:nvPr/>
        </p:nvSpPr>
        <p:spPr>
          <a:xfrm>
            <a:off x="530280" y="58536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ko-KR" altLang="en-US" sz="28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수행</a:t>
            </a:r>
            <a:r>
              <a:rPr lang="en-US" altLang="ko-KR" sz="28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 </a:t>
            </a:r>
            <a:r>
              <a:rPr lang="ko-KR" altLang="en-US" sz="280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역할　</a:t>
            </a:r>
            <a:endParaRPr lang="en-US" sz="2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11605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 0"/>
          <p:cNvSpPr/>
          <p:nvPr/>
        </p:nvSpPr>
        <p:spPr>
          <a:xfrm>
            <a:off x="530280" y="329040"/>
            <a:ext cx="2011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1" u="none" strike="noStrike" dirty="0">
                <a:solidFill>
                  <a:srgbClr val="2775EA"/>
                </a:solidFill>
                <a:effectLst/>
                <a:uFillTx/>
                <a:latin typeface="Noto Sans CJK KR"/>
                <a:ea typeface="Noto Sans CJK KR"/>
              </a:rPr>
              <a:t>12 </a:t>
            </a:r>
            <a:r>
              <a:rPr lang="zh-CN" sz="1400" b="1" u="none" strike="noStrike" dirty="0">
                <a:solidFill>
                  <a:srgbClr val="2775EA"/>
                </a:solidFill>
                <a:effectLst/>
                <a:uFillTx/>
                <a:latin typeface="Noto Sans CJK KR"/>
                <a:ea typeface="Noto Sans CJK KR"/>
              </a:rPr>
              <a:t>향후 개발 계획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"/>
          <p:cNvSpPr/>
          <p:nvPr/>
        </p:nvSpPr>
        <p:spPr>
          <a:xfrm>
            <a:off x="530280" y="585360"/>
            <a:ext cx="107895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2800" b="1" u="none" strike="noStrike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최종 발표 전까지 보완할 것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3"/>
          <p:cNvSpPr/>
          <p:nvPr/>
        </p:nvSpPr>
        <p:spPr>
          <a:xfrm>
            <a:off x="777240" y="1600200"/>
            <a:ext cx="347040" cy="347040"/>
          </a:xfrm>
          <a:prstGeom prst="rect">
            <a:avLst/>
          </a:prstGeom>
          <a:solidFill>
            <a:srgbClr val="16A477"/>
          </a:solidFill>
          <a:ln w="0">
            <a:solidFill>
              <a:srgbClr val="16A47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98" tIns="198" rIns="198" bIns="198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4"/>
          <p:cNvSpPr/>
          <p:nvPr/>
        </p:nvSpPr>
        <p:spPr>
          <a:xfrm>
            <a:off x="1325880" y="16185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520" b="1" u="none" strike="noStrike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항목 </a:t>
            </a:r>
            <a:r>
              <a:rPr lang="en-US" sz="1520" b="1" u="none" strike="noStrike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on/off </a:t>
            </a:r>
            <a:r>
              <a:rPr lang="zh-CN" sz="1520" b="1" u="none" strike="noStrike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구현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8"/>
          <p:cNvSpPr/>
          <p:nvPr/>
        </p:nvSpPr>
        <p:spPr>
          <a:xfrm>
            <a:off x="777240" y="2331720"/>
            <a:ext cx="347040" cy="347040"/>
          </a:xfrm>
          <a:prstGeom prst="rect">
            <a:avLst/>
          </a:prstGeom>
          <a:solidFill>
            <a:srgbClr val="2775EA"/>
          </a:solidFill>
          <a:ln w="0">
            <a:solidFill>
              <a:srgbClr val="2775E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98" tIns="198" rIns="198" bIns="198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9"/>
          <p:cNvSpPr/>
          <p:nvPr/>
        </p:nvSpPr>
        <p:spPr>
          <a:xfrm>
            <a:off x="1325880" y="235008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52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뉴스 카테고리</a:t>
            </a:r>
            <a:r>
              <a:rPr lang="en-US" altLang="zh-CN" sz="152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 </a:t>
            </a:r>
            <a:r>
              <a:rPr lang="ko-KR" altLang="en-US" sz="152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선택</a:t>
            </a:r>
            <a:r>
              <a:rPr lang="zh-CN" sz="1520" b="1" u="none" strike="noStrike" dirty="0">
                <a:solidFill>
                  <a:srgbClr val="102033"/>
                </a:solidFill>
                <a:effectLst/>
                <a:uFillTx/>
                <a:latin typeface="Noto Sans CJK KR"/>
                <a:ea typeface="Noto Sans CJK KR"/>
              </a:rPr>
              <a:t> 구현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3"/>
          <p:cNvSpPr/>
          <p:nvPr/>
        </p:nvSpPr>
        <p:spPr>
          <a:xfrm>
            <a:off x="777240" y="3063240"/>
            <a:ext cx="347040" cy="34704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98" tIns="198" rIns="198" bIns="198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4"/>
          <p:cNvSpPr/>
          <p:nvPr/>
        </p:nvSpPr>
        <p:spPr>
          <a:xfrm>
            <a:off x="1325880" y="308160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ko-KR" altLang="en-US" sz="1520" b="1" dirty="0">
                <a:solidFill>
                  <a:srgbClr val="102033"/>
                </a:solidFill>
                <a:latin typeface="Noto Sans CJK KR"/>
                <a:ea typeface="Noto Sans CJK KR"/>
              </a:rPr>
              <a:t>안정성 보강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8"/>
          <p:cNvSpPr/>
          <p:nvPr/>
        </p:nvSpPr>
        <p:spPr>
          <a:xfrm>
            <a:off x="777240" y="3794760"/>
            <a:ext cx="347040" cy="347040"/>
          </a:xfrm>
          <a:prstGeom prst="rect">
            <a:avLst/>
          </a:prstGeom>
          <a:solidFill>
            <a:srgbClr val="172B85"/>
          </a:solidFill>
          <a:ln w="0">
            <a:solidFill>
              <a:srgbClr val="172B85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98" tIns="198" rIns="198" bIns="198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9"/>
          <p:cNvSpPr/>
          <p:nvPr/>
        </p:nvSpPr>
        <p:spPr>
          <a:xfrm>
            <a:off x="1325880" y="381312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ko-KR" altLang="en-US" sz="1520" b="1" dirty="0">
                <a:solidFill>
                  <a:srgbClr val="102033"/>
                </a:solidFill>
                <a:latin typeface="Noto Sans CJK KR"/>
                <a:ea typeface="Noto Sans CJK KR"/>
              </a:rPr>
              <a:t>테스트 및 오류 수정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28"/>
          <p:cNvSpPr/>
          <p:nvPr/>
        </p:nvSpPr>
        <p:spPr>
          <a:xfrm>
            <a:off x="914400" y="5486400"/>
            <a:ext cx="9875160" cy="502560"/>
          </a:xfrm>
          <a:prstGeom prst="rect">
            <a:avLst/>
          </a:prstGeom>
          <a:solidFill>
            <a:srgbClr val="EEF5FF"/>
          </a:solidFill>
          <a:ln w="0">
            <a:solidFill>
              <a:srgbClr val="D8E5F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500" tIns="24750" rIns="49500" bIns="24750" anchor="ctr">
            <a:normAutofit/>
          </a:bodyPr>
          <a:lstStyle/>
          <a:p>
            <a:pPr>
              <a:defRPr/>
            </a:pPr>
            <a:r>
              <a:rPr lang="zh-CN" sz="1300" b="1" u="none" strike="noStrike">
                <a:solidFill>
                  <a:srgbClr val="172B85"/>
                </a:solidFill>
                <a:effectLst/>
                <a:uFillTx/>
                <a:latin typeface="Noto Sans CJK KR"/>
                <a:ea typeface="Noto Sans CJK KR"/>
              </a:rPr>
              <a:t>최종 목표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350" b="0" u="none" strike="noStrike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자동 실행 </a:t>
            </a:r>
            <a:r>
              <a:rPr lang="en-US" sz="1350" b="0" u="none" strike="noStrike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+ AI </a:t>
            </a:r>
            <a:r>
              <a:rPr lang="zh-CN" sz="1350" b="0" u="none" strike="noStrike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요약 </a:t>
            </a:r>
            <a:r>
              <a:rPr lang="en-US" sz="1350" b="0" u="none" strike="noStrike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+ Discord DM + </a:t>
            </a:r>
            <a:r>
              <a:rPr lang="zh-CN" sz="1350" b="0" u="none" strike="noStrike">
                <a:solidFill>
                  <a:srgbClr val="66768A"/>
                </a:solidFill>
                <a:effectLst/>
                <a:uFillTx/>
                <a:latin typeface="Noto Sans CJK KR"/>
                <a:ea typeface="Noto Sans CJK KR"/>
              </a:rPr>
              <a:t>사용자별 설정을 모두 갖춘 개인 맞춤형 데일리 리포트 서비스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9"/>
          <p:cNvSpPr/>
          <p:nvPr/>
        </p:nvSpPr>
        <p:spPr>
          <a:xfrm>
            <a:off x="502920" y="6546960"/>
            <a:ext cx="7314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Daily Report AI · </a:t>
            </a:r>
            <a:r>
              <a:rPr lang="zh-CN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컴퓨팅사고 </a:t>
            </a:r>
            <a:r>
              <a:rPr lang="en-US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27</a:t>
            </a:r>
            <a:r>
              <a:rPr lang="zh-CN" sz="980" b="0" u="none" strike="noStrike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분반 팀 프로젝트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30"/>
          <p:cNvSpPr/>
          <p:nvPr/>
        </p:nvSpPr>
        <p:spPr>
          <a:xfrm>
            <a:off x="11292840" y="6510600"/>
            <a:ext cx="411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00" b="0" u="none" strike="noStrike" dirty="0">
                <a:solidFill>
                  <a:srgbClr val="8EA0B7"/>
                </a:solidFill>
                <a:effectLst/>
                <a:uFillTx/>
                <a:latin typeface="Noto Sans CJK KR"/>
                <a:ea typeface="Noto Sans CJK KR"/>
              </a:rPr>
              <a:t>21</a:t>
            </a:r>
            <a:endParaRPr lang="en-US" sz="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674080D-B592-450A-9419-1BBEA13A18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6080" y="1210173"/>
            <a:ext cx="5310040" cy="354002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Image 0" descr="/mnt/data/a_clean_modern_3d_illustration_digital_concept.png"/>
          <p:cNvPicPr/>
          <p:nvPr/>
        </p:nvPicPr>
        <p:blipFill>
          <a:blip r:embed="rId3"/>
          <a:srcRect t="24" b="24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Text 4"/>
          <p:cNvSpPr/>
          <p:nvPr/>
        </p:nvSpPr>
        <p:spPr>
          <a:xfrm>
            <a:off x="3846229" y="4544835"/>
            <a:ext cx="4498942" cy="19911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6600" b="1" u="none" strike="noStrike" dirty="0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감사합니다</a:t>
            </a:r>
            <a:endParaRPr lang="en-US" sz="6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</a:majorFont>
      <a:minorFont>
        <a:latin typeface="Noto Sans CJK KR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1107</TotalTime>
  <Words>2016</Words>
  <Application>Microsoft Office PowerPoint</Application>
  <PresentationFormat>와이드스크린</PresentationFormat>
  <Paragraphs>397</Paragraphs>
  <Slides>22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1" baseType="lpstr">
      <vt:lpstr>Noto Sans CJK KR</vt:lpstr>
      <vt:lpstr>Arial</vt:lpstr>
      <vt:lpstr>Consolas</vt:lpstr>
      <vt:lpstr>Symbol</vt:lpstr>
      <vt:lpstr>Times New Roman</vt:lpstr>
      <vt:lpstr>Wingdings</vt:lpstr>
      <vt:lpstr>맑은 고딕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KOREATECH Computing Thinking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권우민</dc:creator>
  <cp:lastModifiedBy>우민 권</cp:lastModifiedBy>
  <cp:revision>59</cp:revision>
  <dcterms:modified xsi:type="dcterms:W3CDTF">2026-06-02T11:56:48Z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2026-06-01T10:43:32Z</dcterms:created>
  <dc:creator>computingSAGO</dc:creator>
  <dc:description/>
  <dc:language>en-US</dc:language>
  <cp:lastModifiedBy>computingSAGO</cp:lastModifiedBy>
  <dcterms:modified xsi:type="dcterms:W3CDTF">2026-06-01T10:43:32Z</dcterms:modified>
  <cp:revision>1</cp:revision>
  <dc:subject>데일리 리포트 AI 중간 발표</dc:subject>
  <dc:title>데일리 리포트 AI 중간 발표 개선안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13</vt:r8>
  </property>
  <property fmtid="{D5CDD505-2E9C-101B-9397-08002B2CF9AE}" pid="3" name="PresentationFormat">
    <vt:lpwstr>On-screen Show (16:9)</vt:lpwstr>
  </property>
  <property fmtid="{D5CDD505-2E9C-101B-9397-08002B2CF9AE}" pid="4" name="Slides">
    <vt:r8>13</vt:r8>
  </property>
</Properties>
</file>